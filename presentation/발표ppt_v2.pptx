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2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3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d4e6a367df466d" /><Relationship Type="http://schemas.openxmlformats.org/officeDocument/2006/relationships/extended-properties" Target="/docProps/app.xml" Id="Rc3ba34a4079846cc" /><Relationship Type="http://schemas.openxmlformats.org/officeDocument/2006/relationships/officeDocument" Target="/ppt/presentation.xml" Id="R049a853f0ccf45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d92e496c7f48b9"/>
  </p:sldMasterIdLst>
  <p:notesMasterIdLst>
    <p:notesMasterId xmlns:r="http://schemas.openxmlformats.org/officeDocument/2006/relationships" r:id="R26c734bb841d440f"/>
  </p:notesMasterIdLst>
  <p:sldIdLst>
    <p:sldId xmlns:r="http://schemas.openxmlformats.org/officeDocument/2006/relationships" id="256" r:id="R001fbc6b4e814a6f"/>
    <p:sldId xmlns:r="http://schemas.openxmlformats.org/officeDocument/2006/relationships" id="257" r:id="R68481cbf754749e5"/>
    <p:sldId xmlns:r="http://schemas.openxmlformats.org/officeDocument/2006/relationships" id="258" r:id="R817578398cff4996"/>
    <p:sldId xmlns:r="http://schemas.openxmlformats.org/officeDocument/2006/relationships" id="259" r:id="R64996d7f82e34bc6"/>
    <p:sldId xmlns:r="http://schemas.openxmlformats.org/officeDocument/2006/relationships" id="260" r:id="R9e6531f0d0814b9c"/>
    <p:sldId xmlns:r="http://schemas.openxmlformats.org/officeDocument/2006/relationships" id="261" r:id="Rb14c2ae2c03b4f52"/>
    <p:sldId xmlns:r="http://schemas.openxmlformats.org/officeDocument/2006/relationships" id="262" r:id="R9f9263845b894a9d"/>
    <p:sldId xmlns:r="http://schemas.openxmlformats.org/officeDocument/2006/relationships" id="263" r:id="R1f99c774169a4c19"/>
    <p:sldId xmlns:r="http://schemas.openxmlformats.org/officeDocument/2006/relationships" id="264" r:id="Rbdc17e5ad48b4bdc"/>
    <p:sldId xmlns:r="http://schemas.openxmlformats.org/officeDocument/2006/relationships" id="265" r:id="R5709cbeabec24f5b"/>
    <p:sldId xmlns:r="http://schemas.openxmlformats.org/officeDocument/2006/relationships" id="266" r:id="Rc7573cdb8adc4031"/>
    <p:sldId xmlns:r="http://schemas.openxmlformats.org/officeDocument/2006/relationships" id="267" r:id="R81033c0f7d4a4002"/>
    <p:sldId xmlns:r="http://schemas.openxmlformats.org/officeDocument/2006/relationships" id="268" r:id="R3ec9c59bc8a24799"/>
    <p:sldId xmlns:r="http://schemas.openxmlformats.org/officeDocument/2006/relationships" id="269" r:id="R6d7ea00092174d0e"/>
    <p:sldId xmlns:r="http://schemas.openxmlformats.org/officeDocument/2006/relationships" id="270" r:id="Rd96d7ef6d4724be1"/>
    <p:sldId xmlns:r="http://schemas.openxmlformats.org/officeDocument/2006/relationships" id="271" r:id="R5ce4a4e7bc334140"/>
    <p:sldId xmlns:r="http://schemas.openxmlformats.org/officeDocument/2006/relationships" id="272" r:id="R5e5a2fe29778489b"/>
    <p:sldId xmlns:r="http://schemas.openxmlformats.org/officeDocument/2006/relationships" id="273" r:id="R6ac31bd42dff47e0"/>
    <p:sldId xmlns:r="http://schemas.openxmlformats.org/officeDocument/2006/relationships" id="274" r:id="R0685c51b24ea45b6"/>
    <p:sldId xmlns:r="http://schemas.openxmlformats.org/officeDocument/2006/relationships" id="275" r:id="R30611fa46a9845bb"/>
    <p:sldId xmlns:r="http://schemas.openxmlformats.org/officeDocument/2006/relationships" id="276" r:id="Rabc4ebd9c2b848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457af2abd74f95" /><Relationship Type="http://schemas.openxmlformats.org/officeDocument/2006/relationships/slideMaster" Target="/ppt/slideMasters/slideMaster1.xml" Id="Rb7d92e496c7f48b9" /><Relationship Type="http://schemas.openxmlformats.org/officeDocument/2006/relationships/notesMaster" Target="/ppt/notesMasters/notesMaster1.xml" Id="R26c734bb841d440f" /><Relationship Type="http://schemas.openxmlformats.org/officeDocument/2006/relationships/presProps" Target="/ppt/presProps.xml" Id="R2d9e84fa8e874145" /><Relationship Type="http://schemas.openxmlformats.org/officeDocument/2006/relationships/viewProps" Target="/ppt/viewProps.xml" Id="Rf906cb1367864fdd" /><Relationship Type="http://schemas.openxmlformats.org/officeDocument/2006/relationships/tableStyles" Target="/ppt/tableStyles.xml" Id="Ra5bb42ef54574a24" /><Relationship Type="http://schemas.openxmlformats.org/officeDocument/2006/relationships/slide" Target="/ppt/slides/slide1.xml" Id="R001fbc6b4e814a6f" /><Relationship Type="http://schemas.openxmlformats.org/officeDocument/2006/relationships/slide" Target="/ppt/slides/slide2.xml" Id="R68481cbf754749e5" /><Relationship Type="http://schemas.openxmlformats.org/officeDocument/2006/relationships/slide" Target="/ppt/slides/slide3.xml" Id="R817578398cff4996" /><Relationship Type="http://schemas.openxmlformats.org/officeDocument/2006/relationships/slide" Target="/ppt/slides/slide4.xml" Id="R64996d7f82e34bc6" /><Relationship Type="http://schemas.openxmlformats.org/officeDocument/2006/relationships/slide" Target="/ppt/slides/slide5.xml" Id="R9e6531f0d0814b9c" /><Relationship Type="http://schemas.openxmlformats.org/officeDocument/2006/relationships/slide" Target="/ppt/slides/slide6.xml" Id="Rb14c2ae2c03b4f52" /><Relationship Type="http://schemas.openxmlformats.org/officeDocument/2006/relationships/slide" Target="/ppt/slides/slide7.xml" Id="R9f9263845b894a9d" /><Relationship Type="http://schemas.openxmlformats.org/officeDocument/2006/relationships/slide" Target="/ppt/slides/slide8.xml" Id="R1f99c774169a4c19" /><Relationship Type="http://schemas.openxmlformats.org/officeDocument/2006/relationships/slide" Target="/ppt/slides/slide9.xml" Id="Rbdc17e5ad48b4bdc" /><Relationship Type="http://schemas.openxmlformats.org/officeDocument/2006/relationships/slide" Target="/ppt/slides/slide10.xml" Id="R5709cbeabec24f5b" /><Relationship Type="http://schemas.openxmlformats.org/officeDocument/2006/relationships/slide" Target="/ppt/slides/slide11.xml" Id="Rc7573cdb8adc4031" /><Relationship Type="http://schemas.openxmlformats.org/officeDocument/2006/relationships/slide" Target="/ppt/slides/slide12.xml" Id="R81033c0f7d4a4002" /><Relationship Type="http://schemas.openxmlformats.org/officeDocument/2006/relationships/slide" Target="/ppt/slides/slide13.xml" Id="R3ec9c59bc8a24799" /><Relationship Type="http://schemas.openxmlformats.org/officeDocument/2006/relationships/slide" Target="/ppt/slides/slide14.xml" Id="R6d7ea00092174d0e" /><Relationship Type="http://schemas.openxmlformats.org/officeDocument/2006/relationships/slide" Target="/ppt/slides/slide15.xml" Id="Rd96d7ef6d4724be1" /><Relationship Type="http://schemas.openxmlformats.org/officeDocument/2006/relationships/slide" Target="/ppt/slides/slide16.xml" Id="R5ce4a4e7bc334140" /><Relationship Type="http://schemas.openxmlformats.org/officeDocument/2006/relationships/slide" Target="/ppt/slides/slide17.xml" Id="R5e5a2fe29778489b" /><Relationship Type="http://schemas.openxmlformats.org/officeDocument/2006/relationships/slide" Target="/ppt/slides/slide18.xml" Id="R6ac31bd42dff47e0" /><Relationship Type="http://schemas.openxmlformats.org/officeDocument/2006/relationships/slide" Target="/ppt/slides/slide19.xml" Id="R0685c51b24ea45b6" /><Relationship Type="http://schemas.openxmlformats.org/officeDocument/2006/relationships/slide" Target="/ppt/slides/slide20.xml" Id="R30611fa46a9845bb" /><Relationship Type="http://schemas.openxmlformats.org/officeDocument/2006/relationships/slide" Target="/ppt/slides/slide21.xml" Id="Rabc4ebd9c2b848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e3c673d33742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fd5c1d8f8d4a77" /><Relationship Type="http://schemas.openxmlformats.org/officeDocument/2006/relationships/notesMaster" Target="/ppt/notesMasters/notesMaster1.xml" Id="Raa5e3607dbfd4f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817e934db2481d" /><Relationship Type="http://schemas.openxmlformats.org/officeDocument/2006/relationships/notesMaster" Target="/ppt/notesMasters/notesMaster1.xml" Id="Re6b2c8a96d4d47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b828023c364f4c" /><Relationship Type="http://schemas.openxmlformats.org/officeDocument/2006/relationships/notesMaster" Target="/ppt/notesMasters/notesMaster1.xml" Id="R1e59c94316b44a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ece2f7088540a3" /><Relationship Type="http://schemas.openxmlformats.org/officeDocument/2006/relationships/notesMaster" Target="/ppt/notesMasters/notesMaster1.xml" Id="R916ef807776b43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8b93a7f515438e" /><Relationship Type="http://schemas.openxmlformats.org/officeDocument/2006/relationships/notesMaster" Target="/ppt/notesMasters/notesMaster1.xml" Id="R43a3879c3d3647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6959f644fa45e8" /><Relationship Type="http://schemas.openxmlformats.org/officeDocument/2006/relationships/notesMaster" Target="/ppt/notesMasters/notesMaster1.xml" Id="Rd26e23698cfc4e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dbdcd48eb24ea1" /><Relationship Type="http://schemas.openxmlformats.org/officeDocument/2006/relationships/notesMaster" Target="/ppt/notesMasters/notesMaster1.xml" Id="Ra457f3aa02184c7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4b0166ff7d4f3f" /><Relationship Type="http://schemas.openxmlformats.org/officeDocument/2006/relationships/notesMaster" Target="/ppt/notesMasters/notesMaster1.xml" Id="R2cb6d4dd4ece4bf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c971c3012d4060" /><Relationship Type="http://schemas.openxmlformats.org/officeDocument/2006/relationships/notesMaster" Target="/ppt/notesMasters/notesMaster1.xml" Id="R1ce3aef28a3f461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ed71e48fe584d02" /><Relationship Type="http://schemas.openxmlformats.org/officeDocument/2006/relationships/notesMaster" Target="/ppt/notesMasters/notesMaster1.xml" Id="R2e009ecf6e464da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b4535a77064c79" /><Relationship Type="http://schemas.openxmlformats.org/officeDocument/2006/relationships/notesMaster" Target="/ppt/notesMasters/notesMaster1.xml" Id="R1ad00ca9f7bf4fd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b01f47f53da415a" /><Relationship Type="http://schemas.openxmlformats.org/officeDocument/2006/relationships/notesMaster" Target="/ppt/notesMasters/notesMaster1.xml" Id="R29f1078a1572426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9fc77ff52d7465c" /><Relationship Type="http://schemas.openxmlformats.org/officeDocument/2006/relationships/notesMaster" Target="/ppt/notesMasters/notesMaster1.xml" Id="R8a13ae57f8dc4ba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f99dea5b245453a" /><Relationship Type="http://schemas.openxmlformats.org/officeDocument/2006/relationships/notesMaster" Target="/ppt/notesMasters/notesMaster1.xml" Id="Rc0888e723eef492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0cdd722e3f745a3" /><Relationship Type="http://schemas.openxmlformats.org/officeDocument/2006/relationships/notesMaster" Target="/ppt/notesMasters/notesMaster1.xml" Id="R61f8ab277d794f0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9570f8ccb8741eb" /><Relationship Type="http://schemas.openxmlformats.org/officeDocument/2006/relationships/notesMaster" Target="/ppt/notesMasters/notesMaster1.xml" Id="R2589dee0a173456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71dece1d1aa4093" /><Relationship Type="http://schemas.openxmlformats.org/officeDocument/2006/relationships/notesMaster" Target="/ppt/notesMasters/notesMaster1.xml" Id="R73a2bfa3c1084a8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2318fdbc17f4601" /><Relationship Type="http://schemas.openxmlformats.org/officeDocument/2006/relationships/notesMaster" Target="/ppt/notesMasters/notesMaster1.xml" Id="Rb4fed02d07034f0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1e4ea1b1b2344b2" /><Relationship Type="http://schemas.openxmlformats.org/officeDocument/2006/relationships/notesMaster" Target="/ppt/notesMasters/notesMaster1.xml" Id="R0edec01ef6cb4f8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14800fb624d4f6b" /><Relationship Type="http://schemas.openxmlformats.org/officeDocument/2006/relationships/notesMaster" Target="/ppt/notesMasters/notesMaster1.xml" Id="R7a9767e8fd2c434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f97c936e11642f8" /><Relationship Type="http://schemas.openxmlformats.org/officeDocument/2006/relationships/notesMaster" Target="/ppt/notesMasters/notesMaster1.xml" Id="R05326eed5dbb4a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팀명 ‘김정오’는 김범영, 정준영, 오석의 이름에서 한 글자씩 따서 만들었습니다. 조선의 지리학자 김정호를 떠올리게 해 기억하기 쉽다는 점도 고려했습니다.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이번 발표에서는 데이터 범위 결정과 품질 점검, 전처리 설계와 결과, PyTorch GPU 환경, 세 모델의 구조와 검증 결과를 순서대로 설명합니다. 마지막에는 체크포인트 전달과 OpenCV 웹캠 프로그램 적용 방향을 말씀드립니다.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오석 팀원은 OpenCV 기반 웹캠 실시간 프로그램 구현을 맡았습니다. 정준영 팀원은 주제 선정, 데이터셋 조사와 수집, 전처리를 진행했습니다. 김범영 팀원은 전처리 보조, 비교 모델 선정, PPT 제작과 발표를 맡았습니다.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시간과 연산 자원을 고려해 감정별 Training 4개 파트 중 2개만 사용했습니다. 전체 파트를 받은 뒤 70~80%를 무작위 삭제하는 방법보다 추가 선별 작업이 적고 범위가 명확한 방법을 선택했습니다. EfficientNet-B0가 현재 Validation 수치는 가장 높지만 단일 최종 모델로 고정하지 않습니다.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근거: docs/01_project_overview.md | dataset/processed/preprocessing_summary.json | results/comparisons/all_three_models/comparison_table.csv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완료된 연구 단계와 예정된 프로그램 단계를 분리해서 설명합니다. 프로그램을 구현하면 뒤쪽 슬라이드만 갱신해도 전체 발표 흐름을 유지할 수 있습니다.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근거: docs/01_project_overview.md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가장 많은 분노와 가장 적은 상처의 차이는 620장입니다. 데이터 수만 보면 클래스 불균형이 매우 작습니다.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근거: results/preprocessing_eda_report.md, 4.1 클래스 분포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Training 라벨 193,589건에 대응 JPG가 없는 이유는 시간 제약에 따라 감정별 4개 파트 중 2개만 사용했기 때문입니다. 전처리 실패가 아닙니다. 한 사람이 여러 장의 유사한 이미지를 제공하므로, 공통 식별자 528개가 동일 인물이나 촬영 세션을 뜻한다면 현재 Validation 성능이 높게 측정됐을 수 있습니다.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근거: results/preprocessing_eda_report.md, 3장과 4.4장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244가 아니라 224를 선택한 이유, 강제 resize 대신 패딩한 이유, 흑백 선택의 장단점을 질문받을 수 있습니다. 표의 이유와 한계를 함께 설명합니다.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근거: results/preprocessing_eda_report.md, 6. 전처리 설계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전처리된 이미지는 정사각형이지만 얼굴 비율은 유지됩니다. 남는 영역만 검정색으로 채웠습니다. 이 이미지는 프로젝트 Validation 데이터의 예시입니다.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근거: 사용자가 제공한 Validation 원본 | dataset/processed/images/Validation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손상 파일은 한글 경로 문제가 아니라 JPEG 스트림 손상이었습니다. 전체의 0.0058%로 매우 적어 복원하지 않고 제외했습니다.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근거: dataset/processed/preprocessing_summary.json | results/preprocessing_eda_report.md, 5 및 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nvidia-smi는 드라이버가 지원하는 CUDA를 보여줍니다. 실제 PyTorch 런타임은 torch.version.cuda로 확인하고 행렬 곱셈까지 실행했습니다.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근거: scripts/setup_cuda126.ps1 | src/check_environment.py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ResNet18은 이전 입력을 뒤쪽 결과에 더하는 잔차 연결을 사용해 학습을 안정시킨 기준선 모델입니다.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MobileNetV2의 핵심은 연산을 나눠 계산량을 줄이는 것입니다. 먼저 각 채널에서 특징을 따로 찾고, 그 결과를 다시 합칩니다. 입력을 잠시 넓혀 처리한 뒤 작게 줄이고, 조건이 맞으면 처음 입력을 끝에 더해 정보를 전달합니다. 발표에서는 ‘연산을 나눠 하고 필요한 정보는 연결해 전달해서 가볍게 만든 구조’라고 설명하면 충분합니다.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EfficientNet-B0는 가벼운 합성곱과 중요한 채널을 강조하는 구조를 사용하며, 깊이·너비·입력 해상도를 함께 조절합니다.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파라미터 수는 ResNet18 11.18M, MobileNetV2 2.23M, EfficientNet-B0 4.02M입니다.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results/comparisons/all_three_models/comparison_table.csv | results/experiments/*/run_summary.json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50 epoch는 최대값입니다. 실제 세 모델은 18~21 epoch에서 조기 종료됐고 최고 성능 시점은 best.pt로 보관했습니다.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근거: src/train_models.py | results/experiments/*/run_summary.json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EfficientNet-B0가 현재 Validation의 Accuracy와 Macro-F1에서 가장 높았지만 세 모델의 차이는 크지 않습니다. 이 순위는 비교 결과로 제시하고, 프로그램에서는 세 모델을 모두 선택하거나 비교할 수 있게 구성합니다.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근거: results/comparisons/all_three_models/comparison_table.csv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기쁨과 중립은 잘 구분되지만 불안과 상처는 세 모델 모두 어렵습니다. 모델 구조보다 데이터의 감정 경계와 표정 유사성이 영향을 줬을 가능성이 있습니다.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근거: results/experiments/*/run_summary.json | results/comparisons/all_three_models/per_class_f1.png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관객에게 먼저 어느 쪽이 불안이고 상처인지 잠시 생각해 달라고 질문합니다.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왼쪽은 상처, 오른쪽은 불안으로 라벨된 Validation 이미지입니다. 같은 인물과 비슷한 촬영 환경에서도 두 감정의 차이가 매우 미묘합니다.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이 예시만으로 라벨 오류를 단정하지 않습니다. 다만 얼굴 표정만으로 감정 경계를 나누는 일은 사람에게도 어려울 수 있고, 모델의 낮은 F1을 구조의 문제만으로 해석하기 어렵다는 점을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이미지: D:\emotion_project\dataset\processed\images\Validation\006b56dc2f8cda2361e1b01b2496d6f352dd5b1790f0a9b0bfcbe540b292247d_여_20_상처_상업시설&amp;점포&amp;시장_20210130214734-003-005.png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이미지: D:\emotion_project\dataset\processed\images\Validation\006b56dc2f8cda2361e1b01b2496d6f352dd5b1790f0a9b0bfcbe540b292247d_여_20_불안_상업시설&amp;점포&amp;시장_20210130215430-003-005.png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 모델 중 EfficientNet-B0의 학습 결과를 분석 예시로 보여 줍니다. 학습과 검증의 간격, 조기 종료 시점, 상처 감정의 혼동 경향을 확인합니다. 이 슬라이드는 단일 최종 모델 선정을 뜻하지 않습니다.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근거: results/comparisons/all_three_models/training_curves_GPU_efficientnet_b0_e50_p3_b32_efficientnet_b0.png | results/comparisons/all_three_models/confusion_matrix_GPU_efficientnet_b0_e50_p3_b32_efficientnet_b0.png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프로그램 담당자에게 ResNet18, MobileNetV2, EfficientNet-B0의 best.pt를 모두 전달합니다. 각 체크포인트의 model_name, class_names, image_size와 normalization을 읽어 같은 로더에서 모델별로 적용합니다.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근거: README.md | models/GPU_resnet18_e50_p3_b32/resnet18/best.pt | models/GPU_mobilenet_v2_e50_p3_b32/mobilenet_v2/best.pt | models/GPU_efficientnet_b0_e50_p3_b32/efficientnet_b0/best.pt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결과는 시간 제약에 따라 선택한 Training 2개 파트와 제공 Validation을 기준으로 합니다. 같은 인물의 이미지가 두 분할에 포함되면 모델이 인물 특징을 이용해 정확도가 높게 측정될 수 있습니다. 다음 실험에서는 같은 인물이나 촬영 세션을 한 분할에만 배치하는 group split을 적용합니다.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근거: docs/03_eda_and_preprocessing.md | docs/05_evaluation_and_visualization.md | results/preprocessing_eda_report.md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 번의 전처리 결과를 선택한 모델 또는 세 모델에 전달합니다. 일반 모드는 실시간 속도를 위해 한 모델만 실행하고, 비교 모드는 같은 얼굴 ROI에 세 모델을 적용해 예측과 속도를 함께 표시합니다.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근거: README.md | src/train_models.py | 세 모델의 best.pt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프로그램 구현 후 회색 영역을 세 모델 선택 UI와 실제 웹캠 화면으로 교체합니다. 오른쪽에는 ResNet18, MobileNetV2, EfficientNet-B0의 FPS와 지연 시간을 각각 입력합니다. 특정 모델을 최종 배포 모델로 고르는 결론은 넣지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390b1ca90143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50660aaf444e73" /><Relationship Type="http://schemas.openxmlformats.org/officeDocument/2006/relationships/slideLayout" Target="/ppt/slideLayouts/slideLayout1.xml" Id="R80c8dea81bc442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c8dea81bc442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98cc138c99494a" /><Relationship Type="http://schemas.openxmlformats.org/officeDocument/2006/relationships/notesSlide" Target="/ppt/notesSlides/notesSlide1.xml" Id="Rb753b2bc773240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2729fbfaf04055" /><Relationship Type="http://schemas.openxmlformats.org/officeDocument/2006/relationships/notesSlide" Target="/ppt/notesSlides/notesSlide2.xml" Id="Rfe1e24cdfe9441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874bae49194072" /><Relationship Type="http://schemas.openxmlformats.org/officeDocument/2006/relationships/notesSlide" Target="/ppt/notesSlides/notesSlide3.xml" Id="R6325d6e9a21845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84cf94328d4168" /><Relationship Type="http://schemas.openxmlformats.org/officeDocument/2006/relationships/notesSlide" Target="/ppt/notesSlides/notesSlide4.xml" Id="R61394fc350c24e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cb4fa45fb4ac1" /><Relationship Type="http://schemas.openxmlformats.org/officeDocument/2006/relationships/notesSlide" Target="/ppt/notesSlides/notesSlide5.xml" Id="R3f6ea120c84541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81f37e84f64853" /><Relationship Type="http://schemas.openxmlformats.org/officeDocument/2006/relationships/chart" Target="/ppt/slides/charts/chart1.xml" Id="R33a5748efffa4b12" /><Relationship Type="http://schemas.openxmlformats.org/officeDocument/2006/relationships/notesSlide" Target="/ppt/notesSlides/notesSlide6.xml" Id="R48e14565b7d34f4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8843843bf64aa5" /><Relationship Type="http://schemas.openxmlformats.org/officeDocument/2006/relationships/notesSlide" Target="/ppt/notesSlides/notesSlide7.xml" Id="R9b9b3d0a14e140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56f1d2831472e" /><Relationship Type="http://schemas.openxmlformats.org/officeDocument/2006/relationships/notesSlide" Target="/ppt/notesSlides/notesSlide8.xml" Id="R1820a34de60a4c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20cd422c3b40fa" /><Relationship Type="http://schemas.openxmlformats.org/officeDocument/2006/relationships/image" Target="/ppt/media/image.jpeg" Id="R23e4bde1e4744f7b" /><Relationship Type="http://schemas.openxmlformats.org/officeDocument/2006/relationships/image" Target="/ppt/media/image.png" Id="R600ab17b4dd447f5" /><Relationship Type="http://schemas.openxmlformats.org/officeDocument/2006/relationships/notesSlide" Target="/ppt/notesSlides/notesSlide9.xml" Id="R0b3e160483d8469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67b0615ef4ed7" /><Relationship Type="http://schemas.openxmlformats.org/officeDocument/2006/relationships/notesSlide" Target="/ppt/notesSlides/notesSlide10.xml" Id="Ra3ed00afba28424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069d0c18104565" /><Relationship Type="http://schemas.openxmlformats.org/officeDocument/2006/relationships/notesSlide" Target="/ppt/notesSlides/notesSlide11.xml" Id="Ra4125224381e44f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2711d6796e473f" /><Relationship Type="http://schemas.openxmlformats.org/officeDocument/2006/relationships/notesSlide" Target="/ppt/notesSlides/notesSlide12.xml" Id="Re3fb1af8997d4f3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e1030816674eb2" /><Relationship Type="http://schemas.openxmlformats.org/officeDocument/2006/relationships/notesSlide" Target="/ppt/notesSlides/notesSlide13.xml" Id="R82ca367d3f3442b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e034af8c214db8" /><Relationship Type="http://schemas.openxmlformats.org/officeDocument/2006/relationships/chart" Target="/ppt/slides/charts/chart2.xml" Id="R4bee5f7e7ee648ea" /><Relationship Type="http://schemas.openxmlformats.org/officeDocument/2006/relationships/notesSlide" Target="/ppt/notesSlides/notesSlide14.xml" Id="R7ddecd59bf2f4fe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445756c3164474" /><Relationship Type="http://schemas.openxmlformats.org/officeDocument/2006/relationships/chart" Target="/ppt/slides/charts/chart3.xml" Id="R1542382712f04457" /><Relationship Type="http://schemas.openxmlformats.org/officeDocument/2006/relationships/notesSlide" Target="/ppt/notesSlides/notesSlide15.xml" Id="R9cc8a8e911d240f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06dd19d441435f" /><Relationship Type="http://schemas.openxmlformats.org/officeDocument/2006/relationships/image" Target="/ppt/media/image2.png" Id="Rb588ab5e6b684ecb" /><Relationship Type="http://schemas.openxmlformats.org/officeDocument/2006/relationships/image" Target="/ppt/media/image3.png" Id="R6c03b83277ad436b" /><Relationship Type="http://schemas.openxmlformats.org/officeDocument/2006/relationships/notesSlide" Target="/ppt/notesSlides/notesSlide16.xml" Id="Rb52f38b2010e4ac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6703174054a35" /><Relationship Type="http://schemas.openxmlformats.org/officeDocument/2006/relationships/image" Target="/ppt/media/image4.png" Id="R0d2f8ac3e7254188" /><Relationship Type="http://schemas.openxmlformats.org/officeDocument/2006/relationships/image" Target="/ppt/media/image5.png" Id="Rf6ec72e5fce04361" /><Relationship Type="http://schemas.openxmlformats.org/officeDocument/2006/relationships/notesSlide" Target="/ppt/notesSlides/notesSlide17.xml" Id="Rd444d21773284a4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fd1b76d51a4d59" /><Relationship Type="http://schemas.openxmlformats.org/officeDocument/2006/relationships/notesSlide" Target="/ppt/notesSlides/notesSlide18.xml" Id="R919d695405884df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b9fc8dfe2a465a" /><Relationship Type="http://schemas.openxmlformats.org/officeDocument/2006/relationships/notesSlide" Target="/ppt/notesSlides/notesSlide19.xml" Id="R6974f924eecd4b6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c412b3b970401a" /><Relationship Type="http://schemas.openxmlformats.org/officeDocument/2006/relationships/notesSlide" Target="/ppt/notesSlides/notesSlide20.xml" Id="Rc78d4aa9838a466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86f02f625a4497" /><Relationship Type="http://schemas.openxmlformats.org/officeDocument/2006/relationships/notesSlide" Target="/ppt/notesSlides/notesSlide21.xml" Id="R706dc32e7ab54113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전체 비율</c:v>
          </c:tx>
          <c:spPr>
            <a:solidFill xmlns:a="http://schemas.openxmlformats.org/drawingml/2006/main">
              <a:srgbClr val="4666E8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50" b="1">
                    <a:solidFill>
                      <a:srgbClr val="0F172A"/>
                    </a:solidFill>
                    <a:latin typeface="Malgun Gothic"/>
                    <a:ea typeface="Malgun Gothic"/>
                    <a:cs typeface="Malgun Gothic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7"/>
              <c:pt idx="0">
                <c:v>기쁨</c:v>
              </c:pt>
              <c:pt idx="1">
                <c:v>당황</c:v>
              </c:pt>
              <c:pt idx="2">
                <c:v>분노</c:v>
              </c:pt>
              <c:pt idx="3">
                <c:v>불안</c:v>
              </c:pt>
              <c:pt idx="4">
                <c:v>상처</c:v>
              </c:pt>
              <c:pt idx="5">
                <c:v>슬픔</c:v>
              </c:pt>
              <c:pt idx="6">
                <c:v>중립</c:v>
              </c:pt>
            </c:strLit>
          </c:cat>
          <c:val>
            <c:numLit>
              <c:formatCode>0.0000</c:formatCode>
              <c:ptCount val="7"/>
              <c:pt idx="0">
                <c:v>0.1432</c:v>
              </c:pt>
              <c:pt idx="1">
                <c:v>0.1434</c:v>
              </c:pt>
              <c:pt idx="2">
                <c:v>0.1435</c:v>
              </c:pt>
              <c:pt idx="3">
                <c:v>0.1431</c:v>
              </c:pt>
              <c:pt idx="4">
                <c:v>0.1413</c:v>
              </c:pt>
              <c:pt idx="5">
                <c:v>0.142</c:v>
              </c:pt>
              <c:pt idx="6">
                <c:v>0.1434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CBD5E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0.146"/>
          <c:min val="0.138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B"/>
              </a:solidFill>
            </a:ln>
          </c:spPr>
        </c:majorGridlines>
        <c:numFmt formatCode="0.000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CBD5E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es val="autoZero"/>
        <c:crossBetween val="between"/>
        <c:majorUnit val="0.002"/>
      </c:valAx>
      <c:spPr>
        <a:ln xmlns:a="http://schemas.openxmlformats.org/drawingml/2006/main" w="0">
          <a:noFill/>
        </a:ln>
      </c:spPr>
    </c:plotArea>
    <c:plotVisOnly val="1"/>
  </c:chart>
  <c:spPr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Accuracy</c:v>
          </c:tx>
          <c:spPr>
            <a:solidFill xmlns:a="http://schemas.openxmlformats.org/drawingml/2006/main">
              <a:srgbClr val="4263EB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25" b="1">
                    <a:solidFill>
                      <a:srgbClr val="122033"/>
                    </a:solidFill>
                    <a:latin typeface="Malgun Gothic"/>
                    <a:ea typeface="Malgun Gothic"/>
                    <a:cs typeface="Malgun Gothic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EfficientNet-B0</c:v>
              </c:pt>
              <c:pt idx="1">
                <c:v>MobileNetV2</c:v>
              </c:pt>
              <c:pt idx="2">
                <c:v>ResNet18</c:v>
              </c:pt>
            </c:strLit>
          </c:cat>
          <c:val>
            <c:numLit>
              <c:formatCode>0.0%</c:formatCode>
              <c:ptCount val="3"/>
              <c:pt idx="0">
                <c:v>0.7399555</c:v>
              </c:pt>
              <c:pt idx="1">
                <c:v>0.7309183</c:v>
              </c:pt>
              <c:pt idx="2">
                <c:v>0.7275222</c:v>
              </c:pt>
            </c:numLit>
          </c:val>
        </c:ser>
        <c:ser>
          <c:idx val="1"/>
          <c:order val="1"/>
          <c:tx>
            <c:v>Macro-F1</c:v>
          </c:tx>
          <c:spPr>
            <a:solidFill xmlns:a="http://schemas.openxmlformats.org/drawingml/2006/main">
              <a:srgbClr val="14B8A6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25" b="1">
                    <a:solidFill>
                      <a:srgbClr val="122033"/>
                    </a:solidFill>
                    <a:latin typeface="Malgun Gothic"/>
                    <a:ea typeface="Malgun Gothic"/>
                    <a:cs typeface="Malgun Gothic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EfficientNet-B0</c:v>
              </c:pt>
              <c:pt idx="1">
                <c:v>MobileNetV2</c:v>
              </c:pt>
              <c:pt idx="2">
                <c:v>ResNet18</c:v>
              </c:pt>
            </c:strLit>
          </c:cat>
          <c:val>
            <c:numLit>
              <c:formatCode>0.0%</c:formatCode>
              <c:ptCount val="3"/>
              <c:pt idx="0">
                <c:v>0.7357475</c:v>
              </c:pt>
              <c:pt idx="1">
                <c:v>0.7295768</c:v>
              </c:pt>
              <c:pt idx="2">
                <c:v>0.7253373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E0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0.75"/>
          <c:min val="0.7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8"/>
              </a:solidFill>
              <a:prstDash val="solid"/>
            </a:ln>
          </c:spPr>
        </c:majorGridlines>
        <c:numFmt formatCode="0.0%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es val="autoZero"/>
        <c:crossBetween val="between"/>
        <c:majorUnit val="0.01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122033"/>
              </a:solidFill>
              <a:latin typeface="Malgun Gothic"/>
              <a:ea typeface="Malgun Gothic"/>
              <a:cs typeface="Malgun Gothic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EfficientNet-B0</c:v>
          </c:tx>
          <c:spPr>
            <a:solidFill xmlns:a="http://schemas.openxmlformats.org/drawingml/2006/main">
              <a:srgbClr val="4263EB"/>
            </a:solidFill>
          </c:spPr>
          <c:cat>
            <c:strLit>
              <c:ptCount val="7"/>
              <c:pt idx="0">
                <c:v>기쁨</c:v>
              </c:pt>
              <c:pt idx="1">
                <c:v>당황</c:v>
              </c:pt>
              <c:pt idx="2">
                <c:v>분노</c:v>
              </c:pt>
              <c:pt idx="3">
                <c:v>불안</c:v>
              </c:pt>
              <c:pt idx="4">
                <c:v>상처</c:v>
              </c:pt>
              <c:pt idx="5">
                <c:v>슬픔</c:v>
              </c:pt>
              <c:pt idx="6">
                <c:v>중립</c:v>
              </c:pt>
            </c:strLit>
          </c:cat>
          <c:val>
            <c:numLit>
              <c:formatCode>0%</c:formatCode>
              <c:ptCount val="7"/>
              <c:pt idx="0">
                <c:v>0.95</c:v>
              </c:pt>
              <c:pt idx="1">
                <c:v>0.77</c:v>
              </c:pt>
              <c:pt idx="2">
                <c:v>0.77</c:v>
              </c:pt>
              <c:pt idx="3">
                <c:v>0.57</c:v>
              </c:pt>
              <c:pt idx="4">
                <c:v>0.54</c:v>
              </c:pt>
              <c:pt idx="5">
                <c:v>0.72</c:v>
              </c:pt>
              <c:pt idx="6">
                <c:v>0.83</c:v>
              </c:pt>
            </c:numLit>
          </c:val>
        </c:ser>
        <c:ser>
          <c:idx val="1"/>
          <c:order val="1"/>
          <c:tx>
            <c:v>MobileNetV2</c:v>
          </c:tx>
          <c:spPr>
            <a:solidFill xmlns:a="http://schemas.openxmlformats.org/drawingml/2006/main">
              <a:srgbClr val="14B8A6"/>
            </a:solidFill>
          </c:spPr>
          <c:cat>
            <c:strLit>
              <c:ptCount val="7"/>
              <c:pt idx="0">
                <c:v>기쁨</c:v>
              </c:pt>
              <c:pt idx="1">
                <c:v>당황</c:v>
              </c:pt>
              <c:pt idx="2">
                <c:v>분노</c:v>
              </c:pt>
              <c:pt idx="3">
                <c:v>불안</c:v>
              </c:pt>
              <c:pt idx="4">
                <c:v>상처</c:v>
              </c:pt>
              <c:pt idx="5">
                <c:v>슬픔</c:v>
              </c:pt>
              <c:pt idx="6">
                <c:v>중립</c:v>
              </c:pt>
            </c:strLit>
          </c:cat>
          <c:val>
            <c:numLit>
              <c:formatCode>0%</c:formatCode>
              <c:ptCount val="7"/>
              <c:pt idx="0">
                <c:v>0.95</c:v>
              </c:pt>
              <c:pt idx="1">
                <c:v>0.76</c:v>
              </c:pt>
              <c:pt idx="2">
                <c:v>0.76</c:v>
              </c:pt>
              <c:pt idx="3">
                <c:v>0.56</c:v>
              </c:pt>
              <c:pt idx="4">
                <c:v>0.53</c:v>
              </c:pt>
              <c:pt idx="5">
                <c:v>0.71</c:v>
              </c:pt>
              <c:pt idx="6">
                <c:v>0.83</c:v>
              </c:pt>
            </c:numLit>
          </c:val>
        </c:ser>
        <c:ser>
          <c:idx val="2"/>
          <c:order val="2"/>
          <c:tx>
            <c:v>ResNet18</c:v>
          </c:tx>
          <c:spPr>
            <a:solidFill xmlns:a="http://schemas.openxmlformats.org/drawingml/2006/main">
              <a:srgbClr val="F4B740"/>
            </a:solidFill>
          </c:spPr>
          <c:cat>
            <c:strLit>
              <c:ptCount val="7"/>
              <c:pt idx="0">
                <c:v>기쁨</c:v>
              </c:pt>
              <c:pt idx="1">
                <c:v>당황</c:v>
              </c:pt>
              <c:pt idx="2">
                <c:v>분노</c:v>
              </c:pt>
              <c:pt idx="3">
                <c:v>불안</c:v>
              </c:pt>
              <c:pt idx="4">
                <c:v>상처</c:v>
              </c:pt>
              <c:pt idx="5">
                <c:v>슬픔</c:v>
              </c:pt>
              <c:pt idx="6">
                <c:v>중립</c:v>
              </c:pt>
            </c:strLit>
          </c:cat>
          <c:val>
            <c:numLit>
              <c:formatCode>0%</c:formatCode>
              <c:ptCount val="7"/>
              <c:pt idx="0">
                <c:v>0.95</c:v>
              </c:pt>
              <c:pt idx="1">
                <c:v>0.76</c:v>
              </c:pt>
              <c:pt idx="2">
                <c:v>0.76</c:v>
              </c:pt>
              <c:pt idx="3">
                <c:v>0.57</c:v>
              </c:pt>
              <c:pt idx="4">
                <c:v>0.5</c:v>
              </c:pt>
              <c:pt idx="5">
                <c:v>0.71</c:v>
              </c:pt>
              <c:pt idx="6">
                <c:v>0.83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E0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1"/>
          <c:min val="0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8"/>
              </a:solidFill>
              <a:prstDash val="solid"/>
            </a:ln>
          </c:spPr>
        </c:majorGridlines>
        <c:numFmt formatCode="0%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es val="autoZero"/>
        <c:crossBetween val="between"/>
        <c:majorUnit val="0.1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122033"/>
              </a:solidFill>
              <a:latin typeface="Malgun Gothic"/>
              <a:ea typeface="Malgun Gothic"/>
              <a:cs typeface="Malgun Gothic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ACC6DC15-11EC-4F6C-85DA-09950FE8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52550"/>
            <a:ext cx="8096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6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한국인 얼굴 감정 인식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B7A8D019-0968-414B-BFDA-84E572AD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0" i="0">
                <a:solidFill>
                  <a:srgbClr val="B8C7D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0" i="0">
                <a:solidFill>
                  <a:srgbClr val="B8C7DA"/>
                </a:solidFill>
                <a:latin typeface="Malgun Gothic"/>
                <a:ea typeface="Malgun Gothic"/>
                <a:cs typeface="Malgun Gothic"/>
              </a:rPr>
              <a:t>데이터 전처리와 모델 비교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DE4D4146-6AE8-4228-882D-6F6A3AAC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2381250" cy="0"/>
          </a:xfrm>
          <a:prstGeom xmlns:a="http://schemas.openxmlformats.org/drawingml/2006/main" prst="line">
            <a:avLst/>
          </a:prstGeom>
          <a:ln xmlns:a="http://schemas.openxmlformats.org/drawingml/2006/main" w="57150">
            <a:solidFill>
              <a:srgbClr val="14B8A6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C9D41D2C-A840-4F15-9093-5D90A0BE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866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DCE6F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i="0">
                <a:solidFill>
                  <a:srgbClr val="DCE6F2"/>
                </a:solidFill>
                <a:latin typeface="Malgun Gothic"/>
                <a:ea typeface="Malgun Gothic"/>
                <a:cs typeface="Malgun Gothic"/>
              </a:rPr>
              <a:t>오석, 정준영, 김범영</a:t>
            </a:r>
            <a:r>
              <a:rPr sz="1650">
                <a:solidFill>
                  <a:srgbClr val="DCE6F2"/>
                </a:solidFill>
                <a:latin typeface="Malgun Gothic"/>
                <a:ea typeface="Malgun Gothic"/>
                <a:cs typeface="Malgun Gothic"/>
              </a:rPr>
              <a:t> (김정오 팀)</a:t>
            </a:r>
            <a:endParaRPr sz="1650" b="0" i="0">
              <a:solidFill>
                <a:srgbClr val="DCE6F2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CA1DC95B-C7E8-431E-A5AF-1B1FD6DE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21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8FA2B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i="0">
                <a:solidFill>
                  <a:srgbClr val="8FA2B9"/>
                </a:solidFill>
                <a:latin typeface="Malgun Gothic"/>
                <a:ea typeface="Malgun Gothic"/>
                <a:cs typeface="Malgun Gothic"/>
              </a:rPr>
              <a:t>팀 프로젝트 발표</a:t>
            </a:r>
          </a:p>
        </p:txBody>
      </p:sp>
    </p:spTree>
    <p:extLst>
      <p:ext uri="{BB962C8B-B14F-4D97-AF65-F5344CB8AC3E}">
        <p14:creationId xmlns:p14="http://schemas.microsoft.com/office/powerpoint/2010/main" val="2279614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337A7044-875B-405B-9468-5A5C1FC0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목차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96238EDC-C734-41BC-B0C8-E43EAC41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데이터 준비부터 세 모델 기반 웹캠 프로그램까지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DF2C06E0-C9D8-4393-8842-A1F2DFB2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206BF82A-2981-4155-B397-BC5FBFAA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5BB6C15C-98EF-4673-814B-C9329810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B5B32EC8-0134-4BBF-ACA6-7F3FA2C6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335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D94D4D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 i="0">
                <a:solidFill>
                  <a:srgbClr val="D94D4D"/>
                </a:solidFill>
                <a:latin typeface="Malgun Gothic"/>
                <a:ea typeface="Malgun Gothic"/>
                <a:cs typeface="Malgun Gothic"/>
              </a:rPr>
              <a:t>데이터 준비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F4E2336F-A41E-473D-9590-B45CE8CE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335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258C6B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 i="0">
                <a:solidFill>
                  <a:srgbClr val="258C6B"/>
                </a:solidFill>
                <a:latin typeface="Malgun Gothic"/>
                <a:ea typeface="Malgun Gothic"/>
                <a:cs typeface="Malgun Gothic"/>
              </a:rPr>
              <a:t>모델 학습과 활용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D98D82D4-3456-4C20-8FC0-3CF5C101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프로젝트 요약과 팀 역할</a:t>
            </a:r>
          </a:p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데이터 범위와 품질 점검</a:t>
            </a:r>
          </a:p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전처리 설계와 실행 결과</a:t>
            </a:r>
          </a:p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입력 이미지 변환 전후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18F0D364-E6AE-44DC-9A21-AFB3CCC0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812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PyTorch GPU 학습 환경</a:t>
            </a:r>
          </a:p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세 모델 구조와 파라미터 수</a:t>
            </a:r>
          </a:p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검증 성능과 평가 한계</a:t>
            </a:r>
          </a:p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체크포인트와 웹캠 프로그램</a:t>
            </a:r>
          </a:p>
        </p:txBody>
      </p:sp>
      <p:sp>
        <p:nvSpPr>
          <p:cNvPr id="10" name="직선 연결선 9">
            <a:extLst xmlns:a="http://schemas.openxmlformats.org/drawingml/2006/main">
              <a:ext uri="{FF2B5EF4-FFF2-40B4-BE49-F238E27FC236}">
                <a16:creationId xmlns:a16="http://schemas.microsoft.com/office/drawing/2014/main" id="{D34D44D8-AC29-4A97-9EC6-47DEC85D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752600"/>
            <a:ext cx="0" cy="34099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F66877F3-B2D7-4883-9BE7-AB618F8B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81625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rPr>
              <a:t>전처리 기준과 세 모델 비교 결과를 중심으로 설명하겠습니다.</a:t>
            </a:r>
          </a:p>
        </p:txBody>
      </p:sp>
    </p:spTree>
    <p:extLst>
      <p:ext uri="{BB962C8B-B14F-4D97-AF65-F5344CB8AC3E}">
        <p14:creationId xmlns:p14="http://schemas.microsoft.com/office/powerpoint/2010/main" val="2233907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C0341155-58B6-4494-8488-490A4663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팀 구성과 역할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F4143ED8-32DC-40F6-BC24-86BB4378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데이터 준비, 모델 실험, 실시간 프로그램을 분담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B521F64A-13F5-46AE-9DE2-3597996F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C9BAB141-FAF9-4781-AF79-5A87C3EC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CAA93897-79F1-4AF6-8808-DEBBDEE8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AFC34494-0738-4EBF-980E-E5088F5C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3722" y="17526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rPr>
              <a:t>오석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B560E00E-F5B6-4A99-8DEA-666D05E9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3722" y="23812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실시간 프로그램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5DCA05AD-4CE9-440F-A6FC-834B342A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1881" y="17526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4B8A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14B8A6"/>
                </a:solidFill>
                <a:latin typeface="Malgun Gothic"/>
                <a:ea typeface="Malgun Gothic"/>
                <a:cs typeface="Malgun Gothic"/>
              </a:rPr>
              <a:t>정준영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726FAB5D-DE01-4555-8682-C7DA8EA3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1881" y="23812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주제·데이터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5DE7D9AD-0A46-4C23-84BC-B87C5C2C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040" y="175260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rPr>
              <a:t>김범영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A061B971-B19D-44AA-8EDB-F272661B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040" y="23812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모델·발표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13E9696B-15BA-40C7-BA80-B1890029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담당 업무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283DB723-2064-43B1-8CEC-705763C2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57650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오석: OpenCV 기반 웹캠 실시간 프로그램 구현</a:t>
            </a:r>
          </a:p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정준영: 주제 선정, 데이터셋 조사·수집, 전처리 수행</a:t>
            </a:r>
          </a:p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김범영: 전처리 보조, 비교 모델 선정, PPT 제작과 발표</a:t>
            </a:r>
          </a:p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각 단계의 산출물을 공유해 모델과 프로그램의 입력 규격을 일치시켰다.</a:t>
            </a:r>
          </a:p>
        </p:txBody>
      </p:sp>
    </p:spTree>
    <p:extLst>
      <p:ext uri="{BB962C8B-B14F-4D97-AF65-F5344CB8AC3E}">
        <p14:creationId xmlns:p14="http://schemas.microsoft.com/office/powerpoint/2010/main" val="20656177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C0341155-58B6-4494-8488-490A4663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프로젝트 요약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F4143ED8-32DC-40F6-BC24-86BB4378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현재 완료된 범위와 핵심 결론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B521F64A-13F5-46AE-9DE2-3597996F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C9BAB141-FAF9-4781-AF79-5A87C3EC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CAA93897-79F1-4AF6-8808-DEBBDEE8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AFC34494-0738-4EBF-980E-E5088F5C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3722" y="17526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rPr>
              <a:t>275,688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B560E00E-F5B6-4A99-8DEA-666D05E9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3722" y="23812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전처리 완료 이미지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5DCA05AD-4CE9-440F-A6FC-834B342A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1881" y="17526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4B8A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14B8A6"/>
                </a:solidFill>
                <a:latin typeface="Malgun Gothic"/>
                <a:ea typeface="Malgun Gothic"/>
                <a:cs typeface="Malgun Gothic"/>
              </a:rPr>
              <a:t>83,308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726FAB5D-DE01-4555-8682-C7DA8EA3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1881" y="23812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방향 보정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5DE7D9AD-0A46-4C23-84BC-B87C5C2C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040" y="175260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rPr>
              <a:t>0.7357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A061B971-B19D-44AA-8EDB-F272661B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040" y="23812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최고 Validation Macro-F1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13E9696B-15BA-40C7-BA80-B1890029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현재 구현 방향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283DB723-2064-43B1-8CEC-705763C2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57650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시간 제약에 따라 Training은 감정별 4개 파트 중 2개만 사용했다.</a:t>
            </a:r>
          </a:p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손상 JPEG 16장을 제외하고 224×224 흑백 PNG와 라벨 좌표를 만들었다.</a:t>
            </a:r>
          </a:p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세 모델 중 EfficientNet-B0가 Accuracy와 Macro-F1 모두 가장 높았다.</a:t>
            </a:r>
          </a:p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웹캠 프로그램에서 세 모델을 선택하거나 같은 입력으로 비교한다.</a:t>
            </a:r>
          </a:p>
        </p:txBody>
      </p:sp>
    </p:spTree>
    <p:extLst>
      <p:ext uri="{BB962C8B-B14F-4D97-AF65-F5344CB8AC3E}">
        <p14:creationId xmlns:p14="http://schemas.microsoft.com/office/powerpoint/2010/main" val="20656177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56EC9D1B-61CE-45E9-95D1-84C2B405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전체 작업 과정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55754C8E-DEC0-4133-917B-B99D09D1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원본 수집부터 프로그램 적용 전 단계까지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0C69E740-15DE-4685-95FC-30B1A138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5E28D6AE-4BCE-427F-A336-021E747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1F4EDADE-7488-48BC-B473-B771C552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2E263B98-493B-4388-B918-55407982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원본 JPG·JSON</a:t>
            </a:r>
          </a:p>
        </p:txBody>
      </p:sp>
      <p:sp>
        <p:nvSpPr>
          <p:cNvPr id="7" name="사각형: 둥근 모서리 6">
            <a:extLst xmlns:a="http://schemas.openxmlformats.org/drawingml/2006/main">
              <a:ext uri="{FF2B5EF4-FFF2-40B4-BE49-F238E27FC236}">
                <a16:creationId xmlns:a16="http://schemas.microsoft.com/office/drawing/2014/main" id="{13EE08D5-3B78-4357-8575-CA3D88A8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955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7D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EDA와 품질 점검</a:t>
            </a:r>
          </a:p>
        </p:txBody>
      </p:sp>
      <p:sp>
        <p:nvSpPr>
          <p:cNvPr id="8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B37C1A81-B460-45AE-8B52-D565AFE0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955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8F8F5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이미지·라벨 전처리</a:t>
            </a:r>
          </a:p>
        </p:txBody>
      </p:sp>
      <p:sp>
        <p:nvSpPr>
          <p:cNvPr id="9" name="사각형: 둥근 모서리 8">
            <a:extLst xmlns:a="http://schemas.openxmlformats.org/drawingml/2006/main">
              <a:ext uri="{FF2B5EF4-FFF2-40B4-BE49-F238E27FC236}">
                <a16:creationId xmlns:a16="http://schemas.microsoft.com/office/drawing/2014/main" id="{312AAF76-CDFB-4873-9884-C41BB491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955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PyTorch GPU 학습</a:t>
            </a:r>
          </a:p>
        </p:txBody>
      </p:sp>
      <p:sp>
        <p:nvSpPr>
          <p:cNvPr id="10" name="사각형: 둥근 모서리 9">
            <a:extLst xmlns:a="http://schemas.openxmlformats.org/drawingml/2006/main">
              <a:ext uri="{FF2B5EF4-FFF2-40B4-BE49-F238E27FC236}">
                <a16:creationId xmlns:a16="http://schemas.microsoft.com/office/drawing/2014/main" id="{11C64B3A-7C94-4AC7-A083-ADA647D7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0955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모델 비교·저장</a:t>
            </a:r>
          </a:p>
        </p:txBody>
      </p:sp>
      <p:cxnSp>
        <p:nvCxnSpPr>
          <p:cNvPr id="144" name="직선 화살표 연결선 33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38400" y="25431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145" name="직선 화살표 연결선 34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724400" y="25431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146" name="직선 화살표 연결선 35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10400" y="25431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147" name="직선 화살표 연결선 36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296400" y="25431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  <a:tailEnd type="triangle" w="sm" len="sm"/>
          </a:ln>
        </p:spPr>
      </p:cxn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0B147B33-1228-4EE3-85ED-261131C7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243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rPr>
              <a:t>다음 단계</a:t>
            </a:r>
          </a:p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E1FDFBBC-366A-492E-B034-0CE7538E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829050"/>
            <a:ext cx="1905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웹캠 프레임 입력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A9910972-B6A4-45E6-8827-5F6E85B1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829050"/>
            <a:ext cx="2095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7D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얼굴 검출·224 전처리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9EB4CE5C-8841-451B-B1B6-50182D65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29050"/>
            <a:ext cx="1714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8F8F5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모델 선택·비교</a:t>
            </a:r>
          </a:p>
        </p:txBody>
      </p:sp>
      <p:sp>
        <p:nvSpPr>
          <p:cNvPr id="19" name="사각형: 둥근 모서리 18">
            <a:extLst xmlns:a="http://schemas.openxmlformats.org/drawingml/2006/main">
              <a:ext uri="{FF2B5EF4-FFF2-40B4-BE49-F238E27FC236}">
                <a16:creationId xmlns:a16="http://schemas.microsoft.com/office/drawing/2014/main" id="{98CB3CAB-A392-42E5-9C1F-DBA4B236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829050"/>
            <a:ext cx="1714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감정·확률 표시</a:t>
            </a:r>
          </a:p>
        </p:txBody>
      </p:sp>
      <p:cxnSp>
        <p:nvCxnSpPr>
          <p:cNvPr id="153" name="직선 화살표 연결선 42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629150" y="4191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154" name="직선 화살표 연결선 43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200900" y="4191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155" name="직선 화살표 연결선 44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391650" y="4191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  <a:tailEnd type="triangle" w="sm" len="sm"/>
          </a:ln>
        </p:spPr>
      </p:cxnSp>
      <p:sp>
        <p:nvSpPr>
          <p:cNvPr id="23" name="직사각형 22">
            <a:extLst xmlns:a="http://schemas.openxmlformats.org/drawingml/2006/main">
              <a:ext uri="{FF2B5EF4-FFF2-40B4-BE49-F238E27FC236}">
                <a16:creationId xmlns:a16="http://schemas.microsoft.com/office/drawing/2014/main" id="{C9332F34-5B57-4FC6-964F-2D308D67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91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현재 발표는 모델 비교와 저장까지 다루며, 뒤쪽 슬라이드는 프로그램 구현 결과를 추가할 수 있게 구성했다.</a:t>
            </a:r>
          </a:p>
        </p:txBody>
      </p:sp>
    </p:spTree>
    <p:extLst>
      <p:ext uri="{BB962C8B-B14F-4D97-AF65-F5344CB8AC3E}">
        <p14:creationId xmlns:p14="http://schemas.microsoft.com/office/powerpoint/2010/main" val="10280462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2629DBD7-D7D1-4A5C-A9F7-810EA6E6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데이터 규모와 클래스 균형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B59256D3-9CD4-43D7-9FFF-ABF247C1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전처리 성공 기준 275,688장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863E982B-8A56-4654-98BD-2681FACA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F56B354D-F09C-4586-ADD4-D1D4197E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56DE2FDF-0520-4265-A6A1-305F643C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5A526025-02BF-4EC4-9292-01B2667C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02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rPr>
              <a:t>223,570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FEDBDB13-E767-4200-AE6B-DA2CECF0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289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Training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409444F8-A4A9-476E-9292-2EF922F6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290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4B8A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14B8A6"/>
                </a:solidFill>
                <a:latin typeface="Malgun Gothic"/>
                <a:ea typeface="Malgun Gothic"/>
                <a:cs typeface="Malgun Gothic"/>
              </a:rPr>
              <a:t>52,118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5327152C-62FA-4541-8FE5-05C5DA4F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576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Validation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57201500-0CB1-4FBA-9555-33AAA667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53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클래스 비율 14.13~14.35%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1ACAA6C0-8EBF-494C-A1D0-C765AB67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102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오버샘플링 필요성 낮음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75247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3a5748efffa4b12"/>
          </a:graphicData>
        </a:graphic>
      </p:graphicFrame>
    </p:spTree>
    <p:extLst>
      <p:ext uri="{BB962C8B-B14F-4D97-AF65-F5344CB8AC3E}">
        <p14:creationId xmlns:p14="http://schemas.microsoft.com/office/powerpoint/2010/main" val="17780583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48A02D74-FD0E-44A4-AAB3-14222DFF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데이터 범위와 품질 점검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22442A2E-86ED-49B1-85EC-7C74C577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데이터 범위 결정, 손상 파일, 방향 정보와 인물 중복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6234A63E-AEEC-4BDB-9FA1-E90BCA51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0F75341A-F506-4D9C-9EE5-617D3F24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10D6C382-CA08-49C3-B63B-8FCB3D87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C0BADD82-5F6B-46FE-94F3-FB13E7BF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335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rPr>
              <a:t>193,589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7285B3FB-3382-424B-BF35-20CFC9D9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선택하지 않은 파트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D060DD8F-B910-48A5-9744-D9E61898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335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64E41917-893C-4376-8FBF-70DBDE7D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622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손상 JPEG 제외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2B1713AA-EFAC-44F6-853F-C3CA4082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335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F4B74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F4B740"/>
                </a:solidFill>
                <a:latin typeface="Malgun Gothic"/>
                <a:ea typeface="Malgun Gothic"/>
                <a:cs typeface="Malgun Gothic"/>
              </a:rPr>
              <a:t>528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FF9DD058-CB44-4143-A199-A9EF975A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622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분할 간 공통 식별자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D305C31B-3FC1-4D88-B725-E5239024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7335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D94D4D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D94D4D"/>
                </a:solidFill>
                <a:latin typeface="Malgun Gothic"/>
                <a:ea typeface="Malgun Gothic"/>
                <a:cs typeface="Malgun Gothic"/>
              </a:rPr>
              <a:t>83,308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285B8614-D243-4758-9D12-B3E5C319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622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EXIF 방향 보정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A54A0C70-9DF9-405C-8B13-A453DF04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해석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39EFBCAF-13B9-4996-AF39-414FB5E8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0"/>
            <a:ext cx="10382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01600">
              <a:spcAft>
                <a:spcPts val="1100"/>
              </a:spcAft>
              <a:buChar char="•"/>
              <a:defRPr sz="180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시간 제약으로 감정별 Training 4개 파트 중 2개만 선택해 사용했다.</a:t>
            </a:r>
          </a:p>
          <a:p xmlns:a="http://schemas.openxmlformats.org/drawingml/2006/main">
            <a:pPr marL="228600" indent="-101600">
              <a:spcAft>
                <a:spcPts val="1100"/>
              </a:spcAft>
              <a:buChar char="•"/>
              <a:defRPr sz="180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선택하지 않은 파트의 라벨 193,589건에는 대응 JPG가 없으며 전처리 실패가 아니다.</a:t>
            </a:r>
          </a:p>
          <a:p xmlns:a="http://schemas.openxmlformats.org/drawingml/2006/main">
            <a:pPr marL="228600" indent="-101600">
              <a:spcAft>
                <a:spcPts val="1100"/>
              </a:spcAft>
              <a:buChar char="•"/>
              <a:defRPr sz="180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같은 인물의 유사 이미지가 두 분할에 섞이면 Validation 성능이 높아질 수 있다.</a:t>
            </a:r>
          </a:p>
        </p:txBody>
      </p:sp>
    </p:spTree>
    <p:extLst>
      <p:ext uri="{BB962C8B-B14F-4D97-AF65-F5344CB8AC3E}">
        <p14:creationId xmlns:p14="http://schemas.microsoft.com/office/powerpoint/2010/main" val="831586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E76DB245-714C-4ADF-9E3F-805CF742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전처리 설계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13D5274B-2384-4D72-AFA6-4A663C0B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표정 형태를 보존하면서 세 모델의 입력 규격을 통일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B462598A-8319-4D78-918A-66042D40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F7AD307A-CE44-4310-ACDD-12447736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1F0B08BC-5EEB-48A8-A20D-CCD90A28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graphicFrame>
        <p:nvGraphicFramePr>
          <p:cNvPr id="15" name="표 12"/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2190750"/>
                <a:gridCol w="4095750"/>
                <a:gridCol w="3162300"/>
              </a:tblGrid>
              <a:tr h="650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</a:t>
                      </a:r>
                    </a:p>
                  </a:txBody>
                  <a:tcPr marL="91440" marR="91440" marT="45720" marB="45720">
                    <a:solidFill>
                      <a:srgbClr val="0B15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</a:t>
                      </a:r>
                    </a:p>
                  </a:txBody>
                  <a:tcPr marL="91440" marR="91440" marT="45720" marB="45720">
                    <a:solidFill>
                      <a:srgbClr val="0B15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이유</a:t>
                      </a:r>
                    </a:p>
                  </a:txBody>
                  <a:tcPr marL="91440" marR="91440" marT="45720" marB="45720">
                    <a:solidFill>
                      <a:srgbClr val="0B15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한계</a:t>
                      </a:r>
                    </a:p>
                  </a:txBody>
                  <a:tcPr marL="91440" marR="91440" marT="45720" marB="45720">
                    <a:solidFill>
                      <a:srgbClr val="0B1526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크기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224×224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사전학습 모델 호환성과 계산량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미세 표정 축소 가능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방향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EXIF 픽셀 보정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옆·거꾸로 된 얼굴 방지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잘못된 태그는 별도 확인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채널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1채널 흑백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형태·명암 집중, 저장량 감소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색상 정보 손실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비율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종횡비 유지+패딩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얼굴 눌림과 늘어남 방지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검정 여백 발생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형식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재저장 손실 없이 입력 고정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 크기 증가 가능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8331E27D-653F-471C-A001-8AA620B8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02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ImageNet 사전학습 모델 입력에서는 흑백 값을 RGB 세 채널에 동일하게 복제한다.</a:t>
            </a:r>
          </a:p>
        </p:txBody>
      </p:sp>
    </p:spTree>
    <p:extLst>
      <p:ext uri="{BB962C8B-B14F-4D97-AF65-F5344CB8AC3E}">
        <p14:creationId xmlns:p14="http://schemas.microsoft.com/office/powerpoint/2010/main" val="16561055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12A7F9B9-5053-46A9-B71F-B22786C9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이미지 변환 전후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3C3FC528-001C-4CAF-BB13-4E57046F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원본 비율을 유지하고 검정 패딩으로 224×224 통일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0D1A2A7B-C69A-4E7A-893B-8914BF98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1C828ACE-5687-413A-B63D-01CDD537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F327772C-48B5-4E76-9198-3C628F98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C7024ADA-E37D-4C2F-B692-22043551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원본 JPG</a:t>
            </a:r>
          </a:p>
        </p:txBody>
      </p:sp>
      <p:pic>
        <p:nvPicPr>
          <p:cNvPr id="21" name="그림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e4bde1e4744f7b"/>
          <a:stretch xmlns:a="http://schemas.openxmlformats.org/drawingml/2006/main"/>
        </p:blipFill>
        <p:spPr>
          <a:xfrm xmlns:a="http://schemas.openxmlformats.org/drawingml/2006/main">
            <a:off x="904875" y="1981200"/>
            <a:ext cx="4572000" cy="3429000"/>
          </a:xfrm>
          <a:prstGeom xmlns:a="http://schemas.openxmlformats.org/drawingml/2006/main" prst="rect">
            <a:avLst/>
          </a:prstGeom>
        </p:spPr>
      </p:pic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1417DE9E-0A25-4095-B266-ADAABD66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5621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전처리 PNG</a:t>
            </a:r>
          </a:p>
        </p:txBody>
      </p:sp>
      <p:pic>
        <p:nvPicPr>
          <p:cNvPr id="23" name="그림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0ab17b4dd447f5"/>
          <a:stretch xmlns:a="http://schemas.openxmlformats.org/drawingml/2006/main"/>
        </p:blipFill>
        <p:spPr>
          <a:xfrm xmlns:a="http://schemas.openxmlformats.org/drawingml/2006/main">
            <a:off x="6915150" y="1981200"/>
            <a:ext cx="3429000" cy="3429000"/>
          </a:xfrm>
          <a:prstGeom xmlns:a="http://schemas.openxmlformats.org/drawingml/2006/main" prst="rect">
            <a:avLst/>
          </a:prstGeom>
        </p:spPr>
      </p:pic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01A6ACDA-3E66-48EA-AE8E-BD3C3767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고해상도 RGB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3C55ABD2-52FA-4E75-960F-03BF4179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6197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224×224 · 흑백 · 방향 보정</a:t>
            </a:r>
          </a:p>
        </p:txBody>
      </p:sp>
    </p:spTree>
    <p:extLst>
      <p:ext uri="{BB962C8B-B14F-4D97-AF65-F5344CB8AC3E}">
        <p14:creationId xmlns:p14="http://schemas.microsoft.com/office/powerpoint/2010/main" val="17364623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3A9A6EB9-C8FC-4260-9FED-B01035C9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전처리 결과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BA56C209-9156-4D38-B76C-E0AEF10E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중단 재실행과 오류 추적이 가능한 처리 구조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4E06A48A-0800-462A-A251-DEA0D185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920552C9-3A2D-4746-A62E-6857A2AD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5E7D7903-F3FE-4CBF-8D03-481B080B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9FF34967-0751-4E86-94AF-108A4552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rPr>
              <a:t>275,688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B894593B-B61D-43A2-B120-326AA9C5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성공 이미지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9E899BCC-1E74-4D42-ACB4-C410AB11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9545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D94D4D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D94D4D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C9EB62C6-09AB-496B-92EB-657769EB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241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손상 JPEG 제외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527CE578-DFC2-45BA-B19F-6ABD9831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9545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4B8A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14B8A6"/>
                </a:solidFill>
                <a:latin typeface="Malgun Gothic"/>
                <a:ea typeface="Malgun Gothic"/>
                <a:cs typeface="Malgun Gothic"/>
              </a:rPr>
              <a:t>827,064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98C6DBEB-59FF-44B4-BDA5-9080D431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3241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변환 얼굴 박스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489E0539-3B2A-4255-8E8D-F02470E3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6954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rPr>
              <a:t>1:35:35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B7594180-AB34-412B-8D80-82DC495E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241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전체 처리 시간</a:t>
            </a:r>
          </a:p>
        </p:txBody>
      </p:sp>
      <p:sp>
        <p:nvSpPr>
          <p:cNvPr id="14" name="직선 연결선 13">
            <a:extLst xmlns:a="http://schemas.openxmlformats.org/drawingml/2006/main">
              <a:ext uri="{FF2B5EF4-FFF2-40B4-BE49-F238E27FC236}">
                <a16:creationId xmlns:a16="http://schemas.microsoft.com/office/drawing/2014/main" id="{F6E24918-A80D-4084-A4D4-9FD89F4D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553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7D9EF933-54B8-4348-9861-5923FA17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513.40 GiB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9236B35D-BF81-44BD-BA0F-E8DDD170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052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3000" b="1" i="0">
                <a:solidFill>
                  <a:srgbClr val="258C6B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258C6B"/>
                </a:solidFill>
                <a:latin typeface="Malgun Gothic"/>
                <a:ea typeface="Malgun Gothic"/>
                <a:cs typeface="Malgun Gothic"/>
              </a:rPr>
              <a:t>12.85 GiB</a:t>
            </a:r>
          </a:p>
        </p:txBody>
      </p:sp>
      <p:sp>
        <p:nvSpPr>
          <p:cNvPr id="17" name="직선 연결선 16">
            <a:extLst xmlns:a="http://schemas.openxmlformats.org/drawingml/2006/main">
              <a:ext uri="{FF2B5EF4-FFF2-40B4-BE49-F238E27FC236}">
                <a16:creationId xmlns:a16="http://schemas.microsoft.com/office/drawing/2014/main" id="{C1C81A80-7A66-48F3-81A5-DE910195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91000"/>
            <a:ext cx="4762500" cy="0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rgbClr val="258C6B"/>
            </a:solidFill>
            <a:prstDash val="solid"/>
          </a:ln>
        </p:spPr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6F11D5F3-DAF4-48AE-8113-AC20A405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339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258C6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258C6B"/>
                </a:solidFill>
                <a:latin typeface="Malgun Gothic"/>
                <a:ea typeface="Malgun Gothic"/>
                <a:cs typeface="Malgun Gothic"/>
              </a:rPr>
              <a:t>이미지 저장 용량 97.50% 감소</a:t>
            </a:r>
          </a:p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9A640374-746C-4DCD-9F6A-210895B6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19700"/>
            <a:ext cx="981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01600">
              <a:spcAft>
                <a:spcPts val="600"/>
              </a:spcAft>
              <a:buChar char="•"/>
              <a:def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완성된 PNG는 건너뛰어 재부팅 후 같은 명령으로 이어서 처리한다.</a:t>
            </a:r>
          </a:p>
          <a:p xmlns:a="http://schemas.openxmlformats.org/drawingml/2006/main">
            <a:pPr marL="228600" indent="-101600">
              <a:spcAft>
                <a:spcPts val="600"/>
              </a:spcAft>
              <a:buChar char="•"/>
              <a:def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임시 파일을 완성한 뒤 최종 이름으로 교체해 중단된 파일을 구별한다.</a:t>
            </a:r>
          </a:p>
          <a:p xmlns:a="http://schemas.openxmlformats.org/drawingml/2006/main">
            <a:pPr marL="228600" indent="-101600">
              <a:spcAft>
                <a:spcPts val="600"/>
              </a:spcAft>
              <a:buChar char="•"/>
              <a:def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실패 경로와 이유, split별 시간은 preprocessing_summary.json에 남긴다.</a:t>
            </a:r>
          </a:p>
        </p:txBody>
      </p:sp>
    </p:spTree>
    <p:extLst>
      <p:ext uri="{BB962C8B-B14F-4D97-AF65-F5344CB8AC3E}">
        <p14:creationId xmlns:p14="http://schemas.microsoft.com/office/powerpoint/2010/main" val="21248749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3AEBFC5C-7067-49AC-AE7F-7AA8A49C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PyTorch GPU 환경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8449B33D-34BC-465B-908E-684DB5E9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설치 확인보다 실제 CUDA 연산 검증을 우선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92395A23-324A-47B7-94AB-971AF8A4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DFAA0BA0-6BA2-495A-B846-FE9B6F84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5DA04EE2-9081-4743-96D7-651502FE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91CC2C01-1F65-4A5F-8818-1BA1E261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000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nvidia-smi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GPU·드라이버</a:t>
            </a:r>
          </a:p>
        </p:txBody>
      </p:sp>
      <p:sp>
        <p:nvSpPr>
          <p:cNvPr id="7" name="사각형: 둥근 모서리 6">
            <a:extLst xmlns:a="http://schemas.openxmlformats.org/drawingml/2006/main">
              <a:ext uri="{FF2B5EF4-FFF2-40B4-BE49-F238E27FC236}">
                <a16:creationId xmlns:a16="http://schemas.microsoft.com/office/drawing/2014/main" id="{7EC8A842-90B3-42D3-812C-36278F57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52625"/>
            <a:ext cx="2000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7D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Python 3.12.10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가상환경</a:t>
            </a:r>
          </a:p>
        </p:txBody>
      </p:sp>
      <p:sp>
        <p:nvSpPr>
          <p:cNvPr id="8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85FF0314-4530-4279-848A-456AC63E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952625"/>
            <a:ext cx="2000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PyTorch cu126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전용 wheel</a:t>
            </a:r>
          </a:p>
        </p:txBody>
      </p:sp>
      <p:sp>
        <p:nvSpPr>
          <p:cNvPr id="9" name="사각형: 둥근 모서리 8">
            <a:extLst xmlns:a="http://schemas.openxmlformats.org/drawingml/2006/main">
              <a:ext uri="{FF2B5EF4-FFF2-40B4-BE49-F238E27FC236}">
                <a16:creationId xmlns:a16="http://schemas.microsoft.com/office/drawing/2014/main" id="{02ADFEF6-C3E1-4E9F-9561-5D82697D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52625"/>
            <a:ext cx="2000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8F5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CUDA 행렬 연산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PASS</a:t>
            </a:r>
          </a:p>
        </p:txBody>
      </p:sp>
      <p:cxnSp>
        <p:nvCxnSpPr>
          <p:cNvPr id="85" name="직선 화살표 연결선 24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686050" y="24098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86" name="직선 화살표 연결선 25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143500" y="24098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87" name="직선 화살표 연결선 26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600950" y="24098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  <a:tailEnd type="triangle" w="sm" len="sm"/>
          </a:ln>
        </p:spPr>
      </p:cxn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496229EC-A641-4770-BA7D-366CC236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TensorFlow 대신 PyTorch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538C82F4-29F1-4593-B75E-3F9EBE7E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103822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torchvision의 세 모델을 같은 API와 학습 코드로 비교할 수 있다.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체크포인트, Macro-F1, AMP와 중단 재개를 직접 관리했다.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CUDA 사용 가능 시 모델과 배치를 자동으로 GPU에 이동한다.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3B888CE7-9CD2-48E4-A54E-CF5E11FE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실험 GPU: NVIDIA GeForce RTX 4060</a:t>
            </a:r>
          </a:p>
        </p:txBody>
      </p:sp>
    </p:spTree>
    <p:extLst>
      <p:ext uri="{BB962C8B-B14F-4D97-AF65-F5344CB8AC3E}">
        <p14:creationId xmlns:p14="http://schemas.microsoft.com/office/powerpoint/2010/main" val="1352717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0B84B319-A1EB-4966-A4B4-C101A76D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비교 모델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8802263B-4CB3-4287-954B-1D69A7F8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기준선, 경량성, 정확도 효율을 대표하는 구조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E04B2106-BECE-4181-A4BE-173B0369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E209EB79-31A6-4D47-9D44-A7A75BAF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8923C646-2636-4016-B885-B8F18252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16" name="표 13"/>
          <p:cNvGraphicFramePr/>
          <p:nvPr/>
        </p:nvGraphicFramePr>
        <p:xfrm>
          <a:off xmlns:a="http://schemas.openxmlformats.org/drawingml/2006/main" x="609600" y="1733550"/>
          <a:ext xmlns:a="http://schemas.openxmlformats.org/drawingml/2006/main" cx="10972800" cy="314325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3000375"/>
                <a:gridCol w="3238500"/>
                <a:gridCol w="2733675"/>
              </a:tblGrid>
              <a:tr h="785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 / 파라미터</a:t>
                      </a:r>
                    </a:p>
                  </a:txBody>
                  <a:tcPr marL="91440" marR="91440" marT="45720" marB="45720">
                    <a:solidFill>
                      <a:srgbClr val="0B15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구조</a:t>
                      </a:r>
                    </a:p>
                  </a:txBody>
                  <a:tcPr marL="91440" marR="91440" marT="45720" marB="45720">
                    <a:solidFill>
                      <a:srgbClr val="0B15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강점</a:t>
                      </a:r>
                    </a:p>
                  </a:txBody>
                  <a:tcPr marL="91440" marR="91440" marT="45720" marB="45720">
                    <a:solidFill>
                      <a:srgbClr val="0B15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프로젝트 역할</a:t>
                      </a:r>
                    </a:p>
                  </a:txBody>
                  <a:tcPr marL="91440" marR="91440" marT="45720" marB="45720">
                    <a:solidFill>
                      <a:srgbClr val="0B1526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ResNet18</a:t>
                      </a:r>
                    </a:p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11.18M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이전 입력을 더하는</a:t>
                      </a:r>
                    </a:p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잔차 연결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안정적이고 설명이 쉬움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CNN 기준선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MobileNetV2</a:t>
                      </a:r>
                    </a:p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2.23M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채널별 연산 후 결합</a:t>
                      </a:r>
                    </a:p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넓혔다 다시 줄여 연결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파라미터와 연산량이 작음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경량 실행 모델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EfficientNet-B0</a:t>
                      </a:r>
                    </a:p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4.02M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가벼운 합성곱과 채널 강조</a:t>
                      </a:r>
                    </a:p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깊이·너비·해상도 균형 조절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정확도와 효율의 균형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정확도 중심 모델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B436692B-F16D-42A5-9742-1C4EB8DA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149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같은 데이터와 주요 학습 설정으로 세 구조의 성능과 크기를 비교했다.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631926C6-158D-447A-A278-D8D3DFC2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모두 ImageNet 사전학습 가중치 사용</a:t>
            </a:r>
          </a:p>
        </p:txBody>
      </p:sp>
    </p:spTree>
    <p:extLst>
      <p:ext uri="{BB962C8B-B14F-4D97-AF65-F5344CB8AC3E}">
        <p14:creationId xmlns:p14="http://schemas.microsoft.com/office/powerpoint/2010/main" val="16227435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70A78F6F-95C4-4588-834F-C297F926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학습과 평가 설계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1A8AF122-4CB8-46E5-91FD-9C0C0A42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검증 Macro-F1을 기준으로 최고 가중치 저장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221BA7E0-9CDA-45B2-85CB-10C8836B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9D5763FC-15B2-448D-9E00-34A79D0A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6E8287B8-7FCC-4069-9494-DAB5BE8A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7A334CAA-8891-4EBD-984D-807A8363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1809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Training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223,570장</a:t>
            </a:r>
          </a:p>
        </p:txBody>
      </p:sp>
      <p:sp>
        <p:nvSpPr>
          <p:cNvPr id="7" name="사각형: 둥근 모서리 6">
            <a:extLst xmlns:a="http://schemas.openxmlformats.org/drawingml/2006/main">
              <a:ext uri="{FF2B5EF4-FFF2-40B4-BE49-F238E27FC236}">
                <a16:creationId xmlns:a16="http://schemas.microsoft.com/office/drawing/2014/main" id="{1E229C35-5C15-4949-A473-E9DA1BC8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38350"/>
            <a:ext cx="1809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7D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약한 증강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ImageNet 정규화</a:t>
            </a:r>
          </a:p>
        </p:txBody>
      </p:sp>
      <p:sp>
        <p:nvSpPr>
          <p:cNvPr id="8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DE6BDE3B-F664-4399-AAA5-21ACB9FBD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38350"/>
            <a:ext cx="1809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AdamW·AMP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Cosine scheduler</a:t>
            </a:r>
          </a:p>
        </p:txBody>
      </p:sp>
      <p:sp>
        <p:nvSpPr>
          <p:cNvPr id="9" name="사각형: 둥근 모서리 8">
            <a:extLst xmlns:a="http://schemas.openxmlformats.org/drawingml/2006/main">
              <a:ext uri="{FF2B5EF4-FFF2-40B4-BE49-F238E27FC236}">
                <a16:creationId xmlns:a16="http://schemas.microsoft.com/office/drawing/2014/main" id="{D4C2C95F-F146-43FF-8734-4C4B7BFA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38350"/>
            <a:ext cx="1809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F8F5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Validation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52,118장</a:t>
            </a:r>
          </a:p>
        </p:txBody>
      </p:sp>
      <p:sp>
        <p:nvSpPr>
          <p:cNvPr id="10" name="사각형: 둥근 모서리 9">
            <a:extLst xmlns:a="http://schemas.openxmlformats.org/drawingml/2006/main">
              <a:ext uri="{FF2B5EF4-FFF2-40B4-BE49-F238E27FC236}">
                <a16:creationId xmlns:a16="http://schemas.microsoft.com/office/drawing/2014/main" id="{1C6B50C9-0B49-4226-B56A-9EBFCAC8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038350"/>
            <a:ext cx="1809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Macro-F1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best.pt 저장</a:t>
            </a:r>
          </a:p>
        </p:txBody>
      </p:sp>
      <p:cxnSp>
        <p:nvCxnSpPr>
          <p:cNvPr id="97" name="직선 화살표 연결선 26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38400" y="25146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98" name="직선 화살표 연결선 27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724400" y="25146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99" name="직선 화살표 연결선 28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10400" y="25146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100" name="직선 화살표 연결선 29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296400" y="25146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  <a:tailEnd type="triangle" w="sm" len="sm"/>
          </a:ln>
        </p:spPr>
      </p:cxn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3742E92D-40B4-4102-B14B-E8E12D88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공통 설정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74746310-60B2-4AE3-96FE-A615D19E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최대 50 epoch, batch 32, learning rate 0.0003, seed 42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label smoothing 0.1과 weight decay 0.0001로 과적합 완화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검증 Macro-F1이 3회 연속 개선되지 않으면 조기 종료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최고 epoch는 best.pt, 재개 상태는 last.pt에 분리 저장</a:t>
            </a:r>
          </a:p>
        </p:txBody>
      </p:sp>
    </p:spTree>
    <p:extLst>
      <p:ext uri="{BB962C8B-B14F-4D97-AF65-F5344CB8AC3E}">
        <p14:creationId xmlns:p14="http://schemas.microsoft.com/office/powerpoint/2010/main" val="131158561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1BEB6577-5408-40A9-9BC3-445F137A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세 모델의 검증 성능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6C94A07A-BB10-478B-BF6D-90EBF3EE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현재 최고 수치는 EfficientNet-B0, 세 모델은 모두 프로그램에 탑재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FBAD78F2-5C4D-4BC0-AF8D-DD50C55F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45613573-F5C2-4BE1-9AD4-E421EBAD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A236C769-3F4C-4BFA-92FF-5B174811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704850" y="1619250"/>
          <a:ext xmlns:a="http://schemas.openxmlformats.org/drawingml/2006/main" cx="79057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ee5f7e7ee648ea"/>
          </a:graphicData>
        </a:graphic>
      </p:graphicFrame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DF186A23-D41A-4357-AF27-4C8ED4BE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7645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rPr>
              <a:t>0.7400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65FE4156-3721-4695-AFB9-52170BE0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051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Accuracy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DEE6C811-3C00-4ADD-9E1D-7785ED4F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6235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4B8A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14B8A6"/>
                </a:solidFill>
                <a:latin typeface="Malgun Gothic"/>
                <a:ea typeface="Malgun Gothic"/>
                <a:cs typeface="Malgun Gothic"/>
              </a:rPr>
              <a:t>0.7357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DA0C30C9-8BFD-4FB6-ADA2-5A227AFF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910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Macro-F1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E5D89FFD-772F-4DB2-A29C-6DE951C9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0006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EfficientNet-B0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64DA393D-6976-4E6D-807E-05DA7CC7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292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best epoch 15</a:t>
            </a:r>
          </a:p>
        </p:txBody>
      </p:sp>
    </p:spTree>
    <p:extLst>
      <p:ext uri="{BB962C8B-B14F-4D97-AF65-F5344CB8AC3E}">
        <p14:creationId xmlns:p14="http://schemas.microsoft.com/office/powerpoint/2010/main" val="56862671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B3ABF865-F395-4550-847C-386B42F2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감정별 F1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CC3E51EE-7BCE-4871-A2CF-7B327D7A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기쁨·중립은 강하고 불안·상처는 공통 약점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4CE2B66C-9199-49AB-940B-41952068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45D09E57-60D8-465E-ABE1-E7D07228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A0D98CBA-3A37-4E5A-B785-A5840FFD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47700" y="1600200"/>
          <a:ext xmlns:a="http://schemas.openxmlformats.org/drawingml/2006/main" cx="8477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542382712f04457"/>
          </a:graphicData>
        </a:graphic>
      </p:graphicFrame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CB339676-9A8C-4B83-B913-54149E0D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431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rPr>
              <a:t>공통 약점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D1676474-8EF6-45F5-B6F6-02AD3B98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336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불안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EDB5B867-6E86-4330-976E-339BF66F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718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F1 0.56~0.57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EA3880C7-1BD5-45D6-8DF0-B90C2C08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상처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67027350-64D2-42B7-8F19-1B59B4EC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338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F1 0.50~0.54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2BAA5B61-9B55-4AED-82E7-B3C2F3E2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53000"/>
            <a:ext cx="1952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향후 오분류 사례와 라벨 경계를 집중 분석</a:t>
            </a:r>
          </a:p>
        </p:txBody>
      </p:sp>
    </p:spTree>
    <p:extLst>
      <p:ext uri="{BB962C8B-B14F-4D97-AF65-F5344CB8AC3E}">
        <p14:creationId xmlns:p14="http://schemas.microsoft.com/office/powerpoint/2010/main" val="79853427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제목">
            <a:extLst xmlns:a="http://schemas.openxmlformats.org/drawingml/2006/main">
              <a:ext uri="{FF2B5EF4-FFF2-40B4-BE49-F238E27FC236}">
                <a16:creationId xmlns:a16="http://schemas.microsoft.com/office/drawing/2014/main" id="{34E46C51-65A3-4F6C-BE15-5109D19D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불안일까요, 상처일까요?</a:t>
            </a:r>
          </a:p>
        </p:txBody>
      </p:sp>
      <p:sp>
        <p:nvSpPr>
          <p:cNvPr id="2" name="부제">
            <a:extLst xmlns:a="http://schemas.openxmlformats.org/drawingml/2006/main">
              <a:ext uri="{FF2B5EF4-FFF2-40B4-BE49-F238E27FC236}">
                <a16:creationId xmlns:a16="http://schemas.microsoft.com/office/drawing/2014/main" id="{6534349D-494D-438F-B4A3-FCC21EF3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같은 인물의 비슷한 표정도 Validation 라벨은 서로 다르다</a:t>
            </a:r>
          </a:p>
        </p:txBody>
      </p:sp>
      <p:sp>
        <p:nvSpPr>
          <p:cNvPr id="3" name="제목 구분선">
            <a:extLst xmlns:a="http://schemas.openxmlformats.org/drawingml/2006/main">
              <a:ext uri="{FF2B5EF4-FFF2-40B4-BE49-F238E27FC236}">
                <a16:creationId xmlns:a16="http://schemas.microsoft.com/office/drawing/2014/main" id="{FE8F5AA5-7FA6-4998-AFA4-0C1FC1EC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88ab5e6b684ecb"/>
          <a:stretch xmlns:a="http://schemas.openxmlformats.org/drawingml/2006/main"/>
        </p:blipFill>
        <p:spPr>
          <a:xfrm xmlns:a="http://schemas.openxmlformats.org/drawingml/2006/main">
            <a:off x="1409700" y="1428750"/>
            <a:ext cx="3962400" cy="396240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03b83277ad436b"/>
          <a:stretch xmlns:a="http://schemas.openxmlformats.org/drawingml/2006/main"/>
        </p:blipFill>
        <p:spPr>
          <a:xfrm xmlns:a="http://schemas.openxmlformats.org/drawingml/2006/main">
            <a:off x="6819900" y="1428750"/>
            <a:ext cx="3962400" cy="3962400"/>
          </a:xfrm>
          <a:prstGeom xmlns:a="http://schemas.openxmlformats.org/drawingml/2006/main" prst="rect">
            <a:avLst/>
          </a:prstGeom>
        </p:spPr>
      </p:pic>
      <p:sp>
        <p:nvSpPr>
          <p:cNvPr id="6" name="왼쪽 이미지 라벨">
            <a:extLst xmlns:a="http://schemas.openxmlformats.org/drawingml/2006/main">
              <a:ext uri="{FF2B5EF4-FFF2-40B4-BE49-F238E27FC236}">
                <a16:creationId xmlns:a16="http://schemas.microsoft.com/office/drawing/2014/main" id="{FACBCD66-152F-421A-A50D-CFD7204B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381625"/>
            <a:ext cx="396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A  데이터 라벨: 상처</a:t>
            </a:r>
          </a:p>
        </p:txBody>
      </p:sp>
      <p:sp>
        <p:nvSpPr>
          <p:cNvPr id="7" name="오른쪽 이미지 라벨">
            <a:extLst xmlns:a="http://schemas.openxmlformats.org/drawingml/2006/main">
              <a:ext uri="{FF2B5EF4-FFF2-40B4-BE49-F238E27FC236}">
                <a16:creationId xmlns:a16="http://schemas.microsoft.com/office/drawing/2014/main" id="{3F85624F-21D3-4EF0-935E-B812D4CB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381625"/>
            <a:ext cx="396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B  데이터 라벨: 불안</a:t>
            </a:r>
          </a:p>
        </p:txBody>
      </p:sp>
      <p:sp>
        <p:nvSpPr>
          <p:cNvPr id="8" name="핵심 메시지">
            <a:extLst xmlns:a="http://schemas.openxmlformats.org/drawingml/2006/main">
              <a:ext uri="{FF2B5EF4-FFF2-40B4-BE49-F238E27FC236}">
                <a16:creationId xmlns:a16="http://schemas.microsoft.com/office/drawing/2014/main" id="{FE927C0A-0595-430A-A302-E4EB1231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53100"/>
            <a:ext cx="10439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표정 차이가 작아 사람도 경계를 판단하기 어렵다.</a:t>
            </a:r>
          </a:p>
          <a:p xmlns:a="http://schemas.openxmlformats.org/drawingml/2006/main">
            <a:pPr algn="ctr">
              <a:defRPr sz="1350" b="1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모델의 낮은 F1에는 라벨 경계와 데이터 품질도 영향을 줄 수 있다.</a:t>
            </a:r>
          </a:p>
        </p:txBody>
      </p:sp>
      <p:sp>
        <p:nvSpPr>
          <p:cNvPr id="9" name="푸터">
            <a:extLst xmlns:a="http://schemas.openxmlformats.org/drawingml/2006/main">
              <a:ext uri="{FF2B5EF4-FFF2-40B4-BE49-F238E27FC236}">
                <a16:creationId xmlns:a16="http://schemas.microsoft.com/office/drawing/2014/main" id="{A24AA855-DCDF-4F97-83BD-0B7154B7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10" name="페이지 번호">
            <a:extLst xmlns:a="http://schemas.openxmlformats.org/drawingml/2006/main">
              <a:ext uri="{FF2B5EF4-FFF2-40B4-BE49-F238E27FC236}">
                <a16:creationId xmlns:a16="http://schemas.microsoft.com/office/drawing/2014/main" id="{239095BB-8180-4488-AFB1-7A84DAFC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3527171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45FBB835-6EE2-480E-B845-7998055E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학습 결과 분석 예시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68B80552-00E5-440A-B5C5-0B8D014E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EfficientNet-B0의 학습곡선과 혼동행렬을 예시로 확인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10FA11AB-247B-4CAD-95B8-BE969F49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D05AADEA-524A-4FCF-A4DD-38ED99DD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6E3BEF87-EF9D-435E-A1B3-0A041518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pic>
        <p:nvPicPr>
          <p:cNvPr id="17" name="그림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2f8ac3e7254188"/>
          <a:stretch xmlns:a="http://schemas.openxmlformats.org/drawingml/2006/main"/>
        </p:blipFill>
        <p:spPr>
          <a:xfrm xmlns:a="http://schemas.openxmlformats.org/drawingml/2006/main">
            <a:off x="552450" y="1569245"/>
            <a:ext cx="6858000" cy="4195760"/>
          </a:xfrm>
          <a:prstGeom xmlns:a="http://schemas.openxmlformats.org/drawingml/2006/main" prst="rect">
            <a:avLst/>
          </a:prstGeom>
        </p:spPr>
      </p:pic>
      <p:pic>
        <p:nvPicPr>
          <p:cNvPr id="18" name="그림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ec72e5fce04361"/>
          <a:stretch xmlns:a="http://schemas.openxmlformats.org/drawingml/2006/main"/>
        </p:blipFill>
        <p:spPr>
          <a:xfrm xmlns:a="http://schemas.openxmlformats.org/drawingml/2006/main">
            <a:off x="7620000" y="1891433"/>
            <a:ext cx="3905250" cy="3551384"/>
          </a:xfrm>
          <a:prstGeom xmlns:a="http://schemas.openxmlformats.org/drawingml/2006/main" prst="rect">
            <a:avLst/>
          </a:prstGeom>
        </p:spPr>
      </p:pic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A064CAEA-A4A2-480B-BBCF-8F6FFE73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483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학습 정확도는 계속 상승했지만 검증 성능은 약 0.74 부근에서 정체</a:t>
            </a:r>
          </a:p>
        </p:txBody>
      </p:sp>
    </p:spTree>
    <p:extLst>
      <p:ext uri="{BB962C8B-B14F-4D97-AF65-F5344CB8AC3E}">
        <p14:creationId xmlns:p14="http://schemas.microsoft.com/office/powerpoint/2010/main" val="16754587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8A0B734E-3F52-44EA-858E-22A5AF49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세 모델 체크포인트와 팀 전달 파일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E6F4A826-33B6-4AA1-8CE1-E2E80599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웹캠 프로그램은 세 모델의 best.pt를 모두 사용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E76DB4BB-46D6-4BD1-9A13-6C403F06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4185E663-EA90-42B6-BDF5-E56B81BF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C23B4686-D0F0-460D-8C01-1D674DA0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DA73798E-7D87-4464-80DF-2A2FE7A2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75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rPr>
              <a:t>3개 모델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B1EF58CC-A7E1-405C-BA00-F5E3456F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ResNet18    MobileNetV2    EfficientNet-B0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EB0BA8CC-EFB3-448B-A140-0277E4AA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모델 경로</a:t>
            </a:r>
          </a:p>
        </p:txBody>
      </p:sp>
      <p:sp>
        <p:nvSpPr>
          <p:cNvPr id="9" name="사각형: 둥근 모서리 8">
            <a:extLst xmlns:a="http://schemas.openxmlformats.org/drawingml/2006/main">
              <a:ext uri="{FF2B5EF4-FFF2-40B4-BE49-F238E27FC236}">
                <a16:creationId xmlns:a16="http://schemas.microsoft.com/office/drawing/2014/main" id="{2058FE6D-034E-41FC-8C45-BA465C0C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8667750" cy="11049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B1526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ResNet18  models/.../best.pt
MobileNetV2  models/.../best.pt</a:t>
            </a:r>
          </a:p>
          <a:p xmlns:a="http://schemas.openxmlformats.org/drawingml/2006/main">
            <a:pPr algn="l">
              <a:buNone/>
              <a:defRPr sz="187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EfficientNet-B0  models/.../best.pt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F1522130-17C7-456F-AFA3-DA33F66B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90700"/>
            <a:ext cx="3810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01600">
              <a:spcAft>
                <a:spcPts val="700"/>
              </a:spcAft>
              <a:buChar char="•"/>
              <a:defRPr sz="157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모델 이름과 가중치</a:t>
            </a:r>
          </a:p>
          <a:p xmlns:a="http://schemas.openxmlformats.org/drawingml/2006/main">
            <a:pPr marL="228600" indent="-101600">
              <a:spcAft>
                <a:spcPts val="700"/>
              </a:spcAft>
              <a:buChar char="•"/>
              <a:defRPr sz="157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7개 클래스 순서</a:t>
            </a:r>
          </a:p>
          <a:p xmlns:a="http://schemas.openxmlformats.org/drawingml/2006/main">
            <a:pPr marL="228600" indent="-101600">
              <a:spcAft>
                <a:spcPts val="700"/>
              </a:spcAft>
              <a:buChar char="•"/>
              <a:defRPr sz="157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입력 크기와 정규화 값</a:t>
            </a:r>
          </a:p>
          <a:p xmlns:a="http://schemas.openxmlformats.org/drawingml/2006/main">
            <a:pPr marL="228600" indent="-101600">
              <a:spcAft>
                <a:spcPts val="700"/>
              </a:spcAft>
              <a:buChar char="•"/>
              <a:defRPr sz="157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최고 검증 지표와 실행 환경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A2866CDC-2443-424B-B031-74AB60AC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rPr>
              <a:t>last.pt는 학습 재개용이며 프로그램은 세 모델의 best.pt를 사용한다.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477A4D66-4D12-4623-890E-8F5A0F80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483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세 모델의 best.pt를 Git LFS 또는 팀 공유 폴더로 전달</a:t>
            </a:r>
          </a:p>
        </p:txBody>
      </p:sp>
    </p:spTree>
    <p:extLst>
      <p:ext uri="{BB962C8B-B14F-4D97-AF65-F5344CB8AC3E}">
        <p14:creationId xmlns:p14="http://schemas.microsoft.com/office/powerpoint/2010/main" val="20199893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337A7044-875B-405B-9468-5A5C1FC0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현재 결과의 한계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96238EDC-C734-41BC-B0C8-E43EAC41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배포 전 일반화와 실시간 성능을 추가 검증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DF2C06E0-C9D8-4393-8842-A1F2DFB2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206BF82A-2981-4155-B397-BC5FBFAA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5BB6C15C-98EF-4673-814B-C9329810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B5B32EC8-0134-4BBF-ACA6-7F3FA2C6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335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D94D4D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 i="0">
                <a:solidFill>
                  <a:srgbClr val="D94D4D"/>
                </a:solidFill>
                <a:latin typeface="Malgun Gothic"/>
                <a:ea typeface="Malgun Gothic"/>
                <a:cs typeface="Malgun Gothic"/>
              </a:rPr>
              <a:t>확인된 한계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F4E2336F-A41E-473D-9590-B45CE8CE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335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258C6B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 i="0">
                <a:solidFill>
                  <a:srgbClr val="258C6B"/>
                </a:solidFill>
                <a:latin typeface="Malgun Gothic"/>
                <a:ea typeface="Malgun Gothic"/>
                <a:cs typeface="Malgun Gothic"/>
              </a:rPr>
              <a:t>추가 검증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D98D82D4-3456-4C20-8FC0-3CF5C101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같은 인물의 유사 이미지가 두 분할에 포함될 가능성</a:t>
            </a:r>
          </a:p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시간 제약으로 Training 4개 파트 중 2개만 사용</a:t>
            </a:r>
          </a:p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흑백 입력과 RGB 입력의 직접 비교 부재</a:t>
            </a:r>
          </a:p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MobileNetV2만 PyTorch 2.14, 나머지는 2.13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18F0D364-E6AE-44DC-9A21-AFB3CCC0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812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인물·촬영 세션 기준 group split 실험</a:t>
            </a:r>
          </a:p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사용한 2개 파트와 제외 범위를 명확히 보고</a:t>
            </a:r>
          </a:p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RGB ablation test</a:t>
            </a:r>
          </a:p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동일 PyTorch lock에서 세 모델 재현</a:t>
            </a:r>
          </a:p>
        </p:txBody>
      </p:sp>
      <p:sp>
        <p:nvSpPr>
          <p:cNvPr id="10" name="직선 연결선 9">
            <a:extLst xmlns:a="http://schemas.openxmlformats.org/drawingml/2006/main">
              <a:ext uri="{FF2B5EF4-FFF2-40B4-BE49-F238E27FC236}">
                <a16:creationId xmlns:a16="http://schemas.microsoft.com/office/drawing/2014/main" id="{D34D44D8-AC29-4A97-9EC6-47DEC85D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752600"/>
            <a:ext cx="0" cy="34099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F66877F3-B2D7-4883-9BE7-AB618F8B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81625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rPr>
              <a:t>현재 수치는 제공 Validation 기준이다. 완전히 새로운 사용자의 성능을 보장하지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22339075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000D5885-57A7-4213-A1F5-C2D9657D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웹캠 프로그램 구조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2AA47B5E-1201-4926-9BBA-E7E07634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세 모델 선택 실행과 비교 실행에 같은 전처리를 적용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B46FC623-6957-4C12-9971-8E206063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81DA1895-54BE-45A3-BD5C-E5A5EE94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7FD30565-27A9-407A-81A9-51C98F11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E3987A02-3568-42A6-9C98-AC289969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1619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웹캠 프레임</a:t>
            </a:r>
          </a:p>
        </p:txBody>
      </p:sp>
      <p:sp>
        <p:nvSpPr>
          <p:cNvPr id="7" name="사각형: 둥근 모서리 6">
            <a:extLst xmlns:a="http://schemas.openxmlformats.org/drawingml/2006/main">
              <a:ext uri="{FF2B5EF4-FFF2-40B4-BE49-F238E27FC236}">
                <a16:creationId xmlns:a16="http://schemas.microsoft.com/office/drawing/2014/main" id="{B72A6B94-E2D2-43C6-A4BA-226311B6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76450"/>
            <a:ext cx="1809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7D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얼굴 검출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ROI 자르기</a:t>
            </a:r>
          </a:p>
        </p:txBody>
      </p:sp>
      <p:sp>
        <p:nvSpPr>
          <p:cNvPr id="8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5C31AC8B-BF6B-43F3-86F8-E73638CC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076450"/>
            <a:ext cx="2000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흑백·비율 유지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224×224 패딩</a:t>
            </a:r>
          </a:p>
        </p:txBody>
      </p:sp>
      <p:sp>
        <p:nvSpPr>
          <p:cNvPr id="9" name="사각형: 둥근 모서리 8">
            <a:extLst xmlns:a="http://schemas.openxmlformats.org/drawingml/2006/main">
              <a:ext uri="{FF2B5EF4-FFF2-40B4-BE49-F238E27FC236}">
                <a16:creationId xmlns:a16="http://schemas.microsoft.com/office/drawing/2014/main" id="{C2D3E1CE-8EC1-4BE4-8B50-476310FB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76450"/>
            <a:ext cx="1809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8F8F5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모델 선택·비교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3개 best.pt</a:t>
            </a:r>
          </a:p>
        </p:txBody>
      </p:sp>
      <p:sp>
        <p:nvSpPr>
          <p:cNvPr id="10" name="사각형: 둥근 모서리 9">
            <a:extLst xmlns:a="http://schemas.openxmlformats.org/drawingml/2006/main">
              <a:ext uri="{FF2B5EF4-FFF2-40B4-BE49-F238E27FC236}">
                <a16:creationId xmlns:a16="http://schemas.microsoft.com/office/drawing/2014/main" id="{1654BA85-C2F3-4A2F-8111-55B500E4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76450"/>
            <a:ext cx="1809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감정·확률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화면 표시</a:t>
            </a:r>
          </a:p>
        </p:txBody>
      </p:sp>
      <p:cxnSp>
        <p:nvCxnSpPr>
          <p:cNvPr id="97" name="직선 화살표 연결선 26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171700" y="248602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98" name="직선 화살표 연결선 27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381500" y="248602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99" name="직선 화살표 연결선 28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781800" y="248602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100" name="직선 화살표 연결선 29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991600" y="248602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  <a:tailEnd type="triangle" w="sm" len="sm"/>
          </a:ln>
        </p:spPr>
      </p:cxn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B3743750-09F0-4470-8D0C-F9ACBAFE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14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프로그램 구현 기준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768934CB-8368-456A-85D6-20267580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체크포인트의 class_names 순서를 그대로 사용한다.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ImageNet 평균·표준편차와 RGB 채널 복제를 학습 코드와 동일하게 적용한다.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일반 모드는 선택한 모델만 실행하고 비교 모드는 세 모델 결과를 함께 표시한다.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모델별 감정·신뢰도와 FPS, 평균 지연 시간, GPU·CPU 사용량을 기록한다.</a:t>
            </a:r>
          </a:p>
        </p:txBody>
      </p:sp>
    </p:spTree>
    <p:extLst>
      <p:ext uri="{BB962C8B-B14F-4D97-AF65-F5344CB8AC3E}">
        <p14:creationId xmlns:p14="http://schemas.microsoft.com/office/powerpoint/2010/main" val="76893256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3FF90BB8-A150-4EE4-9E33-C4752B2E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세 모델 웹캠 비교 결과 추가 페이지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BB598B41-3811-4C64-8BCB-763C6162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프로그램 구현 후 모델별 화면과 실시간 수치로 교체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95E5F972-2129-4523-931D-CCBF1BBF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F3B0EC52-72FF-48E4-9D15-1C923928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84CB404B-7159-425A-B0AE-B2793280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ED7727D8-FCC9-48BF-AE1D-C879F9A7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6762750" cy="3714750"/>
          </a:xfrm>
          <a:prstGeom xmlns:a="http://schemas.openxmlformats.org/drawingml/2006/main" prst="roundRect">
            <a:avLst>
              <a:gd name="adj" fmla="val 3590"/>
            </a:avLst>
          </a:prstGeom>
          <a:solidFill xmlns:a="http://schemas.openxmlformats.org/drawingml/2006/main">
            <a:srgbClr val="E9EDF2"/>
          </a:solidFill>
          <a:ln xmlns:a="http://schemas.openxmlformats.org/drawingml/2006/main" w="19050">
            <a:solidFill>
              <a:srgbClr val="607086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세 모델 선택 UI와 예측 결과 화면</a:t>
            </a:r>
          </a:p>
          <a:p xmlns:a="http://schemas.openxmlformats.org/drawingml/2006/main">
            <a:endParaRPr sz="1950" b="1">
              <a:solidFill>
                <a:srgbClr val="607086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algn="ctr">
              <a:buNone/>
              <a:defRPr sz="1950" b="1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감정명·신뢰도와 모델 이름이 보이는 장면으로 교체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D24FF937-CBC7-4268-947D-7AADF4CB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14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모델별 기록 영역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BBE27A28-A2F8-481D-9BD7-3CFC244A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669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rPr>
              <a:t>미측정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AF7C6538-A7BD-4A55-8DEA-3892B8B9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956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ResNet18 FPS·지연 시간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4914413C-087A-4363-B60A-BFDEB28E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861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4B8A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14B8A6"/>
                </a:solidFill>
                <a:latin typeface="Malgun Gothic"/>
                <a:ea typeface="Malgun Gothic"/>
                <a:cs typeface="Malgun Gothic"/>
              </a:rPr>
              <a:t>미측정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9B540788-F77C-4123-A380-B7CEBFFA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148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MobileNetV2 FPS·지연 시간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AD58B884-60D7-4EA7-AD59-5F2ADD32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053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rPr>
              <a:t>미측정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EAB10C42-1E93-448F-A214-83E39450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3340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EfficientNet-B0 FPS·지연 시간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CC2BB2DF-400B-4080-9E9C-1EB8F841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959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비교 항목: 세 모델의 감정 예측, 신뢰도, FPS와 지연 시간</a:t>
            </a:r>
          </a:p>
        </p:txBody>
      </p:sp>
    </p:spTree>
    <p:extLst>
      <p:ext uri="{BB962C8B-B14F-4D97-AF65-F5344CB8AC3E}">
        <p14:creationId xmlns:p14="http://schemas.microsoft.com/office/powerpoint/2010/main" val="17348714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2026-09-15T06:00:16.3450000Z</dcterms:created>
  <dcterms:modified xsi:type="dcterms:W3CDTF">2026-09-15T06:00:16.3450000Z</dcterms:modified>
</coreProperties>
</file>