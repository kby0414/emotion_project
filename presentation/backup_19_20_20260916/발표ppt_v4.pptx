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전체 비율</c:v>
          </c:tx>
          <c:spPr>
            <a:solidFill>
              <a:srgbClr val="4666E8"/>
            </a:solidFill>
          </c:spPr>
          <c:invertIfNegative val="1"/>
          <c:dLbls>
            <c:spPr>
              <a:noFill/>
              <a:ln>
                <a:noFill/>
              </a:ln>
            </c:spPr>
            <c:txPr>
              <a:bodyPr anchorCtr="1"/>
              <a:lstStyle/>
              <a:p>
                <a:pPr>
                  <a:defRPr sz="1050" b="1">
                    <a:solidFill>
                      <a:srgbClr val="0F172A"/>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7"/>
              <c:pt idx="0">
                <c:v>기쁨</c:v>
              </c:pt>
              <c:pt idx="1">
                <c:v>당황</c:v>
              </c:pt>
              <c:pt idx="2">
                <c:v>분노</c:v>
              </c:pt>
              <c:pt idx="3">
                <c:v>불안</c:v>
              </c:pt>
              <c:pt idx="4">
                <c:v>상처</c:v>
              </c:pt>
              <c:pt idx="5">
                <c:v>슬픔</c:v>
              </c:pt>
              <c:pt idx="6">
                <c:v>중립</c:v>
              </c:pt>
            </c:strLit>
          </c:cat>
          <c:val>
            <c:numLit>
              <c:formatCode>0.0000</c:formatCode>
              <c:ptCount val="7"/>
              <c:pt idx="0">
                <c:v>0.14319999999999999</c:v>
              </c:pt>
              <c:pt idx="1">
                <c:v>0.1434</c:v>
              </c:pt>
              <c:pt idx="2">
                <c:v>0.14349999999999999</c:v>
              </c:pt>
              <c:pt idx="3">
                <c:v>0.1431</c:v>
              </c:pt>
              <c:pt idx="4">
                <c:v>0.14130000000000001</c:v>
              </c:pt>
              <c:pt idx="5">
                <c:v>0.14199999999999999</c:v>
              </c:pt>
              <c:pt idx="6">
                <c:v>0.1434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C2F-4500-857B-6AF80410B077}"/>
            </c:ext>
          </c:extLst>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CBD5E1"/>
            </a:solidFill>
          </a:ln>
        </c:spPr>
        <c:txPr>
          <a:bodyPr anchorCtr="1"/>
          <a:lstStyle/>
          <a:p>
            <a:pPr>
              <a:defRPr sz="1350">
                <a:solidFill>
                  <a:srgbClr val="334155"/>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14599999999999999"/>
          <c:min val="0.13800000000000001"/>
        </c:scaling>
        <c:delete val="0"/>
        <c:axPos val="l"/>
        <c:majorGridlines>
          <c:spPr>
            <a:ln w="9525">
              <a:solidFill>
                <a:srgbClr val="DCE3EB"/>
              </a:solidFill>
            </a:ln>
          </c:spPr>
        </c:majorGridlines>
        <c:numFmt formatCode="0.0000" sourceLinked="1"/>
        <c:majorTickMark val="none"/>
        <c:minorTickMark val="none"/>
        <c:tickLblPos val="nextTo"/>
        <c:spPr>
          <a:ln w="9525">
            <a:solidFill>
              <a:srgbClr val="CBD5E1"/>
            </a:solidFill>
          </a:ln>
        </c:spPr>
        <c:txPr>
          <a:bodyPr anchorCtr="1"/>
          <a:lstStyle/>
          <a:p>
            <a:pPr>
              <a:defRPr sz="1050">
                <a:solidFill>
                  <a:srgbClr val="64748B"/>
                </a:solidFill>
                <a:latin typeface="Malgun Gothic"/>
                <a:ea typeface="Malgun Gothic"/>
                <a:cs typeface="Malgun Gothic"/>
              </a:defRPr>
            </a:pPr>
            <a:endParaRPr lang="ko-KR"/>
          </a:p>
        </c:txPr>
        <c:crossAx val="48650112"/>
        <c:crosses val="autoZero"/>
        <c:crossBetween val="between"/>
        <c:majorUnit val="2E-3"/>
      </c:valAx>
      <c:spPr>
        <a:ln w="0">
          <a:noFill/>
        </a:ln>
      </c:spPr>
    </c:plotArea>
    <c:plotVisOnly val="1"/>
    <c:dispBlanksAs val="zero"/>
    <c:showDLblsOverMax val="1"/>
  </c:chart>
  <c:spPr>
    <a:ln w="0">
      <a:noFill/>
    </a:ln>
  </c:spPr>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Accuracy</c:v>
          </c:tx>
          <c:spPr>
            <a:solidFill>
              <a:srgbClr val="4263EB"/>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0.73995549999999999</c:v>
              </c:pt>
              <c:pt idx="1">
                <c:v>0.73091830000000002</c:v>
              </c:pt>
              <c:pt idx="2">
                <c:v>0.72752220000000001</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0B80-459E-A053-820B704D5D59}"/>
            </c:ext>
          </c:extLst>
        </c:ser>
        <c:ser>
          <c:idx val="1"/>
          <c:order val="1"/>
          <c:tx>
            <c:v>Macro-F1</c:v>
          </c:tx>
          <c:spPr>
            <a:solidFill>
              <a:srgbClr val="14B8A6"/>
            </a:solidFill>
          </c:spPr>
          <c:invertIfNegative val="1"/>
          <c:dLbls>
            <c:spPr>
              <a:noFill/>
              <a:ln>
                <a:noFill/>
              </a:ln>
            </c:spPr>
            <c:txPr>
              <a:bodyPr anchorCtr="1"/>
              <a:lstStyle/>
              <a:p>
                <a:pPr>
                  <a:defRPr sz="1125" b="1">
                    <a:solidFill>
                      <a:srgbClr val="122033"/>
                    </a:solidFill>
                    <a:latin typeface="Malgun Gothic"/>
                    <a:ea typeface="Malgun Gothic"/>
                    <a:cs typeface="Malgun Gothic"/>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Lit>
              <c:ptCount val="3"/>
              <c:pt idx="0">
                <c:v>EfficientNet-B0</c:v>
              </c:pt>
              <c:pt idx="1">
                <c:v>MobileNetV2</c:v>
              </c:pt>
              <c:pt idx="2">
                <c:v>ResNet18</c:v>
              </c:pt>
            </c:strLit>
          </c:cat>
          <c:val>
            <c:numLit>
              <c:formatCode>0.0%</c:formatCode>
              <c:ptCount val="3"/>
              <c:pt idx="0">
                <c:v>0.7357475</c:v>
              </c:pt>
              <c:pt idx="1">
                <c:v>0.72957680000000003</c:v>
              </c:pt>
              <c:pt idx="2">
                <c:v>0.72533729999999996</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0B80-459E-A053-820B704D5D59}"/>
            </c:ext>
          </c:extLst>
        </c:ser>
        <c:dLbls>
          <c:dLblPos val="outEnd"/>
          <c:showLegendKey val="0"/>
          <c:showVal val="1"/>
          <c:showCatName val="0"/>
          <c:showSerName val="0"/>
          <c:showPercent val="0"/>
          <c:showBubbleSize val="0"/>
        </c:dLbls>
        <c:gapWidth val="65"/>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0.75"/>
          <c:min val="0.7"/>
        </c:scaling>
        <c:delete val="0"/>
        <c:axPos val="l"/>
        <c:majorGridlines>
          <c:spPr>
            <a:ln w="9525">
              <a:solidFill>
                <a:srgbClr val="D9E0E8"/>
              </a:solidFill>
              <a:prstDash val="solid"/>
            </a:ln>
          </c:spPr>
        </c:majorGridlines>
        <c:numFmt formatCode="0.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01"/>
      </c:valAx>
      <c:spPr>
        <a:noFill/>
      </c:spPr>
    </c:plotArea>
    <c:legend>
      <c:legendPos val="b"/>
      <c:overlay val="0"/>
      <c:txPr>
        <a:bodyPr anchorCtr="1"/>
        <a:lstStyle/>
        <a:p>
          <a:pPr>
            <a:defRPr sz="1275">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EfficientNet-B0</c:v>
          </c:tx>
          <c:spPr>
            <a:solidFill>
              <a:srgbClr val="4263EB"/>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0.77</c:v>
              </c:pt>
              <c:pt idx="2">
                <c:v>0.77</c:v>
              </c:pt>
              <c:pt idx="3">
                <c:v>0.56999999999999995</c:v>
              </c:pt>
              <c:pt idx="4">
                <c:v>0.54</c:v>
              </c:pt>
              <c:pt idx="5">
                <c:v>0.72</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502-4637-AAED-5D6CB40327DC}"/>
            </c:ext>
          </c:extLst>
        </c:ser>
        <c:ser>
          <c:idx val="1"/>
          <c:order val="1"/>
          <c:tx>
            <c:v>MobileNetV2</c:v>
          </c:tx>
          <c:spPr>
            <a:solidFill>
              <a:srgbClr val="14B8A6"/>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0.56000000000000005</c:v>
              </c:pt>
              <c:pt idx="4">
                <c:v>0.53</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1502-4637-AAED-5D6CB40327DC}"/>
            </c:ext>
          </c:extLst>
        </c:ser>
        <c:ser>
          <c:idx val="2"/>
          <c:order val="2"/>
          <c:tx>
            <c:v>ResNet18</c:v>
          </c:tx>
          <c:spPr>
            <a:solidFill>
              <a:srgbClr val="F4B740"/>
            </a:solidFill>
          </c:spPr>
          <c:invertIfNegative val="1"/>
          <c:cat>
            <c:strLit>
              <c:ptCount val="7"/>
              <c:pt idx="0">
                <c:v>기쁨</c:v>
              </c:pt>
              <c:pt idx="1">
                <c:v>당황</c:v>
              </c:pt>
              <c:pt idx="2">
                <c:v>분노</c:v>
              </c:pt>
              <c:pt idx="3">
                <c:v>불안</c:v>
              </c:pt>
              <c:pt idx="4">
                <c:v>상처</c:v>
              </c:pt>
              <c:pt idx="5">
                <c:v>슬픔</c:v>
              </c:pt>
              <c:pt idx="6">
                <c:v>중립</c:v>
              </c:pt>
            </c:strLit>
          </c:cat>
          <c:val>
            <c:numLit>
              <c:formatCode>0%</c:formatCode>
              <c:ptCount val="7"/>
              <c:pt idx="0">
                <c:v>0.95</c:v>
              </c:pt>
              <c:pt idx="1">
                <c:v>0.76</c:v>
              </c:pt>
              <c:pt idx="2">
                <c:v>0.76</c:v>
              </c:pt>
              <c:pt idx="3">
                <c:v>0.56999999999999995</c:v>
              </c:pt>
              <c:pt idx="4">
                <c:v>0.5</c:v>
              </c:pt>
              <c:pt idx="5">
                <c:v>0.71</c:v>
              </c:pt>
              <c:pt idx="6">
                <c:v>0.83</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1502-4637-AAED-5D6CB40327DC}"/>
            </c:ext>
          </c:extLst>
        </c:ser>
        <c:dLbls>
          <c:showLegendKey val="0"/>
          <c:showVal val="0"/>
          <c:showCatName val="0"/>
          <c:showSerName val="0"/>
          <c:showPercent val="0"/>
          <c:showBubbleSize val="0"/>
        </c:dLbls>
        <c:gapWidth val="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9E0E8"/>
            </a:solidFill>
            <a:prstDash val="solid"/>
          </a:ln>
        </c:spPr>
        <c:txPr>
          <a:bodyPr anchorCtr="1"/>
          <a:lstStyle/>
          <a:p>
            <a:pPr>
              <a:defRPr sz="1125">
                <a:solidFill>
                  <a:srgbClr val="122033"/>
                </a:solidFill>
                <a:latin typeface="Malgun Gothic"/>
                <a:ea typeface="Malgun Gothic"/>
                <a:cs typeface="Malgun Gothic"/>
              </a:defRPr>
            </a:pPr>
            <a:endParaRPr lang="ko-KR"/>
          </a:p>
        </c:txPr>
        <c:crossAx val="48672768"/>
        <c:crosses val="autoZero"/>
        <c:auto val="1"/>
        <c:lblAlgn val="ctr"/>
        <c:lblOffset val="100"/>
        <c:noMultiLvlLbl val="1"/>
      </c:catAx>
      <c:valAx>
        <c:axId val="48672768"/>
        <c:scaling>
          <c:orientation val="minMax"/>
          <c:max val="1"/>
          <c:min val="0.4"/>
        </c:scaling>
        <c:delete val="0"/>
        <c:axPos val="l"/>
        <c:majorGridlines>
          <c:spPr>
            <a:ln w="9525">
              <a:solidFill>
                <a:srgbClr val="D9E0E8"/>
              </a:solidFill>
              <a:prstDash val="solid"/>
            </a:ln>
          </c:spPr>
        </c:majorGridlines>
        <c:numFmt formatCode="0%" sourceLinked="1"/>
        <c:majorTickMark val="none"/>
        <c:minorTickMark val="none"/>
        <c:tickLblPos val="nextTo"/>
        <c:spPr>
          <a:ln w="9525">
            <a:solidFill>
              <a:srgbClr val="D4D4D4"/>
            </a:solidFill>
            <a:prstDash val="solid"/>
          </a:ln>
        </c:spPr>
        <c:txPr>
          <a:bodyPr anchorCtr="1"/>
          <a:lstStyle/>
          <a:p>
            <a:pPr>
              <a:defRPr sz="1125">
                <a:solidFill>
                  <a:srgbClr val="607086"/>
                </a:solidFill>
                <a:latin typeface="Malgun Gothic"/>
                <a:ea typeface="Malgun Gothic"/>
                <a:cs typeface="Malgun Gothic"/>
              </a:defRPr>
            </a:pPr>
            <a:endParaRPr lang="ko-KR"/>
          </a:p>
        </c:txPr>
        <c:crossAx val="48650112"/>
        <c:crosses val="autoZero"/>
        <c:crossBetween val="between"/>
        <c:majorUnit val="0.1"/>
      </c:valAx>
      <c:spPr>
        <a:noFill/>
      </c:spPr>
    </c:plotArea>
    <c:legend>
      <c:legendPos val="b"/>
      <c:overlay val="0"/>
      <c:txPr>
        <a:bodyPr anchorCtr="1"/>
        <a:lstStyle/>
        <a:p>
          <a:pPr>
            <a:defRPr sz="1200">
              <a:solidFill>
                <a:srgbClr val="122033"/>
              </a:solidFill>
              <a:latin typeface="Malgun Gothic"/>
              <a:ea typeface="Malgun Gothic"/>
              <a:cs typeface="Malgun Gothic"/>
            </a:defRPr>
          </a:pPr>
          <a:endParaRPr lang="ko-KR"/>
        </a:p>
      </c:txPr>
    </c:legend>
    <c:plotVisOnly val="1"/>
    <c:dispBlanksAs val="zero"/>
    <c:showDLblsOverMax val="1"/>
  </c:chart>
  <c:spPr>
    <a:noFill/>
    <a:ln w="0">
      <a:noFill/>
    </a:ln>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팀명 ‘김정오’는 김범영, 정준영, 오석의 이름에서 한 글자씩 따서 만들었습니다. 조선의 지리학자 김정호를 떠올리게 해 기억하기 쉽다는 점도 고려했습니다.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이번 발표에서는 데이터 준비와 세 모델 학습·평가에 이어, 전달받은 OpenCV 기반 Jetson 실시간 감정 인식 앱의 처리 구조와 최적화 방법을 설명합니다.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오석 팀원은 OpenCV 기반 웹캠 실시간 프로그램 구현을 맡았습니다. 정준영 팀원은 주제 선정, 데이터셋 조사와 수집, 전처리를 진행했습니다. 김범영 팀원은 전처리 보조, 비교 모델 선정, PPT 제작과 발표를 맡았습니다.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모델 비교와 저장 이후, 전달받은 Jetson 앱 소스 분석 문서를 바탕으로 실시간 얼굴 탐지·추적·추론·표시 단계를 정리했습니다. 문서는 설계와 목표 설정을 설명한 자료이며 실제 성능 측정 로그로 해석하지 않습니다.</a:t>
            </a:r>
          </a:p>
          <a:p>
            <a:endParaRPr/>
          </a:p>
          <a:p>
            <a:r>
              <a:t>자료: 젯슨 감정인식 모델 프로그램 요약_260915.pdf, pp. 1–2;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가장 많은 분노와 가장 적은 상처의 차이는 620장입니다. 데이터 수만 보면 클래스 불균형이 매우 작습니다.</a:t>
            </a:r>
          </a:p>
          <a:p>
            <a:endParaRPr/>
          </a:p>
          <a:p>
            <a:r>
              <a:t>근거: results/preprocessing_eda_report.md, 4.1 클래스 분포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Training 라벨 193,589건에 대응 JPG가 없는 이유는 시간 제약에 따라 감정별 4개 파트 중 2개만 사용했기 때문입니다. 전처리 실패가 아닙니다. 한 사람이 여러 장의 유사한 이미지를 제공하므로, 공통 식별자 528개가 동일 인물이나 촬영 세션을 뜻한다면 현재 Validation 성능이 높게 측정됐을 수 있습니다.</a:t>
            </a:r>
          </a:p>
          <a:p>
            <a:endParaRPr/>
          </a:p>
          <a:p>
            <a:r>
              <a:t>근거: results/preprocessing_eda_report.md, 3장과 4.4장</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244가 아니라 224를 선택한 이유, 강제 resize 대신 패딩한 이유, 흑백 선택의 장단점을 질문받을 수 있습니다. 표의 이유와 한계를 함께 설명합니다.</a:t>
            </a:r>
          </a:p>
          <a:p>
            <a:endParaRPr/>
          </a:p>
          <a:p>
            <a:r>
              <a:t>근거: results/preprocessing_eda_report.md, 6. 전처리 설계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전처리된 이미지는 정사각형이지만 얼굴 비율은 유지됩니다. 남는 영역만 검정색으로 채웠습니다. 이 이미지는 프로젝트 Validation 데이터의 예시입니다.</a:t>
            </a:r>
          </a:p>
          <a:p>
            <a:endParaRPr/>
          </a:p>
          <a:p>
            <a:r>
              <a:t>근거: 사용자가 제공한 Validation 원본 | dataset/processed/images/Validation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손상 파일은 한글 경로 문제가 아니라 JPEG 스트림 손상이었습니다. 전체의 0.0058%로 매우 적어 복원하지 않고 제외했습니다.</a:t>
            </a:r>
          </a:p>
          <a:p>
            <a:endParaRPr/>
          </a:p>
          <a:p>
            <a:r>
              <a:t>근거: dataset/processed/preprocessing_summary.json | results/preprocessing_eda_report.md, 5 및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환경은 Python 3.12.10 가상환경, CUDA 12.6용 PyTorch와 torchvision, NVIDIA GeForce RTX 4060으로 구성했습니다. torchvision을 사용해 세 모델을 같은 학습 코드에서 비교했고, 체크포인트와 F1, AMP, 중단 재개를 직접 관리했습니다.</a:t>
            </a:r>
          </a:p>
          <a:p>
            <a:endParaRPr/>
          </a:p>
          <a:p>
            <a:r>
              <a:t>근거: requirements-cu126.lock.txt; src/train_models.py;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ResNet18은 이전 입력을 뒤쪽 결과에 더하는 잔차 연결을 사용해 학습을 안정시킨 기준선 모델입니다.</a:t>
            </a:r>
          </a:p>
          <a:p>
            <a:endParaRPr/>
          </a:p>
          <a:p>
            <a:r>
              <a:t>MobileNetV2의 핵심은 연산을 나눠 계산량을 줄이는 것입니다. 먼저 각 채널에서 특징을 따로 찾고, 그 결과를 다시 합칩니다. 입력을 잠시 넓혀 처리한 뒤 작게 줄이고, 조건이 맞으면 처음 입력을 끝에 더해 정보를 전달합니다. 발표에서는 ‘연산을 나눠 하고 필요한 정보는 연결해 전달해서 가볍게 만든 구조’라고 설명하면 충분합니다.</a:t>
            </a:r>
          </a:p>
          <a:p>
            <a:endParaRPr/>
          </a:p>
          <a:p>
            <a:r>
              <a:t>EfficientNet-B0는 가벼운 합성곱과 중요한 채널을 강조하는 구조를 사용하며, 깊이·너비·입력 해상도를 함께 조절합니다.</a:t>
            </a:r>
          </a:p>
          <a:p>
            <a:endParaRPr/>
          </a:p>
          <a:p>
            <a:r>
              <a:t>파라미터 수는 ResNet18 11.18M, MobileNetV2 2.23M, EfficientNet-B0 4.02M입니다.</a:t>
            </a:r>
          </a:p>
          <a:p>
            <a:endParaRPr/>
          </a:p>
          <a:p>
            <a:endParaRPr/>
          </a:p>
          <a:p>
            <a:endParaRPr/>
          </a:p>
          <a:p>
            <a:r>
              <a:t>근거: results/comparisons/all_three_models/comparison_table.csv |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모델은 같은 Training과 Validation 데이터를 사용했습니다. 약한 증강은 Training에만 적용했습니다. Validation Macro-F1을 기준으로 모델을 비교했고, 점수가 세 번 연속 좋아지지 않으면 학습을 종료한 뒤 최고 시점의 가중치를 best.pt로 저장했습니다. 50 epoch는 최대 학습 횟수입니다.</a:t>
            </a:r>
          </a:p>
          <a:p>
            <a:endParaRPr/>
          </a:p>
          <a:p>
            <a:r>
              <a:t>근거: src/train_models.py; results/experiments/*/run_summary.json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EfficientNet-B0가 현재 Validation의 Accuracy와 Macro-F1에서 가장 높았지만 세 모델의 차이는 크지 않습니다. 앱은 세 백본 중 하나를 선택하는 구조이며, 실제 Jetson 속도는 모델 정의를 학습 체크포인트와 일치시킨 뒤 별도로 측정해야 합니다.</a:t>
            </a:r>
          </a:p>
          <a:p>
            <a:endParaRPr/>
          </a:p>
          <a:p>
            <a:r>
              <a:t>자료: results/comparisons/all_three_models/comparison_table.csv;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모델의 클래스별 F1 평균은 기쁨 0.951, 불안 0.568, 상처 0.522, 중립 0.828입니다. 기쁨과 중립은 비교적 잘 구분되지만 불안과 상처는 세 모델 모두 어렵습니다. 모델 구조보다 감정 경계와 표정 유사성이 영향을 줬을 가능성이 있습니다.</a:t>
            </a:r>
          </a:p>
          <a:p>
            <a:endParaRPr/>
          </a:p>
          <a:p>
            <a:r>
              <a:t>근거: results/experiments/*/history.json의 각 모델 best epoch Validation per_class F1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관객에게 먼저 어느 쪽이 불안이고 상처인지 잠시 생각해 달라고 질문합니다.</a:t>
            </a:r>
          </a:p>
          <a:p>
            <a:endParaRPr/>
          </a:p>
          <a:p>
            <a:r>
              <a:t>왼쪽은 상처, 오른쪽은 불안으로 라벨된 Validation 이미지입니다. 같은 인물과 비슷한 촬영 환경에서도 두 감정의 차이가 매우 미묘합니다.</a:t>
            </a:r>
          </a:p>
          <a:p>
            <a:endParaRPr/>
          </a:p>
          <a:p>
            <a:r>
              <a:t>이 예시만으로 라벨 오류를 단정하지 않습니다. 다만 얼굴 표정만으로 감정 경계를 나누는 일은 사람에게도 어려울 수 있고, 모델의 낮은 F1을 구조의 문제만으로 해석하기 어렵다는 점을 설명합니다.</a:t>
            </a:r>
          </a:p>
          <a:p>
            <a:endParaRPr/>
          </a:p>
          <a:p>
            <a:endParaRPr/>
          </a:p>
          <a:p>
            <a:endParaRPr/>
          </a:p>
          <a:p>
            <a:r>
              <a:t>이미지: D:\emotion_project\dataset\processed\images\Validation\006b56dc2f8cda2361e1b01b2496d6f352dd5b1790f0a9b0bfcbe540b292247d_여_20_상처_상업시설&amp;점포&amp;시장_20210130214734-003-005.png</a:t>
            </a:r>
          </a:p>
          <a:p>
            <a:endParaRPr/>
          </a:p>
          <a:p>
            <a:r>
              <a:t>이미지: D:\emotion_project\dataset\processed\images\Validation\006b56dc2f8cda2361e1b01b2496d6f352dd5b1790f0a9b0bfcbe540b292247d_여_20_불안_상업시설&amp;점포&amp;시장_20210130215430-003-005.png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세 모델 중 EfficientNet-B0의 학습 결과를 분석 예시로 보여 줍니다. 학습과 검증의 간격, 조기 종료 시점, 상처 감정의 혼동 경향을 확인합니다. 이 슬라이드는 단일 최종 모델 선정을 뜻하지 않습니다.</a:t>
            </a:r>
          </a:p>
          <a:p>
            <a:endParaRPr/>
          </a:p>
          <a:p>
            <a:r>
              <a:t>근거: results/comparisons/all_three_models/training_curves_GPU_efficientnet_b0_e50_p3_b32_efficientnet_b0.png | results/comparisons/all_three_models/confusion_matrix_GPU_efficientnet_b0_e50_p3_b32_efficientnet_b0.png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학습 결과는 각 모델의 best.pt로 보관합니다. 앱에 연결할 때는 model_name, class_names, image_size, normalization뿐 아니라 앱이 생성하는 백본 구조와 입력 채널도 일치해야 합니다. 기존 학습 모델은 MobileNetV2이지만 전달받은 앱 분석 문서에는 MobileNetV3-Small이 적혀 있으므로, MobileNet 가중치는 구조를 통일한 뒤 연결해야 합니다.</a:t>
            </a:r>
          </a:p>
          <a:p>
            <a:endParaRPr/>
          </a:p>
          <a:p>
            <a:r>
              <a:t>자료: models/*/best.pt; 젯슨 감정인식 모델 프로그램 요약_260915.pdf, p. 1;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현재 결과는 시간 제약에 따라 선택한 Training 2개 파트와 제공 Validation을 기준으로 합니다. 같은 인물의 이미지가 두 분할에 포함되면 모델이 인물 특징을 이용해 정확도가 높게 측정될 수 있습니다. 다음 실험에서는 같은 인물이나 촬영 세션을 한 분할에만 배치하는 group split을 적용합니다.</a:t>
            </a:r>
          </a:p>
          <a:p>
            <a:endParaRPr/>
          </a:p>
          <a:p>
            <a:r>
              <a:t>근거: docs/03_eda_and_preprocessing.md | docs/05_evaluation_and_visualization.md | results/preprocessing_eda_report.md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전달받은 소스 분석 자료 기준 처리 흐름입니다. V4L2 카메라에서 프레임을 받고 Haar Cascade로 얼굴을 찾은 뒤, 중심 이동 거리와 ROI 크기 변화를 조합해 얼굴 ID를 유지합니다. 얼굴은 비율 왜곡을 줄이도록 정사각형으로 패딩하고, 입력 모드에 맞춰 CLAHE 또는 RGB 정규화를 적용합니다. 선택 모델의 Softmax 결과는 EMA로 보정한 뒤 Tkinter 화면에 표시합니다. 약 30 FPS는 문서상의 목표 설정이며 이번 발표의 실측 결과가 아닙니다.</a:t>
            </a:r>
          </a:p>
          <a:p>
            <a:endParaRPr/>
          </a:p>
          <a:p>
            <a:r>
              <a:t>자료: 젯슨 감정인식 모델 프로그램 요약_260915.pdf, pp. 1–2; Jetson Orin Nano 실시간 다중 얼굴 감정 인식 시스템 소스 코드 분석 보고서.docx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실시간성을 위해 카메라 화면은 계속 갱신하면서 AI 추론은 2프레임마다 한 번 수행합니다. 여러 얼굴의 ID가 바뀌지 않도록 중심 거리와 크기 변화를 함께 사용하고, 모델은 백그라운드 스레드에서 불러옵니다. EMA 계수와 0.15초 제한은 문서의 설정값이며 실제 장치에서 측정한 FPS·지연 시간은 별도 검증이 필요합니다. MobileNet은 학습 모델 V2와 앱 문서 V3-Small의 구조 차이를 먼저 해소해야 합니다.</a:t>
            </a:r>
          </a:p>
          <a:p>
            <a:endParaRPr/>
          </a:p>
          <a:p>
            <a:r>
              <a:t>자료: Jetson Orin Nano 실시간 다중 얼굴 감정 인식 시스템 소스 코드 분석 보고서.docx; 젯슨 감정인식 모델 프로그램 요약_260915.pdf, p. 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526"/>
        </a:solidFill>
        <a:effectLst/>
      </p:bgPr>
    </p:bg>
    <p:spTree>
      <p:nvGrpSpPr>
        <p:cNvPr id="1" name=""/>
        <p:cNvGrpSpPr/>
        <p:nvPr/>
      </p:nvGrpSpPr>
      <p:grpSpPr>
        <a:xfrm>
          <a:off x="0" y="0"/>
          <a:ext cx="0" cy="0"/>
          <a:chOff x="0" y="0"/>
          <a:chExt cx="0" cy="0"/>
        </a:xfrm>
      </p:grpSpPr>
      <p:sp>
        <p:nvSpPr>
          <p:cNvPr id="7" name="직사각형 6">
            <a:extLst>
              <a:ext uri="{FF2B5EF4-FFF2-40B4-BE49-F238E27FC236}">
                <a16:creationId xmlns:a16="http://schemas.microsoft.com/office/drawing/2014/main" id="{ACC6DC15-11EC-4F6C-85DA-09950FE87912}"/>
              </a:ext>
            </a:extLst>
          </p:cNvPr>
          <p:cNvSpPr>
            <a:spLocks noGrp="1"/>
          </p:cNvSpPr>
          <p:nvPr/>
        </p:nvSpPr>
        <p:spPr>
          <a:xfrm>
            <a:off x="742950" y="1352550"/>
            <a:ext cx="8096250" cy="838200"/>
          </a:xfrm>
          <a:prstGeom prst="rect">
            <a:avLst/>
          </a:prstGeom>
          <a:noFill/>
          <a:ln w="0">
            <a:noFill/>
          </a:ln>
        </p:spPr>
        <p:txBody>
          <a:bodyPr/>
          <a:lstStyle/>
          <a:p>
            <a:pPr algn="l">
              <a:buNone/>
              <a:defRPr sz="4650" b="1" i="0">
                <a:solidFill>
                  <a:srgbClr val="FFFFFF"/>
                </a:solidFill>
                <a:latin typeface="Malgun Gothic"/>
                <a:ea typeface="Malgun Gothic"/>
                <a:cs typeface="Malgun Gothic"/>
              </a:defRPr>
            </a:pPr>
            <a:r>
              <a:rPr sz="4650" b="1" i="0">
                <a:solidFill>
                  <a:srgbClr val="FFFFFF"/>
                </a:solidFill>
                <a:latin typeface="Malgun Gothic"/>
                <a:ea typeface="Malgun Gothic"/>
                <a:cs typeface="Malgun Gothic"/>
              </a:rPr>
              <a:t>한국인 얼굴 감정 인식</a:t>
            </a:r>
          </a:p>
        </p:txBody>
      </p:sp>
      <p:sp>
        <p:nvSpPr>
          <p:cNvPr id="2" name="직사각형 1">
            <a:extLst>
              <a:ext uri="{FF2B5EF4-FFF2-40B4-BE49-F238E27FC236}">
                <a16:creationId xmlns:a16="http://schemas.microsoft.com/office/drawing/2014/main" id="{B7A8D019-0968-414B-BFDA-84E572ADEEB2}"/>
              </a:ext>
            </a:extLst>
          </p:cNvPr>
          <p:cNvSpPr>
            <a:spLocks noGrp="1"/>
          </p:cNvSpPr>
          <p:nvPr/>
        </p:nvSpPr>
        <p:spPr>
          <a:xfrm>
            <a:off x="762000" y="2286000"/>
            <a:ext cx="7239000" cy="590550"/>
          </a:xfrm>
          <a:prstGeom prst="rect">
            <a:avLst/>
          </a:prstGeom>
          <a:noFill/>
          <a:ln w="0">
            <a:noFill/>
          </a:ln>
        </p:spPr>
        <p:txBody>
          <a:bodyPr/>
          <a:lstStyle/>
          <a:p>
            <a:pPr algn="l">
              <a:buNone/>
              <a:defRPr sz="2850" b="0" i="0">
                <a:solidFill>
                  <a:srgbClr val="B8C7DA"/>
                </a:solidFill>
                <a:latin typeface="Malgun Gothic"/>
                <a:ea typeface="Malgun Gothic"/>
                <a:cs typeface="Malgun Gothic"/>
              </a:defRPr>
            </a:pPr>
            <a:r>
              <a:rPr sz="2850" b="0" i="0">
                <a:solidFill>
                  <a:srgbClr val="B8C7DA"/>
                </a:solidFill>
                <a:latin typeface="Malgun Gothic"/>
                <a:ea typeface="Malgun Gothic"/>
                <a:cs typeface="Malgun Gothic"/>
              </a:rPr>
              <a:t>데이터 전처리와 모델 비교</a:t>
            </a:r>
          </a:p>
        </p:txBody>
      </p:sp>
      <p:sp>
        <p:nvSpPr>
          <p:cNvPr id="3" name="직선 연결선 2">
            <a:extLst>
              <a:ext uri="{FF2B5EF4-FFF2-40B4-BE49-F238E27FC236}">
                <a16:creationId xmlns:a16="http://schemas.microsoft.com/office/drawing/2014/main" id="{DE4D4146-6AE8-4228-882D-6F6A3AAC9EFA}"/>
              </a:ext>
            </a:extLst>
          </p:cNvPr>
          <p:cNvSpPr>
            <a:spLocks noGrp="1"/>
          </p:cNvSpPr>
          <p:nvPr/>
        </p:nvSpPr>
        <p:spPr>
          <a:xfrm>
            <a:off x="762000" y="3181350"/>
            <a:ext cx="2381250" cy="0"/>
          </a:xfrm>
          <a:prstGeom prst="line">
            <a:avLst/>
          </a:prstGeom>
          <a:ln w="57150">
            <a:solidFill>
              <a:srgbClr val="14B8A6"/>
            </a:solidFill>
            <a:prstDash val="solid"/>
          </a:ln>
        </p:spPr>
      </p:sp>
      <p:sp>
        <p:nvSpPr>
          <p:cNvPr id="4" name="직사각형 3">
            <a:extLst>
              <a:ext uri="{FF2B5EF4-FFF2-40B4-BE49-F238E27FC236}">
                <a16:creationId xmlns:a16="http://schemas.microsoft.com/office/drawing/2014/main" id="{C9D41D2C-A840-4F15-9093-5D90A0BE6194}"/>
              </a:ext>
            </a:extLst>
          </p:cNvPr>
          <p:cNvSpPr>
            <a:spLocks noGrp="1"/>
          </p:cNvSpPr>
          <p:nvPr/>
        </p:nvSpPr>
        <p:spPr>
          <a:xfrm>
            <a:off x="762000" y="3476625"/>
            <a:ext cx="8667750" cy="361950"/>
          </a:xfrm>
          <a:prstGeom prst="rect">
            <a:avLst/>
          </a:prstGeom>
          <a:noFill/>
          <a:ln w="0">
            <a:noFill/>
          </a:ln>
        </p:spPr>
        <p:txBody>
          <a:bodyPr/>
          <a:lstStyle/>
          <a:p>
            <a:pPr algn="l">
              <a:buNone/>
              <a:defRPr sz="1650" b="0" i="0">
                <a:solidFill>
                  <a:srgbClr val="DCE6F2"/>
                </a:solidFill>
                <a:latin typeface="Malgun Gothic"/>
                <a:ea typeface="Malgun Gothic"/>
                <a:cs typeface="Malgun Gothic"/>
              </a:defRPr>
            </a:pPr>
            <a:r>
              <a:rPr sz="1650" b="0" i="0">
                <a:solidFill>
                  <a:srgbClr val="DCE6F2"/>
                </a:solidFill>
                <a:latin typeface="Malgun Gothic"/>
                <a:ea typeface="Malgun Gothic"/>
                <a:cs typeface="Malgun Gothic"/>
              </a:rPr>
              <a:t>오석, 정준영, 김범영</a:t>
            </a:r>
            <a:r>
              <a:rPr sz="1650">
                <a:solidFill>
                  <a:srgbClr val="DCE6F2"/>
                </a:solidFill>
                <a:latin typeface="Malgun Gothic"/>
                <a:ea typeface="Malgun Gothic"/>
                <a:cs typeface="Malgun Gothic"/>
              </a:rPr>
              <a:t> (김정오 팀)</a:t>
            </a:r>
            <a:endParaRPr sz="1650" b="0" i="0">
              <a:solidFill>
                <a:srgbClr val="DCE6F2"/>
              </a:solidFill>
              <a:latin typeface="Malgun Gothic"/>
              <a:ea typeface="Malgun Gothic"/>
              <a:cs typeface="Malgun Gothic"/>
            </a:endParaRPr>
          </a:p>
        </p:txBody>
      </p:sp>
      <p:sp>
        <p:nvSpPr>
          <p:cNvPr id="5" name="직사각형 4">
            <a:extLst>
              <a:ext uri="{FF2B5EF4-FFF2-40B4-BE49-F238E27FC236}">
                <a16:creationId xmlns:a16="http://schemas.microsoft.com/office/drawing/2014/main" id="{CA1DC95B-C7E8-431E-A5AF-1B1FD6DE6391}"/>
              </a:ext>
            </a:extLst>
          </p:cNvPr>
          <p:cNvSpPr>
            <a:spLocks noGrp="1"/>
          </p:cNvSpPr>
          <p:nvPr/>
        </p:nvSpPr>
        <p:spPr>
          <a:xfrm>
            <a:off x="762000" y="5772150"/>
            <a:ext cx="3429000" cy="266700"/>
          </a:xfrm>
          <a:prstGeom prst="rect">
            <a:avLst/>
          </a:prstGeom>
          <a:noFill/>
          <a:ln w="0">
            <a:noFill/>
          </a:ln>
        </p:spPr>
        <p:txBody>
          <a:bodyPr/>
          <a:lstStyle/>
          <a:p>
            <a:pPr algn="l">
              <a:buNone/>
              <a:defRPr sz="1350" b="0" i="0">
                <a:solidFill>
                  <a:srgbClr val="8FA2B9"/>
                </a:solidFill>
                <a:latin typeface="Malgun Gothic"/>
                <a:ea typeface="Malgun Gothic"/>
                <a:cs typeface="Malgun Gothic"/>
              </a:defRPr>
            </a:pPr>
            <a:r>
              <a:rPr sz="1350" b="0" i="0">
                <a:solidFill>
                  <a:srgbClr val="8FA2B9"/>
                </a:solidFill>
                <a:latin typeface="Malgun Gothic"/>
                <a:ea typeface="Malgun Gothic"/>
                <a:cs typeface="Malgun Gothic"/>
              </a:rPr>
              <a:t>팀 프로젝트 발표</a:t>
            </a:r>
          </a:p>
        </p:txBody>
      </p:sp>
    </p:spTree>
    <p:extLst>
      <p:ext uri="{BB962C8B-B14F-4D97-AF65-F5344CB8AC3E}">
        <p14:creationId xmlns:p14="http://schemas.microsoft.com/office/powerpoint/2010/main" val="227961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목차</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준비부터 세 모델 기반 웹캠 프로그램까지</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02</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데이터 준비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모델 학습과 활용</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프로젝트 요약과 팀 역할</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데이터 범위와 품질 점검</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전처리 설계와 실행 결과</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입력 이미지 변환 전후</a:t>
            </a: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PyTorch GPU 학습 환경</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세 모델 구조와 선정 이유</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검증 성능과 평가 한계</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웹캠 프로그램 구동</a:t>
            </a: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C0341155-58B6-4494-8488-490A4663A74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팀 구성과 역할</a:t>
            </a:r>
          </a:p>
        </p:txBody>
      </p:sp>
      <p:sp>
        <p:nvSpPr>
          <p:cNvPr id="2" name="직사각형 1">
            <a:extLst>
              <a:ext uri="{FF2B5EF4-FFF2-40B4-BE49-F238E27FC236}">
                <a16:creationId xmlns:a16="http://schemas.microsoft.com/office/drawing/2014/main" id="{F4143ED8-32DC-40F6-BC24-86BB4378617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준비, 모델 실험, 실시간 프로그램을 분담</a:t>
            </a:r>
          </a:p>
        </p:txBody>
      </p:sp>
      <p:sp>
        <p:nvSpPr>
          <p:cNvPr id="3" name="직선 연결선 2">
            <a:extLst>
              <a:ext uri="{FF2B5EF4-FFF2-40B4-BE49-F238E27FC236}">
                <a16:creationId xmlns:a16="http://schemas.microsoft.com/office/drawing/2014/main" id="{B521F64A-13F5-46AE-9DE2-3597996FE41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C9BAB141-FAF9-4781-AF79-5A87C3EC7BAE}"/>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AA93897-79F1-4AF6-8808-DEBBDEE88FFD}"/>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03</a:t>
            </a:r>
          </a:p>
        </p:txBody>
      </p:sp>
      <p:sp>
        <p:nvSpPr>
          <p:cNvPr id="6" name="직사각형 5">
            <a:extLst>
              <a:ext uri="{FF2B5EF4-FFF2-40B4-BE49-F238E27FC236}">
                <a16:creationId xmlns:a16="http://schemas.microsoft.com/office/drawing/2014/main" id="{AFC34494-0738-4EBF-980E-E5088F5C2C56}"/>
              </a:ext>
            </a:extLst>
          </p:cNvPr>
          <p:cNvSpPr>
            <a:spLocks noGrp="1"/>
          </p:cNvSpPr>
          <p:nvPr/>
        </p:nvSpPr>
        <p:spPr>
          <a:xfrm>
            <a:off x="1514475" y="1890713"/>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오석</a:t>
            </a:r>
          </a:p>
        </p:txBody>
      </p:sp>
      <p:sp>
        <p:nvSpPr>
          <p:cNvPr id="8" name="직사각형 7">
            <a:extLst>
              <a:ext uri="{FF2B5EF4-FFF2-40B4-BE49-F238E27FC236}">
                <a16:creationId xmlns:a16="http://schemas.microsoft.com/office/drawing/2014/main" id="{5DCA05AD-4CE9-440F-A6FC-834B342A443C}"/>
              </a:ext>
            </a:extLst>
          </p:cNvPr>
          <p:cNvSpPr>
            <a:spLocks noGrp="1"/>
          </p:cNvSpPr>
          <p:nvPr/>
        </p:nvSpPr>
        <p:spPr>
          <a:xfrm>
            <a:off x="4712634" y="1890713"/>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정준영</a:t>
            </a:r>
          </a:p>
        </p:txBody>
      </p:sp>
      <p:sp>
        <p:nvSpPr>
          <p:cNvPr id="10" name="직사각형 9">
            <a:extLst>
              <a:ext uri="{FF2B5EF4-FFF2-40B4-BE49-F238E27FC236}">
                <a16:creationId xmlns:a16="http://schemas.microsoft.com/office/drawing/2014/main" id="{5DE7D9AD-0A46-4C23-84BC-B87C5C2C798D}"/>
              </a:ext>
            </a:extLst>
          </p:cNvPr>
          <p:cNvSpPr>
            <a:spLocks noGrp="1"/>
          </p:cNvSpPr>
          <p:nvPr/>
        </p:nvSpPr>
        <p:spPr>
          <a:xfrm>
            <a:off x="7910793" y="1890713"/>
            <a:ext cx="266700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김범영</a:t>
            </a:r>
          </a:p>
        </p:txBody>
      </p:sp>
      <p:sp>
        <p:nvSpPr>
          <p:cNvPr id="14" name="직사각형 13">
            <a:extLst>
              <a:ext uri="{FF2B5EF4-FFF2-40B4-BE49-F238E27FC236}">
                <a16:creationId xmlns:a16="http://schemas.microsoft.com/office/drawing/2014/main" id="{13E9696B-15BA-40C7-BA80-B1890029C04C}"/>
              </a:ext>
            </a:extLst>
          </p:cNvPr>
          <p:cNvSpPr>
            <a:spLocks noGrp="1"/>
          </p:cNvSpPr>
          <p:nvPr/>
        </p:nvSpPr>
        <p:spPr>
          <a:xfrm>
            <a:off x="723900" y="3581400"/>
            <a:ext cx="2476500" cy="4000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담당 업무</a:t>
            </a:r>
          </a:p>
        </p:txBody>
      </p:sp>
      <p:sp>
        <p:nvSpPr>
          <p:cNvPr id="15" name="직사각형 14">
            <a:extLst>
              <a:ext uri="{FF2B5EF4-FFF2-40B4-BE49-F238E27FC236}">
                <a16:creationId xmlns:a16="http://schemas.microsoft.com/office/drawing/2014/main" id="{283DB723-2064-43B1-8CEC-705763C27878}"/>
              </a:ext>
            </a:extLst>
          </p:cNvPr>
          <p:cNvSpPr>
            <a:spLocks noGrp="1"/>
          </p:cNvSpPr>
          <p:nvPr/>
        </p:nvSpPr>
        <p:spPr>
          <a:xfrm>
            <a:off x="704850" y="4057650"/>
            <a:ext cx="10287000" cy="2000250"/>
          </a:xfrm>
          <a:prstGeom prst="rect">
            <a:avLst/>
          </a:prstGeom>
          <a:noFill/>
          <a:ln w="0">
            <a:noFill/>
          </a:ln>
        </p:spPr>
        <p:txBody>
          <a:bodyPr/>
          <a:lstStyle/>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오석: 팀장, OpenCV 기반 웹캠 실시간 프로그램 구현</a:t>
            </a:r>
          </a:p>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정준영: 주제 선정, 데이터셋 조사·수집, 전처리 수행</a:t>
            </a:r>
          </a:p>
          <a:p>
            <a:pPr marL="228600" indent="-101600">
              <a:spcAft>
                <a:spcPts val="10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김범영: 전처리 보조, 비교 모델 선정, PPT 제작과 발표</a:t>
            </a:r>
          </a:p>
        </p:txBody>
      </p:sp>
    </p:spTree>
    <p:extLst>
      <p:ext uri="{BB962C8B-B14F-4D97-AF65-F5344CB8AC3E}">
        <p14:creationId xmlns:p14="http://schemas.microsoft.com/office/powerpoint/2010/main" val="20656177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56EC9D1B-61CE-45E9-95D1-84C2B4058312}"/>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전체 작업 과정</a:t>
            </a:r>
          </a:p>
        </p:txBody>
      </p:sp>
      <p:sp>
        <p:nvSpPr>
          <p:cNvPr id="2" name="직사각형 1">
            <a:extLst>
              <a:ext uri="{FF2B5EF4-FFF2-40B4-BE49-F238E27FC236}">
                <a16:creationId xmlns:a16="http://schemas.microsoft.com/office/drawing/2014/main" id="{55754C8E-DEC0-4133-917B-B99D09D1015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수집부터 Jetson 실시간 앱 설계까지</a:t>
            </a:r>
          </a:p>
        </p:txBody>
      </p:sp>
      <p:sp>
        <p:nvSpPr>
          <p:cNvPr id="3" name="직선 연결선 2">
            <a:extLst>
              <a:ext uri="{FF2B5EF4-FFF2-40B4-BE49-F238E27FC236}">
                <a16:creationId xmlns:a16="http://schemas.microsoft.com/office/drawing/2014/main" id="{0C69E740-15DE-4685-95FC-30B1A138C6ED}"/>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5E28D6AE-4BCE-427F-A336-021E747A608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4EDADE-7488-48BC-B473-B771C55253F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04</a:t>
            </a:r>
          </a:p>
        </p:txBody>
      </p:sp>
      <p:sp>
        <p:nvSpPr>
          <p:cNvPr id="6" name="사각형: 둥근 모서리 5">
            <a:extLst>
              <a:ext uri="{FF2B5EF4-FFF2-40B4-BE49-F238E27FC236}">
                <a16:creationId xmlns:a16="http://schemas.microsoft.com/office/drawing/2014/main" id="{2E263B98-493B-4388-B918-55407982B4DB}"/>
              </a:ext>
            </a:extLst>
          </p:cNvPr>
          <p:cNvSpPr>
            <a:spLocks noGrp="1"/>
          </p:cNvSpPr>
          <p:nvPr/>
        </p:nvSpPr>
        <p:spPr>
          <a:xfrm>
            <a:off x="609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원본 JPG·JSON</a:t>
            </a:r>
          </a:p>
        </p:txBody>
      </p:sp>
      <p:sp>
        <p:nvSpPr>
          <p:cNvPr id="7" name="사각형: 둥근 모서리 6">
            <a:extLst>
              <a:ext uri="{FF2B5EF4-FFF2-40B4-BE49-F238E27FC236}">
                <a16:creationId xmlns:a16="http://schemas.microsoft.com/office/drawing/2014/main" id="{13EE08D5-3B78-4357-8575-CA3D88A827E3}"/>
              </a:ext>
            </a:extLst>
          </p:cNvPr>
          <p:cNvSpPr>
            <a:spLocks noGrp="1"/>
          </p:cNvSpPr>
          <p:nvPr/>
        </p:nvSpPr>
        <p:spPr>
          <a:xfrm>
            <a:off x="2895600" y="2095500"/>
            <a:ext cx="1828800" cy="895350"/>
          </a:xfrm>
          <a:prstGeom prst="roundRect">
            <a:avLst>
              <a:gd name="adj" fmla="val 12766"/>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EDA와 품질 점검</a:t>
            </a:r>
          </a:p>
        </p:txBody>
      </p:sp>
      <p:sp>
        <p:nvSpPr>
          <p:cNvPr id="8" name="사각형: 둥근 모서리 7">
            <a:extLst>
              <a:ext uri="{FF2B5EF4-FFF2-40B4-BE49-F238E27FC236}">
                <a16:creationId xmlns:a16="http://schemas.microsoft.com/office/drawing/2014/main" id="{B37C1A81-B460-45AE-8B52-D565AFE016B0}"/>
              </a:ext>
            </a:extLst>
          </p:cNvPr>
          <p:cNvSpPr>
            <a:spLocks noGrp="1"/>
          </p:cNvSpPr>
          <p:nvPr/>
        </p:nvSpPr>
        <p:spPr>
          <a:xfrm>
            <a:off x="5181600" y="2095500"/>
            <a:ext cx="1828800" cy="895350"/>
          </a:xfrm>
          <a:prstGeom prst="roundRect">
            <a:avLst>
              <a:gd name="adj" fmla="val 12766"/>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이미지·라벨 전처리</a:t>
            </a:r>
          </a:p>
        </p:txBody>
      </p:sp>
      <p:sp>
        <p:nvSpPr>
          <p:cNvPr id="9" name="사각형: 둥근 모서리 8">
            <a:extLst>
              <a:ext uri="{FF2B5EF4-FFF2-40B4-BE49-F238E27FC236}">
                <a16:creationId xmlns:a16="http://schemas.microsoft.com/office/drawing/2014/main" id="{312AAF76-CDFB-4873-9884-C41BB49111E3}"/>
              </a:ext>
            </a:extLst>
          </p:cNvPr>
          <p:cNvSpPr>
            <a:spLocks noGrp="1"/>
          </p:cNvSpPr>
          <p:nvPr/>
        </p:nvSpPr>
        <p:spPr>
          <a:xfrm>
            <a:off x="7467600" y="2095500"/>
            <a:ext cx="1828800" cy="895350"/>
          </a:xfrm>
          <a:prstGeom prst="roundRect">
            <a:avLst>
              <a:gd name="adj" fmla="val 12766"/>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PyTorch GPU 학습</a:t>
            </a:r>
          </a:p>
        </p:txBody>
      </p:sp>
      <p:sp>
        <p:nvSpPr>
          <p:cNvPr id="10" name="사각형: 둥근 모서리 9">
            <a:extLst>
              <a:ext uri="{FF2B5EF4-FFF2-40B4-BE49-F238E27FC236}">
                <a16:creationId xmlns:a16="http://schemas.microsoft.com/office/drawing/2014/main" id="{11C64B3A-7C94-4AC7-A083-ADA647D7772C}"/>
              </a:ext>
            </a:extLst>
          </p:cNvPr>
          <p:cNvSpPr>
            <a:spLocks noGrp="1"/>
          </p:cNvSpPr>
          <p:nvPr/>
        </p:nvSpPr>
        <p:spPr>
          <a:xfrm>
            <a:off x="9753600" y="2095500"/>
            <a:ext cx="1828800" cy="895350"/>
          </a:xfrm>
          <a:prstGeom prst="roundRect">
            <a:avLst>
              <a:gd name="adj" fmla="val 12766"/>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 비교·저장</a:t>
            </a:r>
          </a:p>
        </p:txBody>
      </p:sp>
      <p:cxnSp>
        <p:nvCxnSpPr>
          <p:cNvPr id="188" name="직선 화살표 연결선 33"/>
          <p:cNvCxnSpPr>
            <a:stCxn id="6" idx="3"/>
            <a:endCxn id="7" idx="1"/>
          </p:cNvCxnSpPr>
          <p:nvPr/>
        </p:nvCxnSpPr>
        <p:spPr>
          <a:xfrm>
            <a:off x="2438400" y="2543175"/>
            <a:ext cx="457200" cy="0"/>
          </a:xfrm>
          <a:prstGeom prst="straightConnector1">
            <a:avLst/>
          </a:prstGeom>
          <a:ln w="19050">
            <a:solidFill>
              <a:srgbClr val="607086"/>
            </a:solidFill>
            <a:prstDash val="solid"/>
            <a:tailEnd type="triangle" w="sm" len="sm"/>
          </a:ln>
        </p:spPr>
      </p:cxnSp>
      <p:cxnSp>
        <p:nvCxnSpPr>
          <p:cNvPr id="189" name="직선 화살표 연결선 34"/>
          <p:cNvCxnSpPr>
            <a:stCxn id="7" idx="3"/>
            <a:endCxn id="8" idx="1"/>
          </p:cNvCxnSpPr>
          <p:nvPr/>
        </p:nvCxnSpPr>
        <p:spPr>
          <a:xfrm>
            <a:off x="4724400" y="2543175"/>
            <a:ext cx="457200" cy="0"/>
          </a:xfrm>
          <a:prstGeom prst="straightConnector1">
            <a:avLst/>
          </a:prstGeom>
          <a:ln w="19050">
            <a:solidFill>
              <a:srgbClr val="607086"/>
            </a:solidFill>
            <a:prstDash val="solid"/>
            <a:tailEnd type="triangle" w="sm" len="sm"/>
          </a:ln>
        </p:spPr>
      </p:cxnSp>
      <p:cxnSp>
        <p:nvCxnSpPr>
          <p:cNvPr id="190" name="직선 화살표 연결선 35"/>
          <p:cNvCxnSpPr>
            <a:stCxn id="8" idx="3"/>
            <a:endCxn id="9" idx="1"/>
          </p:cNvCxnSpPr>
          <p:nvPr/>
        </p:nvCxnSpPr>
        <p:spPr>
          <a:xfrm>
            <a:off x="7010400" y="2543175"/>
            <a:ext cx="457200" cy="0"/>
          </a:xfrm>
          <a:prstGeom prst="straightConnector1">
            <a:avLst/>
          </a:prstGeom>
          <a:ln w="19050">
            <a:solidFill>
              <a:srgbClr val="607086"/>
            </a:solidFill>
            <a:prstDash val="solid"/>
            <a:tailEnd type="triangle" w="sm" len="sm"/>
          </a:ln>
        </p:spPr>
      </p:cxnSp>
      <p:cxnSp>
        <p:nvCxnSpPr>
          <p:cNvPr id="191" name="직선 화살표 연결선 36"/>
          <p:cNvCxnSpPr>
            <a:stCxn id="9" idx="3"/>
            <a:endCxn id="10" idx="1"/>
          </p:cNvCxnSpPr>
          <p:nvPr/>
        </p:nvCxnSpPr>
        <p:spPr>
          <a:xfrm>
            <a:off x="9296400" y="2543175"/>
            <a:ext cx="45720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0B147B33-1228-4EE3-85ED-261131C71783}"/>
              </a:ext>
            </a:extLst>
          </p:cNvPr>
          <p:cNvSpPr>
            <a:spLocks noGrp="1"/>
          </p:cNvSpPr>
          <p:nvPr/>
        </p:nvSpPr>
        <p:spPr>
          <a:xfrm>
            <a:off x="628650" y="3924300"/>
            <a:ext cx="2095500" cy="361950"/>
          </a:xfrm>
          <a:prstGeom prst="rect">
            <a:avLst/>
          </a:prstGeom>
          <a:noFill/>
          <a:ln w="0">
            <a:noFill/>
          </a:ln>
        </p:spPr>
        <p:txBody>
          <a:bodyPr/>
          <a:lstStyle/>
          <a:p>
            <a:pPr algn="l">
              <a:buNone/>
              <a:defRPr sz="2100" b="1" i="0">
                <a:solidFill>
                  <a:srgbClr val="F97356"/>
                </a:solidFill>
                <a:latin typeface="Malgun Gothic"/>
                <a:ea typeface="Malgun Gothic"/>
                <a:cs typeface="Malgun Gothic"/>
              </a:defRPr>
            </a:pPr>
            <a:r>
              <a:rPr sz="2100" b="1" i="0">
                <a:solidFill>
                  <a:srgbClr val="F97356"/>
                </a:solidFill>
                <a:latin typeface="Malgun Gothic"/>
                <a:ea typeface="Malgun Gothic"/>
                <a:cs typeface="Malgun Gothic"/>
              </a:rPr>
              <a:t>Jetson 연계</a:t>
            </a:r>
          </a:p>
        </p:txBody>
      </p:sp>
      <p:sp>
        <p:nvSpPr>
          <p:cNvPr id="16" name="사각형: 둥근 모서리 15">
            <a:extLst>
              <a:ext uri="{FF2B5EF4-FFF2-40B4-BE49-F238E27FC236}">
                <a16:creationId xmlns:a16="http://schemas.microsoft.com/office/drawing/2014/main" id="{E1FDFBBC-366A-492E-B034-0CE7538E22D8}"/>
              </a:ext>
            </a:extLst>
          </p:cNvPr>
          <p:cNvSpPr>
            <a:spLocks noGrp="1"/>
          </p:cNvSpPr>
          <p:nvPr/>
        </p:nvSpPr>
        <p:spPr>
          <a:xfrm>
            <a:off x="2724150" y="3829050"/>
            <a:ext cx="1905000" cy="723900"/>
          </a:xfrm>
          <a:prstGeom prst="roundRect">
            <a:avLst>
              <a:gd name="adj" fmla="val 15789"/>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웹캠 프레임 입력</a:t>
            </a:r>
          </a:p>
        </p:txBody>
      </p:sp>
      <p:sp>
        <p:nvSpPr>
          <p:cNvPr id="17" name="사각형: 둥근 모서리 16">
            <a:extLst>
              <a:ext uri="{FF2B5EF4-FFF2-40B4-BE49-F238E27FC236}">
                <a16:creationId xmlns:a16="http://schemas.microsoft.com/office/drawing/2014/main" id="{A9910972-B6A4-45E6-8827-5F6E85B139D8}"/>
              </a:ext>
            </a:extLst>
          </p:cNvPr>
          <p:cNvSpPr>
            <a:spLocks noGrp="1"/>
          </p:cNvSpPr>
          <p:nvPr/>
        </p:nvSpPr>
        <p:spPr>
          <a:xfrm>
            <a:off x="5105400" y="3829050"/>
            <a:ext cx="2095500" cy="723900"/>
          </a:xfrm>
          <a:prstGeom prst="roundRect">
            <a:avLst>
              <a:gd name="adj" fmla="val 15789"/>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얼굴 검출·224 전처리</a:t>
            </a:r>
          </a:p>
        </p:txBody>
      </p:sp>
      <p:sp>
        <p:nvSpPr>
          <p:cNvPr id="18" name="사각형: 둥근 모서리 17">
            <a:extLst>
              <a:ext uri="{FF2B5EF4-FFF2-40B4-BE49-F238E27FC236}">
                <a16:creationId xmlns:a16="http://schemas.microsoft.com/office/drawing/2014/main" id="{9EB4CE5C-8841-451B-B1B6-50182D653E81}"/>
              </a:ext>
            </a:extLst>
          </p:cNvPr>
          <p:cNvSpPr>
            <a:spLocks noGrp="1"/>
          </p:cNvSpPr>
          <p:nvPr/>
        </p:nvSpPr>
        <p:spPr>
          <a:xfrm>
            <a:off x="7677150" y="3829050"/>
            <a:ext cx="1714500" cy="723900"/>
          </a:xfrm>
          <a:prstGeom prst="roundRect">
            <a:avLst>
              <a:gd name="adj" fmla="val 15789"/>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모델·입력 모드 선택</a:t>
            </a:r>
          </a:p>
        </p:txBody>
      </p:sp>
      <p:sp>
        <p:nvSpPr>
          <p:cNvPr id="19" name="사각형: 둥근 모서리 18">
            <a:extLst>
              <a:ext uri="{FF2B5EF4-FFF2-40B4-BE49-F238E27FC236}">
                <a16:creationId xmlns:a16="http://schemas.microsoft.com/office/drawing/2014/main" id="{98CB3CAB-A392-42E5-9C1F-DBA4B2362EE6}"/>
              </a:ext>
            </a:extLst>
          </p:cNvPr>
          <p:cNvSpPr>
            <a:spLocks noGrp="1"/>
          </p:cNvSpPr>
          <p:nvPr/>
        </p:nvSpPr>
        <p:spPr>
          <a:xfrm>
            <a:off x="9867900" y="3829050"/>
            <a:ext cx="1714500" cy="723900"/>
          </a:xfrm>
          <a:prstGeom prst="roundRect">
            <a:avLst>
              <a:gd name="adj" fmla="val 15789"/>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400" b="1">
                <a:solidFill>
                  <a:srgbClr val="122033"/>
                </a:solidFill>
                <a:latin typeface="Malgun Gothic"/>
                <a:ea typeface="Malgun Gothic"/>
                <a:cs typeface="Malgun Gothic"/>
              </a:rPr>
              <a:t>감정·확률 표시</a:t>
            </a:r>
          </a:p>
        </p:txBody>
      </p:sp>
      <p:cxnSp>
        <p:nvCxnSpPr>
          <p:cNvPr id="197" name="직선 화살표 연결선 42"/>
          <p:cNvCxnSpPr>
            <a:stCxn id="16" idx="3"/>
            <a:endCxn id="17" idx="1"/>
          </p:cNvCxnSpPr>
          <p:nvPr/>
        </p:nvCxnSpPr>
        <p:spPr>
          <a:xfrm>
            <a:off x="4629150" y="4191000"/>
            <a:ext cx="476250" cy="0"/>
          </a:xfrm>
          <a:prstGeom prst="straightConnector1">
            <a:avLst/>
          </a:prstGeom>
          <a:ln w="19050">
            <a:solidFill>
              <a:srgbClr val="607086"/>
            </a:solidFill>
            <a:prstDash val="solid"/>
            <a:tailEnd type="triangle" w="sm" len="sm"/>
          </a:ln>
        </p:spPr>
      </p:cxnSp>
      <p:cxnSp>
        <p:nvCxnSpPr>
          <p:cNvPr id="198" name="직선 화살표 연결선 43"/>
          <p:cNvCxnSpPr>
            <a:stCxn id="17" idx="3"/>
            <a:endCxn id="18" idx="1"/>
          </p:cNvCxnSpPr>
          <p:nvPr/>
        </p:nvCxnSpPr>
        <p:spPr>
          <a:xfrm>
            <a:off x="7200900" y="4191000"/>
            <a:ext cx="476250" cy="0"/>
          </a:xfrm>
          <a:prstGeom prst="straightConnector1">
            <a:avLst/>
          </a:prstGeom>
          <a:ln w="19050">
            <a:solidFill>
              <a:srgbClr val="607086"/>
            </a:solidFill>
            <a:prstDash val="solid"/>
            <a:tailEnd type="triangle" w="sm" len="sm"/>
          </a:ln>
        </p:spPr>
      </p:cxnSp>
      <p:cxnSp>
        <p:nvCxnSpPr>
          <p:cNvPr id="199" name="직선 화살표 연결선 44"/>
          <p:cNvCxnSpPr>
            <a:stCxn id="18" idx="3"/>
            <a:endCxn id="19" idx="1"/>
          </p:cNvCxnSpPr>
          <p:nvPr/>
        </p:nvCxnSpPr>
        <p:spPr>
          <a:xfrm>
            <a:off x="9391650" y="4191000"/>
            <a:ext cx="476250" cy="0"/>
          </a:xfrm>
          <a:prstGeom prst="straightConnector1">
            <a:avLst/>
          </a:prstGeom>
          <a:ln w="19050">
            <a:solidFill>
              <a:srgbClr val="607086"/>
            </a:solidFill>
            <a:prstDash val="solid"/>
            <a:tailEnd type="triangle" w="sm" len="sm"/>
          </a:ln>
        </p:spPr>
      </p:cxnSp>
    </p:spTree>
    <p:extLst>
      <p:ext uri="{BB962C8B-B14F-4D97-AF65-F5344CB8AC3E}">
        <p14:creationId xmlns:p14="http://schemas.microsoft.com/office/powerpoint/2010/main" val="10280462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2629DBD7-D7D1-4A5C-A9F7-810EA6E6B73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규모와 클래스 균형</a:t>
            </a:r>
          </a:p>
        </p:txBody>
      </p:sp>
      <p:sp>
        <p:nvSpPr>
          <p:cNvPr id="2" name="직사각형 1">
            <a:extLst>
              <a:ext uri="{FF2B5EF4-FFF2-40B4-BE49-F238E27FC236}">
                <a16:creationId xmlns:a16="http://schemas.microsoft.com/office/drawing/2014/main" id="{B59256D3-9CD4-43D7-9FFF-ABF247C112B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전처리 성공 기준 275,688장</a:t>
            </a:r>
          </a:p>
        </p:txBody>
      </p:sp>
      <p:sp>
        <p:nvSpPr>
          <p:cNvPr id="3" name="직선 연결선 2">
            <a:extLst>
              <a:ext uri="{FF2B5EF4-FFF2-40B4-BE49-F238E27FC236}">
                <a16:creationId xmlns:a16="http://schemas.microsoft.com/office/drawing/2014/main" id="{863E982B-8A56-4654-98BD-2681FACA844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56B354D-F09C-4586-ADD4-D1D4197EE9A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6DE2FDF-0520-4265-A6A1-305F643CC7F8}"/>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05</a:t>
            </a:r>
          </a:p>
        </p:txBody>
      </p:sp>
      <p:sp>
        <p:nvSpPr>
          <p:cNvPr id="7" name="직사각형 6">
            <a:extLst>
              <a:ext uri="{FF2B5EF4-FFF2-40B4-BE49-F238E27FC236}">
                <a16:creationId xmlns:a16="http://schemas.microsoft.com/office/drawing/2014/main" id="{5A526025-02BF-4EC4-9292-01B2667C529E}"/>
              </a:ext>
            </a:extLst>
          </p:cNvPr>
          <p:cNvSpPr>
            <a:spLocks noGrp="1"/>
          </p:cNvSpPr>
          <p:nvPr/>
        </p:nvSpPr>
        <p:spPr>
          <a:xfrm>
            <a:off x="8572500" y="20002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223,570</a:t>
            </a:r>
          </a:p>
        </p:txBody>
      </p:sp>
      <p:sp>
        <p:nvSpPr>
          <p:cNvPr id="8" name="직사각형 7">
            <a:extLst>
              <a:ext uri="{FF2B5EF4-FFF2-40B4-BE49-F238E27FC236}">
                <a16:creationId xmlns:a16="http://schemas.microsoft.com/office/drawing/2014/main" id="{FEDBDB13-E767-4200-AE6B-DA2CECF06D46}"/>
              </a:ext>
            </a:extLst>
          </p:cNvPr>
          <p:cNvSpPr>
            <a:spLocks noGrp="1"/>
          </p:cNvSpPr>
          <p:nvPr/>
        </p:nvSpPr>
        <p:spPr>
          <a:xfrm>
            <a:off x="8572500" y="26289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Training</a:t>
            </a:r>
          </a:p>
        </p:txBody>
      </p:sp>
      <p:sp>
        <p:nvSpPr>
          <p:cNvPr id="9" name="직사각형 8">
            <a:extLst>
              <a:ext uri="{FF2B5EF4-FFF2-40B4-BE49-F238E27FC236}">
                <a16:creationId xmlns:a16="http://schemas.microsoft.com/office/drawing/2014/main" id="{409444F8-A4A9-476E-9292-2EF922F66BF5}"/>
              </a:ext>
            </a:extLst>
          </p:cNvPr>
          <p:cNvSpPr>
            <a:spLocks noGrp="1"/>
          </p:cNvSpPr>
          <p:nvPr/>
        </p:nvSpPr>
        <p:spPr>
          <a:xfrm>
            <a:off x="8572500" y="3429000"/>
            <a:ext cx="238125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52,118</a:t>
            </a:r>
          </a:p>
        </p:txBody>
      </p:sp>
      <p:sp>
        <p:nvSpPr>
          <p:cNvPr id="10" name="직사각형 9">
            <a:extLst>
              <a:ext uri="{FF2B5EF4-FFF2-40B4-BE49-F238E27FC236}">
                <a16:creationId xmlns:a16="http://schemas.microsoft.com/office/drawing/2014/main" id="{5327152C-62FA-4541-8FE5-05C5DA4F9733}"/>
              </a:ext>
            </a:extLst>
          </p:cNvPr>
          <p:cNvSpPr>
            <a:spLocks noGrp="1"/>
          </p:cNvSpPr>
          <p:nvPr/>
        </p:nvSpPr>
        <p:spPr>
          <a:xfrm>
            <a:off x="8572500" y="405765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Validation</a:t>
            </a:r>
          </a:p>
        </p:txBody>
      </p:sp>
      <p:sp>
        <p:nvSpPr>
          <p:cNvPr id="11" name="직사각형 10">
            <a:extLst>
              <a:ext uri="{FF2B5EF4-FFF2-40B4-BE49-F238E27FC236}">
                <a16:creationId xmlns:a16="http://schemas.microsoft.com/office/drawing/2014/main" id="{57201500-0CB1-4FBA-9555-33AAA667F7DD}"/>
              </a:ext>
            </a:extLst>
          </p:cNvPr>
          <p:cNvSpPr>
            <a:spLocks noGrp="1"/>
          </p:cNvSpPr>
          <p:nvPr/>
        </p:nvSpPr>
        <p:spPr>
          <a:xfrm>
            <a:off x="8572500" y="4953000"/>
            <a:ext cx="2857500" cy="457200"/>
          </a:xfrm>
          <a:prstGeom prst="rect">
            <a:avLst/>
          </a:prstGeom>
          <a:noFill/>
          <a:ln w="0">
            <a:noFill/>
          </a:ln>
        </p:spPr>
        <p:txBody>
          <a:bodyPr/>
          <a:lstStyle/>
          <a:p>
            <a:pPr algn="l">
              <a:buNone/>
              <a:defRPr sz="1650" b="1" i="0">
                <a:solidFill>
                  <a:srgbClr val="122033"/>
                </a:solidFill>
                <a:latin typeface="Malgun Gothic"/>
                <a:ea typeface="Malgun Gothic"/>
                <a:cs typeface="Malgun Gothic"/>
              </a:defRPr>
            </a:pPr>
            <a:r>
              <a:rPr sz="1650" b="1" i="0">
                <a:solidFill>
                  <a:srgbClr val="122033"/>
                </a:solidFill>
                <a:latin typeface="Malgun Gothic"/>
                <a:ea typeface="Malgun Gothic"/>
                <a:cs typeface="Malgun Gothic"/>
              </a:rPr>
              <a:t>클래스 비율 14.13~14.35%</a:t>
            </a:r>
          </a:p>
        </p:txBody>
      </p:sp>
      <p:sp>
        <p:nvSpPr>
          <p:cNvPr id="12" name="직사각형 11">
            <a:extLst>
              <a:ext uri="{FF2B5EF4-FFF2-40B4-BE49-F238E27FC236}">
                <a16:creationId xmlns:a16="http://schemas.microsoft.com/office/drawing/2014/main" id="{1ACAA6C0-8EBF-494C-A1D0-C765AB67E309}"/>
              </a:ext>
            </a:extLst>
          </p:cNvPr>
          <p:cNvSpPr>
            <a:spLocks noGrp="1"/>
          </p:cNvSpPr>
          <p:nvPr/>
        </p:nvSpPr>
        <p:spPr>
          <a:xfrm>
            <a:off x="8572500" y="5410200"/>
            <a:ext cx="2857500" cy="4000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오버샘플링 필요성 낮음</a:t>
            </a:r>
          </a:p>
        </p:txBody>
      </p:sp>
      <p:graphicFrame>
        <p:nvGraphicFramePr>
          <p:cNvPr id="26" name="Chart"/>
          <p:cNvGraphicFramePr/>
          <p:nvPr/>
        </p:nvGraphicFramePr>
        <p:xfrm>
          <a:off x="609600" y="1619250"/>
          <a:ext cx="7524750" cy="40005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780583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48A02D74-FD0E-44A4-AAB3-14222DFF8F4E}"/>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데이터 범위와 품질 점검</a:t>
            </a:r>
          </a:p>
        </p:txBody>
      </p:sp>
      <p:sp>
        <p:nvSpPr>
          <p:cNvPr id="2" name="직사각형 1">
            <a:extLst>
              <a:ext uri="{FF2B5EF4-FFF2-40B4-BE49-F238E27FC236}">
                <a16:creationId xmlns:a16="http://schemas.microsoft.com/office/drawing/2014/main" id="{22442A2E-86ED-49B1-85EC-7C74C57793D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데이터 범위 결정, 손상 파일, 방향 정보와 인물 중복</a:t>
            </a:r>
          </a:p>
        </p:txBody>
      </p:sp>
      <p:sp>
        <p:nvSpPr>
          <p:cNvPr id="3" name="직선 연결선 2">
            <a:extLst>
              <a:ext uri="{FF2B5EF4-FFF2-40B4-BE49-F238E27FC236}">
                <a16:creationId xmlns:a16="http://schemas.microsoft.com/office/drawing/2014/main" id="{6234A63E-AEEC-4BDB-9FA1-E90BCA51DD5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0F75341A-F506-4D9C-9EE5-617D3F24E3A1}"/>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0D6C382-CA08-49C3-B63B-8FCB3D87FD9C}"/>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06</a:t>
            </a:r>
          </a:p>
        </p:txBody>
      </p:sp>
      <p:sp>
        <p:nvSpPr>
          <p:cNvPr id="6" name="직사각형 5">
            <a:extLst>
              <a:ext uri="{FF2B5EF4-FFF2-40B4-BE49-F238E27FC236}">
                <a16:creationId xmlns:a16="http://schemas.microsoft.com/office/drawing/2014/main" id="{C0BADD82-5F6B-46FE-94F3-FB13E7BF09A4}"/>
              </a:ext>
            </a:extLst>
          </p:cNvPr>
          <p:cNvSpPr>
            <a:spLocks noGrp="1"/>
          </p:cNvSpPr>
          <p:nvPr/>
        </p:nvSpPr>
        <p:spPr>
          <a:xfrm>
            <a:off x="704850" y="17335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193,589</a:t>
            </a:r>
          </a:p>
        </p:txBody>
      </p:sp>
      <p:sp>
        <p:nvSpPr>
          <p:cNvPr id="7" name="직사각형 6">
            <a:extLst>
              <a:ext uri="{FF2B5EF4-FFF2-40B4-BE49-F238E27FC236}">
                <a16:creationId xmlns:a16="http://schemas.microsoft.com/office/drawing/2014/main" id="{7285B3FB-3382-424B-BF35-20CFC9D991B0}"/>
              </a:ext>
            </a:extLst>
          </p:cNvPr>
          <p:cNvSpPr>
            <a:spLocks noGrp="1"/>
          </p:cNvSpPr>
          <p:nvPr/>
        </p:nvSpPr>
        <p:spPr>
          <a:xfrm>
            <a:off x="704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선택하지 않은 파트</a:t>
            </a:r>
          </a:p>
        </p:txBody>
      </p:sp>
      <p:sp>
        <p:nvSpPr>
          <p:cNvPr id="8" name="직사각형 7">
            <a:extLst>
              <a:ext uri="{FF2B5EF4-FFF2-40B4-BE49-F238E27FC236}">
                <a16:creationId xmlns:a16="http://schemas.microsoft.com/office/drawing/2014/main" id="{D060DD8F-B910-48A5-9744-D9E618983DD3}"/>
              </a:ext>
            </a:extLst>
          </p:cNvPr>
          <p:cNvSpPr>
            <a:spLocks noGrp="1"/>
          </p:cNvSpPr>
          <p:nvPr/>
        </p:nvSpPr>
        <p:spPr>
          <a:xfrm>
            <a:off x="3562350" y="1733550"/>
            <a:ext cx="238125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64E41917-893C-4376-8FBF-70DBDE7DF483}"/>
              </a:ext>
            </a:extLst>
          </p:cNvPr>
          <p:cNvSpPr>
            <a:spLocks noGrp="1"/>
          </p:cNvSpPr>
          <p:nvPr/>
        </p:nvSpPr>
        <p:spPr>
          <a:xfrm>
            <a:off x="3562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JPG 제외</a:t>
            </a:r>
          </a:p>
        </p:txBody>
      </p:sp>
      <p:sp>
        <p:nvSpPr>
          <p:cNvPr id="10" name="직사각형 9">
            <a:extLst>
              <a:ext uri="{FF2B5EF4-FFF2-40B4-BE49-F238E27FC236}">
                <a16:creationId xmlns:a16="http://schemas.microsoft.com/office/drawing/2014/main" id="{2B1713AA-EFAC-44F6-853F-C3CA4082193F}"/>
              </a:ext>
            </a:extLst>
          </p:cNvPr>
          <p:cNvSpPr>
            <a:spLocks noGrp="1"/>
          </p:cNvSpPr>
          <p:nvPr/>
        </p:nvSpPr>
        <p:spPr>
          <a:xfrm>
            <a:off x="6419850" y="1733550"/>
            <a:ext cx="2381250" cy="609600"/>
          </a:xfrm>
          <a:prstGeom prst="rect">
            <a:avLst/>
          </a:prstGeom>
          <a:noFill/>
          <a:ln w="0">
            <a:noFill/>
          </a:ln>
        </p:spPr>
        <p:txBody>
          <a:bodyPr/>
          <a:lstStyle/>
          <a:p>
            <a:pPr algn="l">
              <a:buNone/>
              <a:defRPr sz="3600" b="1" i="0">
                <a:solidFill>
                  <a:srgbClr val="F4B740"/>
                </a:solidFill>
                <a:latin typeface="Malgun Gothic"/>
                <a:ea typeface="Malgun Gothic"/>
                <a:cs typeface="Malgun Gothic"/>
              </a:defRPr>
            </a:pPr>
            <a:r>
              <a:rPr sz="3600" b="1" i="0">
                <a:solidFill>
                  <a:srgbClr val="F4B740"/>
                </a:solidFill>
                <a:latin typeface="Malgun Gothic"/>
                <a:ea typeface="Malgun Gothic"/>
                <a:cs typeface="Malgun Gothic"/>
              </a:rPr>
              <a:t>528</a:t>
            </a:r>
          </a:p>
        </p:txBody>
      </p:sp>
      <p:sp>
        <p:nvSpPr>
          <p:cNvPr id="11" name="직사각형 10">
            <a:extLst>
              <a:ext uri="{FF2B5EF4-FFF2-40B4-BE49-F238E27FC236}">
                <a16:creationId xmlns:a16="http://schemas.microsoft.com/office/drawing/2014/main" id="{FF9DD058-CB44-4143-A199-A9EF975A86E9}"/>
              </a:ext>
            </a:extLst>
          </p:cNvPr>
          <p:cNvSpPr>
            <a:spLocks noGrp="1"/>
          </p:cNvSpPr>
          <p:nvPr/>
        </p:nvSpPr>
        <p:spPr>
          <a:xfrm>
            <a:off x="64198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분할 간 공통 식별자</a:t>
            </a:r>
          </a:p>
        </p:txBody>
      </p:sp>
      <p:sp>
        <p:nvSpPr>
          <p:cNvPr id="12" name="직사각형 11">
            <a:extLst>
              <a:ext uri="{FF2B5EF4-FFF2-40B4-BE49-F238E27FC236}">
                <a16:creationId xmlns:a16="http://schemas.microsoft.com/office/drawing/2014/main" id="{D305C31B-3FC1-4D88-B725-E523902411D3}"/>
              </a:ext>
            </a:extLst>
          </p:cNvPr>
          <p:cNvSpPr>
            <a:spLocks noGrp="1"/>
          </p:cNvSpPr>
          <p:nvPr/>
        </p:nvSpPr>
        <p:spPr>
          <a:xfrm>
            <a:off x="9277350" y="1733550"/>
            <a:ext cx="2381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83,308</a:t>
            </a:r>
          </a:p>
        </p:txBody>
      </p:sp>
      <p:sp>
        <p:nvSpPr>
          <p:cNvPr id="13" name="직사각형 12">
            <a:extLst>
              <a:ext uri="{FF2B5EF4-FFF2-40B4-BE49-F238E27FC236}">
                <a16:creationId xmlns:a16="http://schemas.microsoft.com/office/drawing/2014/main" id="{285B8614-D243-4758-9D12-B3E5C319B9F6}"/>
              </a:ext>
            </a:extLst>
          </p:cNvPr>
          <p:cNvSpPr>
            <a:spLocks noGrp="1"/>
          </p:cNvSpPr>
          <p:nvPr/>
        </p:nvSpPr>
        <p:spPr>
          <a:xfrm>
            <a:off x="9277350" y="23622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방향 보정</a:t>
            </a:r>
          </a:p>
        </p:txBody>
      </p:sp>
      <p:sp>
        <p:nvSpPr>
          <p:cNvPr id="14" name="직사각형 13">
            <a:extLst>
              <a:ext uri="{FF2B5EF4-FFF2-40B4-BE49-F238E27FC236}">
                <a16:creationId xmlns:a16="http://schemas.microsoft.com/office/drawing/2014/main" id="{A54A0C70-9DF9-405C-8B13-A453DF04336A}"/>
              </a:ext>
            </a:extLst>
          </p:cNvPr>
          <p:cNvSpPr>
            <a:spLocks noGrp="1"/>
          </p:cNvSpPr>
          <p:nvPr/>
        </p:nvSpPr>
        <p:spPr>
          <a:xfrm>
            <a:off x="723900" y="3695700"/>
            <a:ext cx="1524000" cy="38100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해석</a:t>
            </a:r>
          </a:p>
        </p:txBody>
      </p:sp>
      <p:sp>
        <p:nvSpPr>
          <p:cNvPr id="15" name="직사각형 14">
            <a:extLst>
              <a:ext uri="{FF2B5EF4-FFF2-40B4-BE49-F238E27FC236}">
                <a16:creationId xmlns:a16="http://schemas.microsoft.com/office/drawing/2014/main" id="{39EFBCAF-13B9-4996-AF39-414FB5E83CA8}"/>
              </a:ext>
            </a:extLst>
          </p:cNvPr>
          <p:cNvSpPr>
            <a:spLocks noGrp="1"/>
          </p:cNvSpPr>
          <p:nvPr/>
        </p:nvSpPr>
        <p:spPr>
          <a:xfrm>
            <a:off x="704850" y="4191000"/>
            <a:ext cx="10382250" cy="1619250"/>
          </a:xfrm>
          <a:prstGeom prst="rect">
            <a:avLst/>
          </a:prstGeom>
          <a:noFill/>
          <a:ln w="0">
            <a:noFill/>
          </a:ln>
        </p:spPr>
        <p:txBody>
          <a:bodyPr/>
          <a:lstStyle/>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시간 제약으로 감정별 Training 4개 파트 중 2개만 선택해 사용했다.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선택하지 않은 파트의 라벨 193,589건에는 대응 JPG가 없으며 전처리 실패가 아니다.</a:t>
            </a:r>
          </a:p>
          <a:p>
            <a:pPr marL="228600" indent="-101600">
              <a:spcAft>
                <a:spcPts val="1100"/>
              </a:spcAft>
              <a:buChar char="•"/>
              <a:defRPr sz="1800">
                <a:solidFill>
                  <a:srgbClr val="122033"/>
                </a:solidFill>
                <a:latin typeface="Malgun Gothic"/>
                <a:ea typeface="Malgun Gothic"/>
                <a:cs typeface="Malgun Gothic"/>
              </a:defRPr>
            </a:pPr>
            <a:r>
              <a:rPr sz="1800">
                <a:solidFill>
                  <a:srgbClr val="122033"/>
                </a:solidFill>
                <a:latin typeface="Malgun Gothic"/>
                <a:ea typeface="Malgun Gothic"/>
                <a:cs typeface="Malgun Gothic"/>
              </a:rPr>
              <a:t>같은 인물의 유사 이미지가 두 분할에 섞이면 Validation 성능이 높아질 수 있다.</a:t>
            </a:r>
          </a:p>
        </p:txBody>
      </p:sp>
    </p:spTree>
    <p:extLst>
      <p:ext uri="{BB962C8B-B14F-4D97-AF65-F5344CB8AC3E}">
        <p14:creationId xmlns:p14="http://schemas.microsoft.com/office/powerpoint/2010/main" val="83158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8" name="직사각형 7">
            <a:extLst>
              <a:ext uri="{FF2B5EF4-FFF2-40B4-BE49-F238E27FC236}">
                <a16:creationId xmlns:a16="http://schemas.microsoft.com/office/drawing/2014/main" id="{E76DB245-714C-4ADF-9E3F-805CF7428B07}"/>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설계</a:t>
            </a:r>
          </a:p>
        </p:txBody>
      </p:sp>
      <p:sp>
        <p:nvSpPr>
          <p:cNvPr id="2" name="직사각형 1">
            <a:extLst>
              <a:ext uri="{FF2B5EF4-FFF2-40B4-BE49-F238E27FC236}">
                <a16:creationId xmlns:a16="http://schemas.microsoft.com/office/drawing/2014/main" id="{13D5274B-2384-4D72-AFA6-4A663C0B5418}"/>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표정 형태를 보존하면서 세 모델의 입력 규격을 통일</a:t>
            </a:r>
          </a:p>
        </p:txBody>
      </p:sp>
      <p:sp>
        <p:nvSpPr>
          <p:cNvPr id="3" name="직선 연결선 2">
            <a:extLst>
              <a:ext uri="{FF2B5EF4-FFF2-40B4-BE49-F238E27FC236}">
                <a16:creationId xmlns:a16="http://schemas.microsoft.com/office/drawing/2014/main" id="{B462598A-8319-4D78-918A-66042D40401F}"/>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7AD307A-CE44-4310-ACDD-124477361A67}"/>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1F0B08BC-5EEB-48A8-A20D-CCD90A28BE36}"/>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07</a:t>
            </a:r>
          </a:p>
        </p:txBody>
      </p:sp>
      <p:graphicFrame>
        <p:nvGraphicFramePr>
          <p:cNvPr id="15" name="표 12"/>
          <p:cNvGraphicFramePr/>
          <p:nvPr/>
        </p:nvGraphicFramePr>
        <p:xfrm>
          <a:off x="609600" y="1676400"/>
          <a:ext cx="10668000" cy="3905250"/>
        </p:xfrm>
        <a:graphic>
          <a:graphicData uri="http://schemas.openxmlformats.org/drawingml/2006/table">
            <a:tbl>
              <a:tblPr/>
              <a:tblGrid>
                <a:gridCol w="2081561">
                  <a:extLst>
                    <a:ext uri="{9D8B030D-6E8A-4147-A177-3AD203B41FA5}">
                      <a16:colId xmlns:a16="http://schemas.microsoft.com/office/drawing/2014/main" val="20000"/>
                    </a:ext>
                  </a:extLst>
                </a:gridCol>
                <a:gridCol w="2992244">
                  <a:extLst>
                    <a:ext uri="{9D8B030D-6E8A-4147-A177-3AD203B41FA5}">
                      <a16:colId xmlns:a16="http://schemas.microsoft.com/office/drawing/2014/main" val="20001"/>
                    </a:ext>
                  </a:extLst>
                </a:gridCol>
                <a:gridCol w="5594195">
                  <a:extLst>
                    <a:ext uri="{9D8B030D-6E8A-4147-A177-3AD203B41FA5}">
                      <a16:colId xmlns:a16="http://schemas.microsoft.com/office/drawing/2014/main" val="20002"/>
                    </a:ext>
                  </a:extLst>
                </a:gridCol>
              </a:tblGrid>
              <a:tr h="650875">
                <a:tc>
                  <a:txBody>
                    <a:bodyPr/>
                    <a:lstStyle/>
                    <a:p>
                      <a:pPr algn="l">
                        <a:buNone/>
                      </a:pPr>
                      <a:r>
                        <a:rPr sz="1500" b="1">
                          <a:solidFill>
                            <a:srgbClr val="FFFFFF"/>
                          </a:solidFill>
                          <a:latin typeface="Malgun Gothic"/>
                          <a:ea typeface="Malgun Gothic"/>
                          <a:cs typeface="Malgun Gothic"/>
                        </a:rPr>
                        <a:t>처리</a:t>
                      </a:r>
                    </a:p>
                  </a:txBody>
                  <a:tcPr>
                    <a:solidFill>
                      <a:srgbClr val="0B1526"/>
                    </a:solidFill>
                  </a:tcPr>
                </a:tc>
                <a:tc>
                  <a:txBody>
                    <a:bodyPr/>
                    <a:lstStyle/>
                    <a:p>
                      <a:pPr algn="l">
                        <a:buNone/>
                      </a:pPr>
                      <a:r>
                        <a:rPr sz="1500" b="1">
                          <a:solidFill>
                            <a:srgbClr val="FFFFFF"/>
                          </a:solidFill>
                          <a:latin typeface="Malgun Gothic"/>
                          <a:ea typeface="Malgun Gothic"/>
                          <a:cs typeface="Malgun Gothic"/>
                        </a:rPr>
                        <a:t>선택</a:t>
                      </a:r>
                    </a:p>
                  </a:txBody>
                  <a:tcPr>
                    <a:solidFill>
                      <a:srgbClr val="0B1526"/>
                    </a:solidFill>
                  </a:tcPr>
                </a:tc>
                <a:tc>
                  <a:txBody>
                    <a:bodyPr/>
                    <a:lstStyle/>
                    <a:p>
                      <a:pPr algn="l">
                        <a:buNone/>
                      </a:pPr>
                      <a:r>
                        <a:rPr sz="1500" b="1">
                          <a:solidFill>
                            <a:srgbClr val="FFFFFF"/>
                          </a:solidFill>
                          <a:latin typeface="Malgun Gothic"/>
                          <a:ea typeface="Malgun Gothic"/>
                          <a:cs typeface="Malgun Gothic"/>
                        </a:rPr>
                        <a:t>이유</a:t>
                      </a:r>
                    </a:p>
                  </a:txBody>
                  <a:tcPr>
                    <a:solidFill>
                      <a:srgbClr val="0B1526"/>
                    </a:solidFill>
                  </a:tcPr>
                </a:tc>
                <a:extLst>
                  <a:ext uri="{0D108BD9-81ED-4DB2-BD59-A6C34878D82A}">
                    <a16:rowId xmlns:a16="http://schemas.microsoft.com/office/drawing/2014/main" val="10000"/>
                  </a:ext>
                </a:extLst>
              </a:tr>
              <a:tr h="650875">
                <a:tc>
                  <a:txBody>
                    <a:bodyPr/>
                    <a:lstStyle/>
                    <a:p>
                      <a:pPr algn="l">
                        <a:buNone/>
                      </a:pPr>
                      <a:r>
                        <a:rPr sz="1425" b="0">
                          <a:solidFill>
                            <a:srgbClr val="122033"/>
                          </a:solidFill>
                          <a:latin typeface="Malgun Gothic"/>
                          <a:ea typeface="Malgun Gothic"/>
                          <a:cs typeface="Malgun Gothic"/>
                        </a:rPr>
                        <a:t>입력 크기</a:t>
                      </a:r>
                    </a:p>
                  </a:txBody>
                  <a:tcPr>
                    <a:solidFill>
                      <a:srgbClr val="FFFFFF"/>
                    </a:solidFill>
                  </a:tcPr>
                </a:tc>
                <a:tc>
                  <a:txBody>
                    <a:bodyPr/>
                    <a:lstStyle/>
                    <a:p>
                      <a:pPr algn="l">
                        <a:buNone/>
                      </a:pPr>
                      <a:r>
                        <a:rPr sz="1425" b="0">
                          <a:solidFill>
                            <a:srgbClr val="122033"/>
                          </a:solidFill>
                          <a:latin typeface="Malgun Gothic"/>
                          <a:ea typeface="Malgun Gothic"/>
                          <a:cs typeface="Malgun Gothic"/>
                        </a:rPr>
                        <a:t>224×224</a:t>
                      </a:r>
                    </a:p>
                  </a:txBody>
                  <a:tcPr>
                    <a:solidFill>
                      <a:srgbClr val="FFFFFF"/>
                    </a:solidFill>
                  </a:tcPr>
                </a:tc>
                <a:tc>
                  <a:txBody>
                    <a:bodyPr/>
                    <a:lstStyle/>
                    <a:p>
                      <a:pPr algn="l">
                        <a:buNone/>
                      </a:pPr>
                      <a:r>
                        <a:rPr sz="1425" b="0">
                          <a:solidFill>
                            <a:srgbClr val="122033"/>
                          </a:solidFill>
                          <a:latin typeface="Malgun Gothic"/>
                          <a:ea typeface="Malgun Gothic"/>
                          <a:cs typeface="Malgun Gothic"/>
                        </a:rPr>
                        <a:t>Torchvision 사전학습 모델 호환성과 계산량</a:t>
                      </a:r>
                    </a:p>
                  </a:txBody>
                  <a:tcPr>
                    <a:solidFill>
                      <a:srgbClr val="FFFFFF"/>
                    </a:solidFill>
                  </a:tcPr>
                </a:tc>
                <a:extLst>
                  <a:ext uri="{0D108BD9-81ED-4DB2-BD59-A6C34878D82A}">
                    <a16:rowId xmlns:a16="http://schemas.microsoft.com/office/drawing/2014/main" val="10001"/>
                  </a:ext>
                </a:extLst>
              </a:tr>
              <a:tr h="650875">
                <a:tc>
                  <a:txBody>
                    <a:bodyPr/>
                    <a:lstStyle/>
                    <a:p>
                      <a:pPr algn="l">
                        <a:buNone/>
                      </a:pPr>
                      <a:r>
                        <a:rPr sz="1425" b="0">
                          <a:solidFill>
                            <a:srgbClr val="122033"/>
                          </a:solidFill>
                          <a:latin typeface="Malgun Gothic"/>
                          <a:ea typeface="Malgun Gothic"/>
                          <a:cs typeface="Malgun Gothic"/>
                        </a:rPr>
                        <a:t>방향</a:t>
                      </a:r>
                    </a:p>
                  </a:txBody>
                  <a:tcPr>
                    <a:solidFill>
                      <a:srgbClr val="F7F8FA"/>
                    </a:solidFill>
                  </a:tcPr>
                </a:tc>
                <a:tc>
                  <a:txBody>
                    <a:bodyPr/>
                    <a:lstStyle/>
                    <a:p>
                      <a:pPr algn="l">
                        <a:buNone/>
                      </a:pPr>
                      <a:r>
                        <a:rPr sz="1425" b="0">
                          <a:solidFill>
                            <a:srgbClr val="122033"/>
                          </a:solidFill>
                          <a:latin typeface="Malgun Gothic"/>
                          <a:ea typeface="Malgun Gothic"/>
                          <a:cs typeface="Malgun Gothic"/>
                        </a:rPr>
                        <a:t>EXIF 픽셀 보정</a:t>
                      </a:r>
                    </a:p>
                  </a:txBody>
                  <a:tcPr>
                    <a:solidFill>
                      <a:srgbClr val="F7F8FA"/>
                    </a:solidFill>
                  </a:tcPr>
                </a:tc>
                <a:tc>
                  <a:txBody>
                    <a:bodyPr/>
                    <a:lstStyle/>
                    <a:p>
                      <a:pPr algn="l">
                        <a:buNone/>
                      </a:pPr>
                      <a:r>
                        <a:rPr sz="1425" b="0">
                          <a:solidFill>
                            <a:srgbClr val="122033"/>
                          </a:solidFill>
                          <a:latin typeface="Malgun Gothic"/>
                          <a:ea typeface="Malgun Gothic"/>
                          <a:cs typeface="Malgun Gothic"/>
                        </a:rPr>
                        <a:t>옆·거꾸로 된 얼굴 방지</a:t>
                      </a:r>
                    </a:p>
                  </a:txBody>
                  <a:tcPr>
                    <a:solidFill>
                      <a:srgbClr val="F7F8FA"/>
                    </a:solidFill>
                  </a:tcPr>
                </a:tc>
                <a:extLst>
                  <a:ext uri="{0D108BD9-81ED-4DB2-BD59-A6C34878D82A}">
                    <a16:rowId xmlns:a16="http://schemas.microsoft.com/office/drawing/2014/main" val="10002"/>
                  </a:ext>
                </a:extLst>
              </a:tr>
              <a:tr h="650875">
                <a:tc>
                  <a:txBody>
                    <a:bodyPr/>
                    <a:lstStyle/>
                    <a:p>
                      <a:pPr algn="l">
                        <a:buNone/>
                      </a:pPr>
                      <a:r>
                        <a:rPr sz="1425" b="0">
                          <a:solidFill>
                            <a:srgbClr val="122033"/>
                          </a:solidFill>
                          <a:latin typeface="Malgun Gothic"/>
                          <a:ea typeface="Malgun Gothic"/>
                          <a:cs typeface="Malgun Gothic"/>
                        </a:rPr>
                        <a:t>채널</a:t>
                      </a:r>
                    </a:p>
                  </a:txBody>
                  <a:tcPr>
                    <a:solidFill>
                      <a:srgbClr val="FFFFFF"/>
                    </a:solidFill>
                  </a:tcPr>
                </a:tc>
                <a:tc>
                  <a:txBody>
                    <a:bodyPr/>
                    <a:lstStyle/>
                    <a:p>
                      <a:pPr algn="l">
                        <a:buNone/>
                      </a:pPr>
                      <a:r>
                        <a:rPr sz="1425" b="0">
                          <a:solidFill>
                            <a:srgbClr val="122033"/>
                          </a:solidFill>
                          <a:latin typeface="Malgun Gothic"/>
                          <a:ea typeface="Malgun Gothic"/>
                          <a:cs typeface="Malgun Gothic"/>
                        </a:rPr>
                        <a:t>1채널 흑백</a:t>
                      </a:r>
                    </a:p>
                  </a:txBody>
                  <a:tcPr>
                    <a:solidFill>
                      <a:srgbClr val="FFFFFF"/>
                    </a:solidFill>
                  </a:tcPr>
                </a:tc>
                <a:tc>
                  <a:txBody>
                    <a:bodyPr/>
                    <a:lstStyle/>
                    <a:p>
                      <a:pPr algn="l">
                        <a:buNone/>
                      </a:pPr>
                      <a:r>
                        <a:rPr sz="1425" b="0">
                          <a:solidFill>
                            <a:srgbClr val="122033"/>
                          </a:solidFill>
                          <a:latin typeface="Malgun Gothic"/>
                          <a:ea typeface="Malgun Gothic"/>
                          <a:cs typeface="Malgun Gothic"/>
                        </a:rPr>
                        <a:t>형태·명암 집중, 저장량 감소</a:t>
                      </a:r>
                    </a:p>
                  </a:txBody>
                  <a:tcPr>
                    <a:solidFill>
                      <a:srgbClr val="FFFFFF"/>
                    </a:solidFill>
                  </a:tcPr>
                </a:tc>
                <a:extLst>
                  <a:ext uri="{0D108BD9-81ED-4DB2-BD59-A6C34878D82A}">
                    <a16:rowId xmlns:a16="http://schemas.microsoft.com/office/drawing/2014/main" val="10003"/>
                  </a:ext>
                </a:extLst>
              </a:tr>
              <a:tr h="650875">
                <a:tc>
                  <a:txBody>
                    <a:bodyPr/>
                    <a:lstStyle/>
                    <a:p>
                      <a:pPr algn="l">
                        <a:buNone/>
                      </a:pPr>
                      <a:r>
                        <a:rPr sz="1425" b="0">
                          <a:solidFill>
                            <a:srgbClr val="122033"/>
                          </a:solidFill>
                          <a:latin typeface="Malgun Gothic"/>
                          <a:ea typeface="Malgun Gothic"/>
                          <a:cs typeface="Malgun Gothic"/>
                        </a:rPr>
                        <a:t>비율</a:t>
                      </a:r>
                    </a:p>
                  </a:txBody>
                  <a:tcPr>
                    <a:solidFill>
                      <a:srgbClr val="F7F8FA"/>
                    </a:solidFill>
                  </a:tcPr>
                </a:tc>
                <a:tc>
                  <a:txBody>
                    <a:bodyPr/>
                    <a:lstStyle/>
                    <a:p>
                      <a:pPr algn="l">
                        <a:buNone/>
                      </a:pPr>
                      <a:r>
                        <a:rPr sz="1425" b="0">
                          <a:solidFill>
                            <a:srgbClr val="122033"/>
                          </a:solidFill>
                          <a:latin typeface="Malgun Gothic"/>
                          <a:ea typeface="Malgun Gothic"/>
                          <a:cs typeface="Malgun Gothic"/>
                        </a:rPr>
                        <a:t>종횡비 유지+패딩</a:t>
                      </a:r>
                    </a:p>
                  </a:txBody>
                  <a:tcPr>
                    <a:solidFill>
                      <a:srgbClr val="F7F8FA"/>
                    </a:solidFill>
                  </a:tcPr>
                </a:tc>
                <a:tc>
                  <a:txBody>
                    <a:bodyPr/>
                    <a:lstStyle/>
                    <a:p>
                      <a:pPr algn="l">
                        <a:buNone/>
                      </a:pPr>
                      <a:r>
                        <a:rPr sz="1425" b="0">
                          <a:solidFill>
                            <a:srgbClr val="122033"/>
                          </a:solidFill>
                          <a:latin typeface="Malgun Gothic"/>
                          <a:ea typeface="Malgun Gothic"/>
                          <a:cs typeface="Malgun Gothic"/>
                        </a:rPr>
                        <a:t>얼굴 눌림과 늘어남 방지</a:t>
                      </a:r>
                    </a:p>
                  </a:txBody>
                  <a:tcPr>
                    <a:solidFill>
                      <a:srgbClr val="F7F8FA"/>
                    </a:solidFill>
                  </a:tcPr>
                </a:tc>
                <a:extLst>
                  <a:ext uri="{0D108BD9-81ED-4DB2-BD59-A6C34878D82A}">
                    <a16:rowId xmlns:a16="http://schemas.microsoft.com/office/drawing/2014/main" val="10004"/>
                  </a:ext>
                </a:extLst>
              </a:tr>
              <a:tr h="650875">
                <a:tc>
                  <a:txBody>
                    <a:bodyPr/>
                    <a:lstStyle/>
                    <a:p>
                      <a:pPr algn="l">
                        <a:buNone/>
                      </a:pPr>
                      <a:r>
                        <a:rPr sz="1425" b="0">
                          <a:solidFill>
                            <a:srgbClr val="122033"/>
                          </a:solidFill>
                          <a:latin typeface="Malgun Gothic"/>
                          <a:ea typeface="Malgun Gothic"/>
                          <a:cs typeface="Malgun Gothic"/>
                        </a:rPr>
                        <a:t>형식</a:t>
                      </a:r>
                    </a:p>
                  </a:txBody>
                  <a:tcPr>
                    <a:solidFill>
                      <a:srgbClr val="FFFFFF"/>
                    </a:solidFill>
                  </a:tcPr>
                </a:tc>
                <a:tc>
                  <a:txBody>
                    <a:bodyPr/>
                    <a:lstStyle/>
                    <a:p>
                      <a:pPr algn="l">
                        <a:buNone/>
                      </a:pPr>
                      <a:r>
                        <a:rPr sz="1425" b="0">
                          <a:solidFill>
                            <a:srgbClr val="122033"/>
                          </a:solidFill>
                          <a:latin typeface="Malgun Gothic"/>
                          <a:ea typeface="Malgun Gothic"/>
                          <a:cs typeface="Malgun Gothic"/>
                        </a:rPr>
                        <a:t>PNG</a:t>
                      </a:r>
                    </a:p>
                  </a:txBody>
                  <a:tcPr>
                    <a:solidFill>
                      <a:srgbClr val="FFFFFF"/>
                    </a:solidFill>
                  </a:tcPr>
                </a:tc>
                <a:tc>
                  <a:txBody>
                    <a:bodyPr/>
                    <a:lstStyle/>
                    <a:p>
                      <a:pPr algn="l">
                        <a:buNone/>
                      </a:pPr>
                      <a:r>
                        <a:rPr sz="1425" b="0">
                          <a:solidFill>
                            <a:srgbClr val="122033"/>
                          </a:solidFill>
                          <a:latin typeface="Malgun Gothic"/>
                          <a:ea typeface="Malgun Gothic"/>
                          <a:cs typeface="Malgun Gothic"/>
                        </a:rPr>
                        <a:t>재저장 손실 없이 입력 고정</a:t>
                      </a:r>
                    </a:p>
                  </a:txBody>
                  <a:tcP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656105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2A7F9B9-5053-46A9-B71F-B22786C964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이미지 변환 전후</a:t>
            </a:r>
          </a:p>
        </p:txBody>
      </p:sp>
      <p:sp>
        <p:nvSpPr>
          <p:cNvPr id="2" name="직사각형 1">
            <a:extLst>
              <a:ext uri="{FF2B5EF4-FFF2-40B4-BE49-F238E27FC236}">
                <a16:creationId xmlns:a16="http://schemas.microsoft.com/office/drawing/2014/main" id="{3C3FC528-001C-4CAF-BB13-4E57046F7240}"/>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원본 비율을 유지하고 검정 패딩으로 224×224 통일</a:t>
            </a:r>
          </a:p>
        </p:txBody>
      </p:sp>
      <p:sp>
        <p:nvSpPr>
          <p:cNvPr id="3" name="직선 연결선 2">
            <a:extLst>
              <a:ext uri="{FF2B5EF4-FFF2-40B4-BE49-F238E27FC236}">
                <a16:creationId xmlns:a16="http://schemas.microsoft.com/office/drawing/2014/main" id="{0D1A2A7B-C69A-4E7A-893B-8914BF98178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1C828ACE-5687-413A-B63D-01CDD537233C}"/>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F327772C-48B5-4E76-9198-3C628F98184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08</a:t>
            </a:r>
          </a:p>
        </p:txBody>
      </p:sp>
      <p:sp>
        <p:nvSpPr>
          <p:cNvPr id="6" name="직사각형 5">
            <a:extLst>
              <a:ext uri="{FF2B5EF4-FFF2-40B4-BE49-F238E27FC236}">
                <a16:creationId xmlns:a16="http://schemas.microsoft.com/office/drawing/2014/main" id="{C7024ADA-E37D-4C2F-B692-22043551F362}"/>
              </a:ext>
            </a:extLst>
          </p:cNvPr>
          <p:cNvSpPr>
            <a:spLocks noGrp="1"/>
          </p:cNvSpPr>
          <p:nvPr/>
        </p:nvSpPr>
        <p:spPr>
          <a:xfrm>
            <a:off x="762000" y="1562100"/>
            <a:ext cx="485775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원본 JPG</a:t>
            </a:r>
          </a:p>
        </p:txBody>
      </p:sp>
      <p:pic>
        <p:nvPicPr>
          <p:cNvPr id="21" name="그림 17"/>
          <p:cNvPicPr>
            <a:picLocks noChangeAspect="1"/>
          </p:cNvPicPr>
          <p:nvPr/>
        </p:nvPicPr>
        <p:blipFill>
          <a:blip r:embed="rId3"/>
          <a:stretch/>
        </p:blipFill>
        <p:spPr>
          <a:xfrm>
            <a:off x="904875" y="1981200"/>
            <a:ext cx="4572000" cy="3429000"/>
          </a:xfrm>
          <a:prstGeom prst="rect">
            <a:avLst/>
          </a:prstGeom>
        </p:spPr>
      </p:pic>
      <p:sp>
        <p:nvSpPr>
          <p:cNvPr id="8" name="직사각형 7">
            <a:extLst>
              <a:ext uri="{FF2B5EF4-FFF2-40B4-BE49-F238E27FC236}">
                <a16:creationId xmlns:a16="http://schemas.microsoft.com/office/drawing/2014/main" id="{1417DE9E-0A25-4095-B266-ADAABD66A4F1}"/>
              </a:ext>
            </a:extLst>
          </p:cNvPr>
          <p:cNvSpPr>
            <a:spLocks noGrp="1"/>
          </p:cNvSpPr>
          <p:nvPr/>
        </p:nvSpPr>
        <p:spPr>
          <a:xfrm>
            <a:off x="6629400" y="1562100"/>
            <a:ext cx="4000500" cy="3429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전처리 PNG</a:t>
            </a:r>
          </a:p>
        </p:txBody>
      </p:sp>
      <p:pic>
        <p:nvPicPr>
          <p:cNvPr id="23" name="그림 19"/>
          <p:cNvPicPr>
            <a:picLocks noChangeAspect="1"/>
          </p:cNvPicPr>
          <p:nvPr/>
        </p:nvPicPr>
        <p:blipFill>
          <a:blip r:embed="rId4"/>
          <a:stretch/>
        </p:blipFill>
        <p:spPr>
          <a:xfrm>
            <a:off x="6915150" y="1981200"/>
            <a:ext cx="3429000" cy="3429000"/>
          </a:xfrm>
          <a:prstGeom prst="rect">
            <a:avLst/>
          </a:prstGeom>
        </p:spPr>
      </p:pic>
      <p:sp>
        <p:nvSpPr>
          <p:cNvPr id="10" name="직사각형 9">
            <a:extLst>
              <a:ext uri="{FF2B5EF4-FFF2-40B4-BE49-F238E27FC236}">
                <a16:creationId xmlns:a16="http://schemas.microsoft.com/office/drawing/2014/main" id="{01A6ACDA-3E66-48EA-AE8E-BD3C376752C3}"/>
              </a:ext>
            </a:extLst>
          </p:cNvPr>
          <p:cNvSpPr>
            <a:spLocks noGrp="1"/>
          </p:cNvSpPr>
          <p:nvPr/>
        </p:nvSpPr>
        <p:spPr>
          <a:xfrm>
            <a:off x="762000" y="5619750"/>
            <a:ext cx="22860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고해상도 RGB</a:t>
            </a:r>
          </a:p>
        </p:txBody>
      </p:sp>
      <p:sp>
        <p:nvSpPr>
          <p:cNvPr id="11" name="직사각형 10">
            <a:extLst>
              <a:ext uri="{FF2B5EF4-FFF2-40B4-BE49-F238E27FC236}">
                <a16:creationId xmlns:a16="http://schemas.microsoft.com/office/drawing/2014/main" id="{3C55ABD2-52FA-4E75-960F-03BF41795FF7}"/>
              </a:ext>
            </a:extLst>
          </p:cNvPr>
          <p:cNvSpPr>
            <a:spLocks noGrp="1"/>
          </p:cNvSpPr>
          <p:nvPr/>
        </p:nvSpPr>
        <p:spPr>
          <a:xfrm>
            <a:off x="6629400" y="5619750"/>
            <a:ext cx="4000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224×224 · 흑백 · 방향 보정</a:t>
            </a:r>
          </a:p>
        </p:txBody>
      </p:sp>
    </p:spTree>
    <p:extLst>
      <p:ext uri="{BB962C8B-B14F-4D97-AF65-F5344CB8AC3E}">
        <p14:creationId xmlns:p14="http://schemas.microsoft.com/office/powerpoint/2010/main" val="1736462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20" name="직사각형 19">
            <a:extLst>
              <a:ext uri="{FF2B5EF4-FFF2-40B4-BE49-F238E27FC236}">
                <a16:creationId xmlns:a16="http://schemas.microsoft.com/office/drawing/2014/main" id="{3A9A6EB9-C8FC-4260-9FED-B01035C9398A}"/>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전처리 결과</a:t>
            </a:r>
          </a:p>
        </p:txBody>
      </p:sp>
      <p:sp>
        <p:nvSpPr>
          <p:cNvPr id="2" name="직사각형 1">
            <a:extLst>
              <a:ext uri="{FF2B5EF4-FFF2-40B4-BE49-F238E27FC236}">
                <a16:creationId xmlns:a16="http://schemas.microsoft.com/office/drawing/2014/main" id="{BA56C209-9156-4D38-B76C-E0AEF10E87C1}"/>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중단 재실행과 오류 추적이 가능한 처리 구조</a:t>
            </a:r>
          </a:p>
        </p:txBody>
      </p:sp>
      <p:sp>
        <p:nvSpPr>
          <p:cNvPr id="3" name="직선 연결선 2">
            <a:extLst>
              <a:ext uri="{FF2B5EF4-FFF2-40B4-BE49-F238E27FC236}">
                <a16:creationId xmlns:a16="http://schemas.microsoft.com/office/drawing/2014/main" id="{4E06A48A-0800-462A-A251-DEA0D1856E44}"/>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20552C9-3A2D-4746-A62E-6857A2AD4AD2}"/>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E7D7903-F3FE-4CBF-8D03-481B080BA1A5}"/>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09</a:t>
            </a:r>
          </a:p>
        </p:txBody>
      </p:sp>
      <p:sp>
        <p:nvSpPr>
          <p:cNvPr id="6" name="직사각형 5">
            <a:extLst>
              <a:ext uri="{FF2B5EF4-FFF2-40B4-BE49-F238E27FC236}">
                <a16:creationId xmlns:a16="http://schemas.microsoft.com/office/drawing/2014/main" id="{9FF34967-0751-4E86-94AF-108A45521A32}"/>
              </a:ext>
            </a:extLst>
          </p:cNvPr>
          <p:cNvSpPr>
            <a:spLocks noGrp="1"/>
          </p:cNvSpPr>
          <p:nvPr/>
        </p:nvSpPr>
        <p:spPr>
          <a:xfrm>
            <a:off x="723900" y="1695450"/>
            <a:ext cx="22860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275,688</a:t>
            </a:r>
          </a:p>
        </p:txBody>
      </p:sp>
      <p:sp>
        <p:nvSpPr>
          <p:cNvPr id="7" name="직사각형 6">
            <a:extLst>
              <a:ext uri="{FF2B5EF4-FFF2-40B4-BE49-F238E27FC236}">
                <a16:creationId xmlns:a16="http://schemas.microsoft.com/office/drawing/2014/main" id="{B894593B-B61D-43A2-B120-326AA9C592D6}"/>
              </a:ext>
            </a:extLst>
          </p:cNvPr>
          <p:cNvSpPr>
            <a:spLocks noGrp="1"/>
          </p:cNvSpPr>
          <p:nvPr/>
        </p:nvSpPr>
        <p:spPr>
          <a:xfrm>
            <a:off x="72390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성공 이미지</a:t>
            </a:r>
          </a:p>
        </p:txBody>
      </p:sp>
      <p:sp>
        <p:nvSpPr>
          <p:cNvPr id="8" name="직사각형 7">
            <a:extLst>
              <a:ext uri="{FF2B5EF4-FFF2-40B4-BE49-F238E27FC236}">
                <a16:creationId xmlns:a16="http://schemas.microsoft.com/office/drawing/2014/main" id="{9E899BCC-1E74-4D42-ACB4-C410AB11ACF6}"/>
              </a:ext>
            </a:extLst>
          </p:cNvPr>
          <p:cNvSpPr>
            <a:spLocks noGrp="1"/>
          </p:cNvSpPr>
          <p:nvPr/>
        </p:nvSpPr>
        <p:spPr>
          <a:xfrm>
            <a:off x="3371850" y="1695450"/>
            <a:ext cx="2000250" cy="609600"/>
          </a:xfrm>
          <a:prstGeom prst="rect">
            <a:avLst/>
          </a:prstGeom>
          <a:noFill/>
          <a:ln w="0">
            <a:noFill/>
          </a:ln>
        </p:spPr>
        <p:txBody>
          <a:bodyPr/>
          <a:lstStyle/>
          <a:p>
            <a:pPr algn="l">
              <a:buNone/>
              <a:defRPr sz="3600" b="1" i="0">
                <a:solidFill>
                  <a:srgbClr val="D94D4D"/>
                </a:solidFill>
                <a:latin typeface="Malgun Gothic"/>
                <a:ea typeface="Malgun Gothic"/>
                <a:cs typeface="Malgun Gothic"/>
              </a:defRPr>
            </a:pPr>
            <a:r>
              <a:rPr sz="3600" b="1" i="0">
                <a:solidFill>
                  <a:srgbClr val="D94D4D"/>
                </a:solidFill>
                <a:latin typeface="Malgun Gothic"/>
                <a:ea typeface="Malgun Gothic"/>
                <a:cs typeface="Malgun Gothic"/>
              </a:rPr>
              <a:t>16</a:t>
            </a:r>
          </a:p>
        </p:txBody>
      </p:sp>
      <p:sp>
        <p:nvSpPr>
          <p:cNvPr id="9" name="직사각형 8">
            <a:extLst>
              <a:ext uri="{FF2B5EF4-FFF2-40B4-BE49-F238E27FC236}">
                <a16:creationId xmlns:a16="http://schemas.microsoft.com/office/drawing/2014/main" id="{C9EB62C6-09AB-496B-92EB-657769EBD9C7}"/>
              </a:ext>
            </a:extLst>
          </p:cNvPr>
          <p:cNvSpPr>
            <a:spLocks noGrp="1"/>
          </p:cNvSpPr>
          <p:nvPr/>
        </p:nvSpPr>
        <p:spPr>
          <a:xfrm>
            <a:off x="3371850" y="2324100"/>
            <a:ext cx="2000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손상 JPEG 제외</a:t>
            </a:r>
          </a:p>
        </p:txBody>
      </p:sp>
      <p:sp>
        <p:nvSpPr>
          <p:cNvPr id="10" name="직사각형 9">
            <a:extLst>
              <a:ext uri="{FF2B5EF4-FFF2-40B4-BE49-F238E27FC236}">
                <a16:creationId xmlns:a16="http://schemas.microsoft.com/office/drawing/2014/main" id="{527CE578-DFC2-45BA-B19F-6ABD9831764C}"/>
              </a:ext>
            </a:extLst>
          </p:cNvPr>
          <p:cNvSpPr>
            <a:spLocks noGrp="1"/>
          </p:cNvSpPr>
          <p:nvPr/>
        </p:nvSpPr>
        <p:spPr>
          <a:xfrm>
            <a:off x="5962650" y="1695450"/>
            <a:ext cx="22860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827,064</a:t>
            </a:r>
          </a:p>
        </p:txBody>
      </p:sp>
      <p:sp>
        <p:nvSpPr>
          <p:cNvPr id="11" name="직사각형 10">
            <a:extLst>
              <a:ext uri="{FF2B5EF4-FFF2-40B4-BE49-F238E27FC236}">
                <a16:creationId xmlns:a16="http://schemas.microsoft.com/office/drawing/2014/main" id="{98C6DBEB-59FF-44B4-BDA5-9080D431F639}"/>
              </a:ext>
            </a:extLst>
          </p:cNvPr>
          <p:cNvSpPr>
            <a:spLocks noGrp="1"/>
          </p:cNvSpPr>
          <p:nvPr/>
        </p:nvSpPr>
        <p:spPr>
          <a:xfrm>
            <a:off x="5962650" y="2324100"/>
            <a:ext cx="22860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변환 얼굴 박스</a:t>
            </a:r>
          </a:p>
        </p:txBody>
      </p:sp>
      <p:sp>
        <p:nvSpPr>
          <p:cNvPr id="12" name="직사각형 11">
            <a:extLst>
              <a:ext uri="{FF2B5EF4-FFF2-40B4-BE49-F238E27FC236}">
                <a16:creationId xmlns:a16="http://schemas.microsoft.com/office/drawing/2014/main" id="{489E0539-3B2A-4255-8E8D-F02470E392D5}"/>
              </a:ext>
            </a:extLst>
          </p:cNvPr>
          <p:cNvSpPr>
            <a:spLocks noGrp="1"/>
          </p:cNvSpPr>
          <p:nvPr/>
        </p:nvSpPr>
        <p:spPr>
          <a:xfrm>
            <a:off x="8896350" y="1695450"/>
            <a:ext cx="2381250" cy="609600"/>
          </a:xfrm>
          <a:prstGeom prst="rect">
            <a:avLst/>
          </a:prstGeom>
          <a:noFill/>
          <a:ln w="0">
            <a:noFill/>
          </a:ln>
        </p:spPr>
        <p:txBody>
          <a:bodyPr/>
          <a:lstStyle/>
          <a:p>
            <a:pPr algn="l">
              <a:buNone/>
              <a:defRPr sz="3600" b="1" i="0">
                <a:solidFill>
                  <a:srgbClr val="F97356"/>
                </a:solidFill>
                <a:latin typeface="Malgun Gothic"/>
                <a:ea typeface="Malgun Gothic"/>
                <a:cs typeface="Malgun Gothic"/>
              </a:defRPr>
            </a:pPr>
            <a:r>
              <a:rPr sz="3600" b="1" i="0">
                <a:solidFill>
                  <a:srgbClr val="F97356"/>
                </a:solidFill>
                <a:latin typeface="Malgun Gothic"/>
                <a:ea typeface="Malgun Gothic"/>
                <a:cs typeface="Malgun Gothic"/>
              </a:rPr>
              <a:t>1:35:35</a:t>
            </a:r>
          </a:p>
        </p:txBody>
      </p:sp>
      <p:sp>
        <p:nvSpPr>
          <p:cNvPr id="13" name="직사각형 12">
            <a:extLst>
              <a:ext uri="{FF2B5EF4-FFF2-40B4-BE49-F238E27FC236}">
                <a16:creationId xmlns:a16="http://schemas.microsoft.com/office/drawing/2014/main" id="{B7594180-AB34-412B-8D80-82DC495EBADC}"/>
              </a:ext>
            </a:extLst>
          </p:cNvPr>
          <p:cNvSpPr>
            <a:spLocks noGrp="1"/>
          </p:cNvSpPr>
          <p:nvPr/>
        </p:nvSpPr>
        <p:spPr>
          <a:xfrm>
            <a:off x="8896350" y="2324100"/>
            <a:ext cx="238125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전체 처리 시간</a:t>
            </a:r>
          </a:p>
        </p:txBody>
      </p:sp>
      <p:sp>
        <p:nvSpPr>
          <p:cNvPr id="14" name="직선 연결선 13">
            <a:extLst>
              <a:ext uri="{FF2B5EF4-FFF2-40B4-BE49-F238E27FC236}">
                <a16:creationId xmlns:a16="http://schemas.microsoft.com/office/drawing/2014/main" id="{F6E24918-A80D-4084-A4D4-9FD89F4D46C4}"/>
              </a:ext>
            </a:extLst>
          </p:cNvPr>
          <p:cNvSpPr>
            <a:spLocks noGrp="1"/>
          </p:cNvSpPr>
          <p:nvPr/>
        </p:nvSpPr>
        <p:spPr>
          <a:xfrm>
            <a:off x="723900" y="3390900"/>
            <a:ext cx="10553700" cy="0"/>
          </a:xfrm>
          <a:prstGeom prst="line">
            <a:avLst/>
          </a:prstGeom>
          <a:ln w="9525">
            <a:solidFill>
              <a:srgbClr val="D9E0E8"/>
            </a:solidFill>
            <a:prstDash val="solid"/>
          </a:ln>
        </p:spPr>
      </p:sp>
      <p:sp>
        <p:nvSpPr>
          <p:cNvPr id="15" name="직사각형 14">
            <a:extLst>
              <a:ext uri="{FF2B5EF4-FFF2-40B4-BE49-F238E27FC236}">
                <a16:creationId xmlns:a16="http://schemas.microsoft.com/office/drawing/2014/main" id="{7D9EF933-54B8-4348-9861-5923FA1752C5}"/>
              </a:ext>
            </a:extLst>
          </p:cNvPr>
          <p:cNvSpPr>
            <a:spLocks noGrp="1"/>
          </p:cNvSpPr>
          <p:nvPr/>
        </p:nvSpPr>
        <p:spPr>
          <a:xfrm>
            <a:off x="857250" y="3905250"/>
            <a:ext cx="2571750" cy="552450"/>
          </a:xfrm>
          <a:prstGeom prst="rect">
            <a:avLst/>
          </a:prstGeom>
          <a:noFill/>
          <a:ln w="0">
            <a:noFill/>
          </a:ln>
        </p:spPr>
        <p:txBody>
          <a:bodyPr/>
          <a:lstStyle/>
          <a:p>
            <a:pPr algn="l">
              <a:buNone/>
              <a:defRPr sz="3000" b="1" i="0">
                <a:solidFill>
                  <a:srgbClr val="607086"/>
                </a:solidFill>
                <a:latin typeface="Malgun Gothic"/>
                <a:ea typeface="Malgun Gothic"/>
                <a:cs typeface="Malgun Gothic"/>
              </a:defRPr>
            </a:pPr>
            <a:r>
              <a:rPr sz="3000" b="1" i="0">
                <a:solidFill>
                  <a:srgbClr val="607086"/>
                </a:solidFill>
                <a:latin typeface="Malgun Gothic"/>
                <a:ea typeface="Malgun Gothic"/>
                <a:cs typeface="Malgun Gothic"/>
              </a:rPr>
              <a:t>513.40 GiB</a:t>
            </a:r>
          </a:p>
        </p:txBody>
      </p:sp>
      <p:sp>
        <p:nvSpPr>
          <p:cNvPr id="16" name="직사각형 15">
            <a:extLst>
              <a:ext uri="{FF2B5EF4-FFF2-40B4-BE49-F238E27FC236}">
                <a16:creationId xmlns:a16="http://schemas.microsoft.com/office/drawing/2014/main" id="{9236B35D-BF81-44BD-BA0F-E8DDD1701530}"/>
              </a:ext>
            </a:extLst>
          </p:cNvPr>
          <p:cNvSpPr>
            <a:spLocks noGrp="1"/>
          </p:cNvSpPr>
          <p:nvPr/>
        </p:nvSpPr>
        <p:spPr>
          <a:xfrm>
            <a:off x="8286750" y="3905250"/>
            <a:ext cx="2476500" cy="552450"/>
          </a:xfrm>
          <a:prstGeom prst="rect">
            <a:avLst/>
          </a:prstGeom>
          <a:noFill/>
          <a:ln w="0">
            <a:noFill/>
          </a:ln>
        </p:spPr>
        <p:txBody>
          <a:bodyPr/>
          <a:lstStyle/>
          <a:p>
            <a:pPr algn="r">
              <a:buNone/>
              <a:defRPr sz="3000" b="1" i="0">
                <a:solidFill>
                  <a:srgbClr val="258C6B"/>
                </a:solidFill>
                <a:latin typeface="Malgun Gothic"/>
                <a:ea typeface="Malgun Gothic"/>
                <a:cs typeface="Malgun Gothic"/>
              </a:defRPr>
            </a:pPr>
            <a:r>
              <a:rPr sz="3000" b="1" i="0">
                <a:solidFill>
                  <a:srgbClr val="258C6B"/>
                </a:solidFill>
                <a:latin typeface="Malgun Gothic"/>
                <a:ea typeface="Malgun Gothic"/>
                <a:cs typeface="Malgun Gothic"/>
              </a:rPr>
              <a:t>12.85 GiB</a:t>
            </a:r>
          </a:p>
        </p:txBody>
      </p:sp>
      <p:sp>
        <p:nvSpPr>
          <p:cNvPr id="17" name="직선 연결선 16">
            <a:extLst>
              <a:ext uri="{FF2B5EF4-FFF2-40B4-BE49-F238E27FC236}">
                <a16:creationId xmlns:a16="http://schemas.microsoft.com/office/drawing/2014/main" id="{C1C81A80-7A66-48F3-81A5-DE9101957F9A}"/>
              </a:ext>
            </a:extLst>
          </p:cNvPr>
          <p:cNvSpPr>
            <a:spLocks noGrp="1"/>
          </p:cNvSpPr>
          <p:nvPr/>
        </p:nvSpPr>
        <p:spPr>
          <a:xfrm>
            <a:off x="3333750" y="4191000"/>
            <a:ext cx="4762500" cy="0"/>
          </a:xfrm>
          <a:prstGeom prst="line">
            <a:avLst/>
          </a:prstGeom>
          <a:ln w="76200">
            <a:solidFill>
              <a:srgbClr val="258C6B"/>
            </a:solidFill>
            <a:prstDash val="solid"/>
          </a:ln>
        </p:spPr>
      </p:sp>
      <p:sp>
        <p:nvSpPr>
          <p:cNvPr id="18" name="직사각형 17">
            <a:extLst>
              <a:ext uri="{FF2B5EF4-FFF2-40B4-BE49-F238E27FC236}">
                <a16:creationId xmlns:a16="http://schemas.microsoft.com/office/drawing/2014/main" id="{6F11D5F3-DAF4-48AE-8113-AC20A405FCDD}"/>
              </a:ext>
            </a:extLst>
          </p:cNvPr>
          <p:cNvSpPr>
            <a:spLocks noGrp="1"/>
          </p:cNvSpPr>
          <p:nvPr/>
        </p:nvSpPr>
        <p:spPr>
          <a:xfrm>
            <a:off x="3810000" y="4533900"/>
            <a:ext cx="3810000" cy="400050"/>
          </a:xfrm>
          <a:prstGeom prst="rect">
            <a:avLst/>
          </a:prstGeom>
          <a:noFill/>
          <a:ln w="0">
            <a:noFill/>
          </a:ln>
        </p:spPr>
        <p:txBody>
          <a:bodyPr/>
          <a:lstStyle/>
          <a:p>
            <a:pPr algn="ctr">
              <a:buNone/>
              <a:defRPr sz="1875" b="1" i="0">
                <a:solidFill>
                  <a:srgbClr val="258C6B"/>
                </a:solidFill>
                <a:latin typeface="Malgun Gothic"/>
                <a:ea typeface="Malgun Gothic"/>
                <a:cs typeface="Malgun Gothic"/>
              </a:defRPr>
            </a:pPr>
            <a:r>
              <a:rPr sz="1875" b="1" i="0">
                <a:solidFill>
                  <a:srgbClr val="258C6B"/>
                </a:solidFill>
                <a:latin typeface="Malgun Gothic"/>
                <a:ea typeface="Malgun Gothic"/>
                <a:cs typeface="Malgun Gothic"/>
              </a:rPr>
              <a:t>이미지 저장 용량 97.50% 감소</a:t>
            </a:r>
          </a:p>
        </p:txBody>
      </p:sp>
      <p:sp>
        <p:nvSpPr>
          <p:cNvPr id="19" name="직사각형 18">
            <a:extLst>
              <a:ext uri="{FF2B5EF4-FFF2-40B4-BE49-F238E27FC236}">
                <a16:creationId xmlns:a16="http://schemas.microsoft.com/office/drawing/2014/main" id="{9A640374-746C-4DCD-9F6A-210895B6AA4D}"/>
              </a:ext>
            </a:extLst>
          </p:cNvPr>
          <p:cNvSpPr>
            <a:spLocks noGrp="1"/>
          </p:cNvSpPr>
          <p:nvPr/>
        </p:nvSpPr>
        <p:spPr>
          <a:xfrm>
            <a:off x="1219200" y="5219700"/>
            <a:ext cx="9810750" cy="952500"/>
          </a:xfrm>
          <a:prstGeom prst="rect">
            <a:avLst/>
          </a:prstGeom>
          <a:noFill/>
          <a:ln w="0">
            <a:noFill/>
          </a:ln>
        </p:spPr>
        <p:txBody>
          <a:bodyPr/>
          <a:lstStyle/>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완성된 PNG는 건너뛰어 재부팅 후 같은 명령으로 이어서 처리한다.</a:t>
            </a:r>
          </a:p>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임시 파일을 완성한 뒤 최종 이름으로 교체해 중단된 파일을 구별한다.</a:t>
            </a:r>
          </a:p>
          <a:p>
            <a:pPr marL="228600" indent="-101600">
              <a:spcAft>
                <a:spcPts val="600"/>
              </a:spcAft>
              <a:buChar char="•"/>
              <a:defRPr sz="1500">
                <a:solidFill>
                  <a:srgbClr val="122033"/>
                </a:solidFill>
                <a:latin typeface="Malgun Gothic"/>
                <a:ea typeface="Malgun Gothic"/>
                <a:cs typeface="Malgun Gothic"/>
              </a:defRPr>
            </a:pPr>
            <a:r>
              <a:rPr sz="1500">
                <a:solidFill>
                  <a:srgbClr val="122033"/>
                </a:solidFill>
                <a:latin typeface="Malgun Gothic"/>
                <a:ea typeface="Malgun Gothic"/>
                <a:cs typeface="Malgun Gothic"/>
              </a:rPr>
              <a:t>실패 경로와 이유, split별 시간은 preprocessing_summary.json에 남긴다.</a:t>
            </a:r>
          </a:p>
        </p:txBody>
      </p:sp>
    </p:spTree>
    <p:extLst>
      <p:ext uri="{BB962C8B-B14F-4D97-AF65-F5344CB8AC3E}">
        <p14:creationId xmlns:p14="http://schemas.microsoft.com/office/powerpoint/2010/main" val="2124874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3AEBFC5C-7067-49AC-AE7F-7AA8A49C692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PyTorch GPU 환경</a:t>
            </a:r>
          </a:p>
        </p:txBody>
      </p:sp>
      <p:sp>
        <p:nvSpPr>
          <p:cNvPr id="2" name="직사각형 1">
            <a:extLst>
              <a:ext uri="{FF2B5EF4-FFF2-40B4-BE49-F238E27FC236}">
                <a16:creationId xmlns:a16="http://schemas.microsoft.com/office/drawing/2014/main" id="{8449B33D-34BC-465B-908E-684DB5E9293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Python·PyTorch·CUDA·RTX 4060으로 학습 환경 구성</a:t>
            </a:r>
          </a:p>
        </p:txBody>
      </p:sp>
      <p:sp>
        <p:nvSpPr>
          <p:cNvPr id="3" name="직선 연결선 2">
            <a:extLst>
              <a:ext uri="{FF2B5EF4-FFF2-40B4-BE49-F238E27FC236}">
                <a16:creationId xmlns:a16="http://schemas.microsoft.com/office/drawing/2014/main" id="{92395A23-324A-47B7-94AB-971AF8A49DA5}"/>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FAA0BA0-6BA2-495A-B846-FE9B6F8443B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DA04EE2-9081-4743-96D7-651502FE6AA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10</a:t>
            </a:r>
          </a:p>
        </p:txBody>
      </p:sp>
      <p:sp>
        <p:nvSpPr>
          <p:cNvPr id="6" name="사각형: 둥근 모서리 5">
            <a:extLst>
              <a:ext uri="{FF2B5EF4-FFF2-40B4-BE49-F238E27FC236}">
                <a16:creationId xmlns:a16="http://schemas.microsoft.com/office/drawing/2014/main" id="{91CC2C01-1F65-4A5F-8818-1BA1E261FE83}"/>
              </a:ext>
            </a:extLst>
          </p:cNvPr>
          <p:cNvSpPr>
            <a:spLocks noGrp="1"/>
          </p:cNvSpPr>
          <p:nvPr/>
        </p:nvSpPr>
        <p:spPr>
          <a:xfrm>
            <a:off x="685800" y="1952625"/>
            <a:ext cx="2000250" cy="914400"/>
          </a:xfrm>
          <a:prstGeom prst="roundRect">
            <a:avLst>
              <a:gd name="adj" fmla="val 125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Python 3.12.10</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.venv 가상환경</a:t>
            </a:r>
          </a:p>
        </p:txBody>
      </p:sp>
      <p:sp>
        <p:nvSpPr>
          <p:cNvPr id="7" name="사각형: 둥근 모서리 6">
            <a:extLst>
              <a:ext uri="{FF2B5EF4-FFF2-40B4-BE49-F238E27FC236}">
                <a16:creationId xmlns:a16="http://schemas.microsoft.com/office/drawing/2014/main" id="{7EC8A842-90B3-42D3-812C-36278F57F7AB}"/>
              </a:ext>
            </a:extLst>
          </p:cNvPr>
          <p:cNvSpPr>
            <a:spLocks noGrp="1"/>
          </p:cNvSpPr>
          <p:nvPr/>
        </p:nvSpPr>
        <p:spPr>
          <a:xfrm>
            <a:off x="3143250" y="1952625"/>
            <a:ext cx="2000250" cy="914400"/>
          </a:xfrm>
          <a:prstGeom prst="roundRect">
            <a:avLst>
              <a:gd name="adj" fmla="val 125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PyTorch</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CUDA 12.6</a:t>
            </a:r>
          </a:p>
        </p:txBody>
      </p:sp>
      <p:sp>
        <p:nvSpPr>
          <p:cNvPr id="8" name="사각형: 둥근 모서리 7">
            <a:extLst>
              <a:ext uri="{FF2B5EF4-FFF2-40B4-BE49-F238E27FC236}">
                <a16:creationId xmlns:a16="http://schemas.microsoft.com/office/drawing/2014/main" id="{85FF0314-4530-4279-848A-456AC63EAA79}"/>
              </a:ext>
            </a:extLst>
          </p:cNvPr>
          <p:cNvSpPr>
            <a:spLocks noGrp="1"/>
          </p:cNvSpPr>
          <p:nvPr/>
        </p:nvSpPr>
        <p:spPr>
          <a:xfrm>
            <a:off x="5600700" y="1952625"/>
            <a:ext cx="2000250" cy="914400"/>
          </a:xfrm>
          <a:prstGeom prst="roundRect">
            <a:avLst>
              <a:gd name="adj" fmla="val 125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torchvision</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세 비교 모델</a:t>
            </a:r>
          </a:p>
        </p:txBody>
      </p:sp>
      <p:sp>
        <p:nvSpPr>
          <p:cNvPr id="9" name="사각형: 둥근 모서리 8">
            <a:extLst>
              <a:ext uri="{FF2B5EF4-FFF2-40B4-BE49-F238E27FC236}">
                <a16:creationId xmlns:a16="http://schemas.microsoft.com/office/drawing/2014/main" id="{02ADFEF6-C3E1-4E9F-9561-5D82697DCB0F}"/>
              </a:ext>
            </a:extLst>
          </p:cNvPr>
          <p:cNvSpPr>
            <a:spLocks noGrp="1"/>
          </p:cNvSpPr>
          <p:nvPr/>
        </p:nvSpPr>
        <p:spPr>
          <a:xfrm>
            <a:off x="8058150" y="1952625"/>
            <a:ext cx="2000250" cy="914400"/>
          </a:xfrm>
          <a:prstGeom prst="roundRect">
            <a:avLst>
              <a:gd name="adj" fmla="val 125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NVIDIA RTX 4060</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 학습</a:t>
            </a:r>
          </a:p>
        </p:txBody>
      </p:sp>
      <p:cxnSp>
        <p:nvCxnSpPr>
          <p:cNvPr id="109" name="직선 화살표 연결선 24"/>
          <p:cNvCxnSpPr>
            <a:stCxn id="6" idx="3"/>
            <a:endCxn id="7" idx="1"/>
          </p:cNvCxnSpPr>
          <p:nvPr/>
        </p:nvCxnSpPr>
        <p:spPr>
          <a:xfrm>
            <a:off x="2686050" y="2409825"/>
            <a:ext cx="457200" cy="0"/>
          </a:xfrm>
          <a:prstGeom prst="straightConnector1">
            <a:avLst/>
          </a:prstGeom>
          <a:ln w="19050">
            <a:solidFill>
              <a:srgbClr val="607086"/>
            </a:solidFill>
            <a:prstDash val="solid"/>
            <a:tailEnd type="triangle" w="sm" len="sm"/>
          </a:ln>
        </p:spPr>
      </p:cxnSp>
      <p:cxnSp>
        <p:nvCxnSpPr>
          <p:cNvPr id="110" name="직선 화살표 연결선 25"/>
          <p:cNvCxnSpPr>
            <a:stCxn id="7" idx="3"/>
            <a:endCxn id="8" idx="1"/>
          </p:cNvCxnSpPr>
          <p:nvPr/>
        </p:nvCxnSpPr>
        <p:spPr>
          <a:xfrm>
            <a:off x="5143500" y="2409825"/>
            <a:ext cx="457200" cy="0"/>
          </a:xfrm>
          <a:prstGeom prst="straightConnector1">
            <a:avLst/>
          </a:prstGeom>
          <a:ln w="19050">
            <a:solidFill>
              <a:srgbClr val="607086"/>
            </a:solidFill>
            <a:prstDash val="solid"/>
            <a:tailEnd type="triangle" w="sm" len="sm"/>
          </a:ln>
        </p:spPr>
      </p:cxnSp>
      <p:cxnSp>
        <p:nvCxnSpPr>
          <p:cNvPr id="111" name="직선 화살표 연결선 26"/>
          <p:cNvCxnSpPr>
            <a:stCxn id="8" idx="3"/>
            <a:endCxn id="9" idx="1"/>
          </p:cNvCxnSpPr>
          <p:nvPr/>
        </p:nvCxnSpPr>
        <p:spPr>
          <a:xfrm>
            <a:off x="7600950" y="2409825"/>
            <a:ext cx="457200" cy="0"/>
          </a:xfrm>
          <a:prstGeom prst="straightConnector1">
            <a:avLst/>
          </a:prstGeom>
          <a:ln w="19050">
            <a:solidFill>
              <a:srgbClr val="607086"/>
            </a:solidFill>
            <a:prstDash val="solid"/>
            <a:tailEnd type="triangle" w="sm" len="sm"/>
          </a:ln>
        </p:spPr>
      </p:cxnSp>
      <p:sp>
        <p:nvSpPr>
          <p:cNvPr id="13" name="직사각형 12">
            <a:extLst>
              <a:ext uri="{FF2B5EF4-FFF2-40B4-BE49-F238E27FC236}">
                <a16:creationId xmlns:a16="http://schemas.microsoft.com/office/drawing/2014/main" id="{496229EC-A641-4770-BA7D-366CC236C542}"/>
              </a:ext>
            </a:extLst>
          </p:cNvPr>
          <p:cNvSpPr>
            <a:spLocks noGrp="1"/>
          </p:cNvSpPr>
          <p:nvPr/>
        </p:nvSpPr>
        <p:spPr>
          <a:xfrm>
            <a:off x="704850" y="3714750"/>
            <a:ext cx="4191000" cy="400050"/>
          </a:xfrm>
          <a:prstGeom prst="rect">
            <a:avLst/>
          </a:prstGeom>
          <a:noFill/>
          <a:ln w="0">
            <a:noFill/>
          </a:ln>
        </p:spPr>
        <p:txBody>
          <a:bodyPr/>
          <a:lstStyle/>
          <a:p>
            <a:pPr algn="l">
              <a:buNone/>
              <a:defRPr sz="2250" b="1" i="0">
                <a:solidFill>
                  <a:srgbClr val="122033"/>
                </a:solidFill>
                <a:latin typeface="Malgun Gothic"/>
                <a:ea typeface="Malgun Gothic"/>
                <a:cs typeface="Malgun Gothic"/>
              </a:defRPr>
            </a:pPr>
            <a:r>
              <a:rPr sz="2250" b="1" i="0">
                <a:solidFill>
                  <a:srgbClr val="122033"/>
                </a:solidFill>
                <a:latin typeface="Malgun Gothic"/>
                <a:ea typeface="Malgun Gothic"/>
                <a:cs typeface="Malgun Gothic"/>
              </a:rPr>
              <a:t>TensorFlow 대신 PyTorch</a:t>
            </a:r>
          </a:p>
        </p:txBody>
      </p:sp>
      <p:sp>
        <p:nvSpPr>
          <p:cNvPr id="14" name="직사각형 13">
            <a:extLst>
              <a:ext uri="{FF2B5EF4-FFF2-40B4-BE49-F238E27FC236}">
                <a16:creationId xmlns:a16="http://schemas.microsoft.com/office/drawing/2014/main" id="{538C82F4-29F1-4593-B75E-3F9EBE7E0DD6}"/>
              </a:ext>
            </a:extLst>
          </p:cNvPr>
          <p:cNvSpPr>
            <a:spLocks noGrp="1"/>
          </p:cNvSpPr>
          <p:nvPr/>
        </p:nvSpPr>
        <p:spPr>
          <a:xfrm>
            <a:off x="685800" y="4210050"/>
            <a:ext cx="10382250" cy="150495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torchvision의 세 모델을 같은 API와 학습 코드로 비교할 수 있다.</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체크포인트, F1, AMP와 중단 재개를 직접 관리하기 편했다.</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CUDA 사용 가능 시 모델과 배치를 자동으로 GPU에 이동한다.</a:t>
            </a:r>
          </a:p>
        </p:txBody>
      </p:sp>
      <p:sp>
        <p:nvSpPr>
          <p:cNvPr id="15" name="직사각형 14">
            <a:extLst>
              <a:ext uri="{FF2B5EF4-FFF2-40B4-BE49-F238E27FC236}">
                <a16:creationId xmlns:a16="http://schemas.microsoft.com/office/drawing/2014/main" id="{3B888CE7-9CD2-48E4-A54E-CF5E11FEEFE9}"/>
              </a:ext>
            </a:extLst>
          </p:cNvPr>
          <p:cNvSpPr>
            <a:spLocks noGrp="1"/>
          </p:cNvSpPr>
          <p:nvPr/>
        </p:nvSpPr>
        <p:spPr>
          <a:xfrm>
            <a:off x="704850" y="5905500"/>
            <a:ext cx="6191250" cy="3048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실험 GPU: NVIDIA GeForce RTX 4060</a:t>
            </a:r>
          </a:p>
        </p:txBody>
      </p:sp>
    </p:spTree>
    <p:extLst>
      <p:ext uri="{BB962C8B-B14F-4D97-AF65-F5344CB8AC3E}">
        <p14:creationId xmlns:p14="http://schemas.microsoft.com/office/powerpoint/2010/main" val="135271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0B84B319-A1EB-4966-A4B4-C101A76D4153}"/>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비교 모델</a:t>
            </a:r>
          </a:p>
        </p:txBody>
      </p:sp>
      <p:sp>
        <p:nvSpPr>
          <p:cNvPr id="2" name="직사각형 1">
            <a:extLst>
              <a:ext uri="{FF2B5EF4-FFF2-40B4-BE49-F238E27FC236}">
                <a16:creationId xmlns:a16="http://schemas.microsoft.com/office/drawing/2014/main" id="{8802263B-4CB3-4287-954B-1D69A7F81E0A}"/>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기준선, 경량성, 정확도 효율을 대표하는 구조</a:t>
            </a:r>
          </a:p>
        </p:txBody>
      </p:sp>
      <p:sp>
        <p:nvSpPr>
          <p:cNvPr id="3" name="직선 연결선 2">
            <a:extLst>
              <a:ext uri="{FF2B5EF4-FFF2-40B4-BE49-F238E27FC236}">
                <a16:creationId xmlns:a16="http://schemas.microsoft.com/office/drawing/2014/main" id="{E04B2106-BECE-4181-A4BE-173B0369FED1}"/>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E209EB79-31A6-4D47-9D44-A7A75BAF1BFD}"/>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923C646-2636-4016-B885-B8F18252BC9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11</a:t>
            </a:r>
          </a:p>
        </p:txBody>
      </p:sp>
      <p:graphicFrame>
        <p:nvGraphicFramePr>
          <p:cNvPr id="16" name="표 13"/>
          <p:cNvGraphicFramePr/>
          <p:nvPr/>
        </p:nvGraphicFramePr>
        <p:xfrm>
          <a:off x="609600" y="1733550"/>
          <a:ext cx="10972800" cy="3143252"/>
        </p:xfrm>
        <a:graphic>
          <a:graphicData uri="http://schemas.openxmlformats.org/drawingml/2006/table">
            <a:tbl>
              <a:tblPr/>
              <a:tblGrid>
                <a:gridCol w="2000250">
                  <a:extLst>
                    <a:ext uri="{9D8B030D-6E8A-4147-A177-3AD203B41FA5}">
                      <a16:colId xmlns:a16="http://schemas.microsoft.com/office/drawing/2014/main" val="20000"/>
                    </a:ext>
                  </a:extLst>
                </a:gridCol>
                <a:gridCol w="3000375">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gridCol w="2733675">
                  <a:extLst>
                    <a:ext uri="{9D8B030D-6E8A-4147-A177-3AD203B41FA5}">
                      <a16:colId xmlns:a16="http://schemas.microsoft.com/office/drawing/2014/main" val="20003"/>
                    </a:ext>
                  </a:extLst>
                </a:gridCol>
              </a:tblGrid>
              <a:tr h="785813">
                <a:tc>
                  <a:txBody>
                    <a:bodyPr/>
                    <a:lstStyle/>
                    <a:p>
                      <a:pPr algn="l">
                        <a:buNone/>
                      </a:pPr>
                      <a:r>
                        <a:rPr sz="1500" b="1">
                          <a:solidFill>
                            <a:srgbClr val="FFFFFF"/>
                          </a:solidFill>
                          <a:latin typeface="Malgun Gothic"/>
                          <a:ea typeface="Malgun Gothic"/>
                          <a:cs typeface="Malgun Gothic"/>
                        </a:rPr>
                        <a:t>모델 / 파라미터</a:t>
                      </a:r>
                    </a:p>
                  </a:txBody>
                  <a:tcPr>
                    <a:solidFill>
                      <a:srgbClr val="0B1526"/>
                    </a:solidFill>
                  </a:tcPr>
                </a:tc>
                <a:tc>
                  <a:txBody>
                    <a:bodyPr/>
                    <a:lstStyle/>
                    <a:p>
                      <a:pPr algn="l">
                        <a:buNone/>
                      </a:pPr>
                      <a:r>
                        <a:rPr sz="1500" b="1">
                          <a:solidFill>
                            <a:srgbClr val="FFFFFF"/>
                          </a:solidFill>
                          <a:latin typeface="Malgun Gothic"/>
                          <a:ea typeface="Malgun Gothic"/>
                          <a:cs typeface="Malgun Gothic"/>
                        </a:rPr>
                        <a:t>핵심 구조</a:t>
                      </a:r>
                    </a:p>
                  </a:txBody>
                  <a:tcPr>
                    <a:solidFill>
                      <a:srgbClr val="0B1526"/>
                    </a:solidFill>
                  </a:tcPr>
                </a:tc>
                <a:tc>
                  <a:txBody>
                    <a:bodyPr/>
                    <a:lstStyle/>
                    <a:p>
                      <a:pPr algn="l">
                        <a:buNone/>
                      </a:pPr>
                      <a:r>
                        <a:rPr sz="1500" b="1">
                          <a:solidFill>
                            <a:srgbClr val="FFFFFF"/>
                          </a:solidFill>
                          <a:latin typeface="Malgun Gothic"/>
                          <a:ea typeface="Malgun Gothic"/>
                          <a:cs typeface="Malgun Gothic"/>
                        </a:rPr>
                        <a:t>강점</a:t>
                      </a:r>
                    </a:p>
                  </a:txBody>
                  <a:tcPr>
                    <a:solidFill>
                      <a:srgbClr val="0B1526"/>
                    </a:solidFill>
                  </a:tcPr>
                </a:tc>
                <a:tc>
                  <a:txBody>
                    <a:bodyPr/>
                    <a:lstStyle/>
                    <a:p>
                      <a:pPr algn="l">
                        <a:buNone/>
                      </a:pPr>
                      <a:r>
                        <a:rPr sz="1500" b="1">
                          <a:solidFill>
                            <a:srgbClr val="FFFFFF"/>
                          </a:solidFill>
                          <a:latin typeface="Malgun Gothic"/>
                          <a:ea typeface="Malgun Gothic"/>
                          <a:cs typeface="Malgun Gothic"/>
                        </a:rPr>
                        <a:t>프로젝트 역할</a:t>
                      </a:r>
                    </a:p>
                  </a:txBody>
                  <a:tcPr>
                    <a:solidFill>
                      <a:srgbClr val="0B1526"/>
                    </a:solidFill>
                  </a:tcPr>
                </a:tc>
                <a:extLst>
                  <a:ext uri="{0D108BD9-81ED-4DB2-BD59-A6C34878D82A}">
                    <a16:rowId xmlns:a16="http://schemas.microsoft.com/office/drawing/2014/main" val="10000"/>
                  </a:ext>
                </a:extLst>
              </a:tr>
              <a:tr h="785813">
                <a:tc>
                  <a:txBody>
                    <a:bodyPr/>
                    <a:lstStyle/>
                    <a:p>
                      <a:pPr algn="l">
                        <a:buNone/>
                      </a:pPr>
                      <a:r>
                        <a:rPr sz="1500" b="0">
                          <a:solidFill>
                            <a:srgbClr val="122033"/>
                          </a:solidFill>
                          <a:latin typeface="Malgun Gothic"/>
                          <a:ea typeface="Malgun Gothic"/>
                          <a:cs typeface="Malgun Gothic"/>
                        </a:rPr>
                        <a:t>ResNet18</a:t>
                      </a:r>
                    </a:p>
                    <a:p>
                      <a:pPr algn="l">
                        <a:buNone/>
                      </a:pPr>
                      <a:r>
                        <a:rPr sz="1500" b="0">
                          <a:solidFill>
                            <a:srgbClr val="122033"/>
                          </a:solidFill>
                          <a:latin typeface="Malgun Gothic"/>
                          <a:ea typeface="Malgun Gothic"/>
                          <a:cs typeface="Malgun Gothic"/>
                        </a:rPr>
                        <a:t>1,118만 개</a:t>
                      </a:r>
                    </a:p>
                  </a:txBody>
                  <a:tcPr>
                    <a:solidFill>
                      <a:srgbClr val="FFFFFF"/>
                    </a:solidFill>
                  </a:tcPr>
                </a:tc>
                <a:tc>
                  <a:txBody>
                    <a:bodyPr/>
                    <a:lstStyle/>
                    <a:p>
                      <a:pPr algn="l">
                        <a:buNone/>
                      </a:pPr>
                      <a:r>
                        <a:rPr sz="1500" b="0">
                          <a:solidFill>
                            <a:srgbClr val="122033"/>
                          </a:solidFill>
                          <a:latin typeface="Malgun Gothic"/>
                          <a:ea typeface="Malgun Gothic"/>
                          <a:cs typeface="Malgun Gothic"/>
                        </a:rPr>
                        <a:t>이전 입력을 더하는</a:t>
                      </a:r>
                    </a:p>
                    <a:p>
                      <a:pPr algn="l">
                        <a:buNone/>
                      </a:pPr>
                      <a:r>
                        <a:rPr sz="1500" b="0">
                          <a:solidFill>
                            <a:srgbClr val="122033"/>
                          </a:solidFill>
                          <a:latin typeface="Malgun Gothic"/>
                          <a:ea typeface="Malgun Gothic"/>
                          <a:cs typeface="Malgun Gothic"/>
                        </a:rPr>
                        <a:t>잔차 연결</a:t>
                      </a:r>
                    </a:p>
                  </a:txBody>
                  <a:tcPr>
                    <a:solidFill>
                      <a:srgbClr val="FFFFFF"/>
                    </a:solidFill>
                  </a:tcPr>
                </a:tc>
                <a:tc>
                  <a:txBody>
                    <a:bodyPr/>
                    <a:lstStyle/>
                    <a:p>
                      <a:pPr algn="l">
                        <a:buNone/>
                      </a:pPr>
                      <a:r>
                        <a:rPr sz="1500" b="0">
                          <a:solidFill>
                            <a:srgbClr val="122033"/>
                          </a:solidFill>
                          <a:latin typeface="Malgun Gothic"/>
                          <a:ea typeface="Malgun Gothic"/>
                          <a:cs typeface="Malgun Gothic"/>
                        </a:rPr>
                        <a:t>안정적이고 설명이 쉬움</a:t>
                      </a:r>
                    </a:p>
                  </a:txBody>
                  <a:tcPr>
                    <a:solidFill>
                      <a:srgbClr val="FFFFFF"/>
                    </a:solidFill>
                  </a:tcPr>
                </a:tc>
                <a:tc>
                  <a:txBody>
                    <a:bodyPr/>
                    <a:lstStyle/>
                    <a:p>
                      <a:pPr algn="l">
                        <a:buNone/>
                      </a:pPr>
                      <a:r>
                        <a:rPr sz="1500" b="0">
                          <a:solidFill>
                            <a:srgbClr val="122033"/>
                          </a:solidFill>
                          <a:latin typeface="Malgun Gothic"/>
                          <a:ea typeface="Malgun Gothic"/>
                          <a:cs typeface="Malgun Gothic"/>
                        </a:rPr>
                        <a:t>CNN 기준선</a:t>
                      </a:r>
                    </a:p>
                  </a:txBody>
                  <a:tcPr>
                    <a:solidFill>
                      <a:srgbClr val="FFFFFF"/>
                    </a:solidFill>
                  </a:tcPr>
                </a:tc>
                <a:extLst>
                  <a:ext uri="{0D108BD9-81ED-4DB2-BD59-A6C34878D82A}">
                    <a16:rowId xmlns:a16="http://schemas.microsoft.com/office/drawing/2014/main" val="10001"/>
                  </a:ext>
                </a:extLst>
              </a:tr>
              <a:tr h="785813">
                <a:tc>
                  <a:txBody>
                    <a:bodyPr/>
                    <a:lstStyle/>
                    <a:p>
                      <a:pPr algn="l">
                        <a:buNone/>
                      </a:pPr>
                      <a:r>
                        <a:rPr sz="1500" b="0">
                          <a:solidFill>
                            <a:srgbClr val="122033"/>
                          </a:solidFill>
                          <a:latin typeface="Malgun Gothic"/>
                          <a:ea typeface="Malgun Gothic"/>
                          <a:cs typeface="Malgun Gothic"/>
                        </a:rPr>
                        <a:t>MobileNetV2</a:t>
                      </a:r>
                    </a:p>
                    <a:p>
                      <a:pPr algn="l">
                        <a:buNone/>
                      </a:pPr>
                      <a:r>
                        <a:rPr sz="1500" b="0">
                          <a:solidFill>
                            <a:srgbClr val="122033"/>
                          </a:solidFill>
                          <a:latin typeface="Malgun Gothic"/>
                          <a:ea typeface="Malgun Gothic"/>
                          <a:cs typeface="Malgun Gothic"/>
                        </a:rPr>
                        <a:t>223만 개</a:t>
                      </a:r>
                    </a:p>
                  </a:txBody>
                  <a:tcPr>
                    <a:solidFill>
                      <a:srgbClr val="F7F8FA"/>
                    </a:solidFill>
                  </a:tcPr>
                </a:tc>
                <a:tc>
                  <a:txBody>
                    <a:bodyPr/>
                    <a:lstStyle/>
                    <a:p>
                      <a:pPr algn="l">
                        <a:buNone/>
                      </a:pPr>
                      <a:r>
                        <a:rPr sz="1500" b="0">
                          <a:solidFill>
                            <a:srgbClr val="122033"/>
                          </a:solidFill>
                          <a:latin typeface="Malgun Gothic"/>
                          <a:ea typeface="Malgun Gothic"/>
                          <a:cs typeface="Malgun Gothic"/>
                        </a:rPr>
                        <a:t>채널별 연산 후 결합</a:t>
                      </a:r>
                    </a:p>
                    <a:p>
                      <a:pPr algn="l">
                        <a:buNone/>
                      </a:pPr>
                      <a:r>
                        <a:rPr sz="1500" b="0">
                          <a:solidFill>
                            <a:srgbClr val="122033"/>
                          </a:solidFill>
                          <a:latin typeface="Malgun Gothic"/>
                          <a:ea typeface="Malgun Gothic"/>
                          <a:cs typeface="Malgun Gothic"/>
                        </a:rPr>
                        <a:t>넓혔다 다시 줄여 연결</a:t>
                      </a:r>
                    </a:p>
                  </a:txBody>
                  <a:tcPr>
                    <a:solidFill>
                      <a:srgbClr val="F7F8FA"/>
                    </a:solidFill>
                  </a:tcPr>
                </a:tc>
                <a:tc>
                  <a:txBody>
                    <a:bodyPr/>
                    <a:lstStyle/>
                    <a:p>
                      <a:pPr algn="l">
                        <a:buNone/>
                      </a:pPr>
                      <a:r>
                        <a:rPr sz="1500" b="0">
                          <a:solidFill>
                            <a:srgbClr val="122033"/>
                          </a:solidFill>
                          <a:latin typeface="Malgun Gothic"/>
                          <a:ea typeface="Malgun Gothic"/>
                          <a:cs typeface="Malgun Gothic"/>
                        </a:rPr>
                        <a:t>파라미터와 연산량이 작음</a:t>
                      </a:r>
                    </a:p>
                  </a:txBody>
                  <a:tcPr>
                    <a:solidFill>
                      <a:srgbClr val="F7F8FA"/>
                    </a:solidFill>
                  </a:tcPr>
                </a:tc>
                <a:tc>
                  <a:txBody>
                    <a:bodyPr/>
                    <a:lstStyle/>
                    <a:p>
                      <a:pPr algn="l">
                        <a:buNone/>
                      </a:pPr>
                      <a:r>
                        <a:rPr sz="1500" b="0">
                          <a:solidFill>
                            <a:srgbClr val="122033"/>
                          </a:solidFill>
                          <a:latin typeface="Malgun Gothic"/>
                          <a:ea typeface="Malgun Gothic"/>
                          <a:cs typeface="Malgun Gothic"/>
                        </a:rPr>
                        <a:t>경량 실행 모델</a:t>
                      </a:r>
                    </a:p>
                  </a:txBody>
                  <a:tcPr>
                    <a:solidFill>
                      <a:srgbClr val="F7F8FA"/>
                    </a:solidFill>
                  </a:tcPr>
                </a:tc>
                <a:extLst>
                  <a:ext uri="{0D108BD9-81ED-4DB2-BD59-A6C34878D82A}">
                    <a16:rowId xmlns:a16="http://schemas.microsoft.com/office/drawing/2014/main" val="10002"/>
                  </a:ext>
                </a:extLst>
              </a:tr>
              <a:tr h="785813">
                <a:tc>
                  <a:txBody>
                    <a:bodyPr/>
                    <a:lstStyle/>
                    <a:p>
                      <a:pPr algn="l">
                        <a:buNone/>
                      </a:pPr>
                      <a:r>
                        <a:rPr sz="1500" b="0">
                          <a:solidFill>
                            <a:srgbClr val="122033"/>
                          </a:solidFill>
                          <a:latin typeface="Malgun Gothic"/>
                          <a:ea typeface="Malgun Gothic"/>
                          <a:cs typeface="Malgun Gothic"/>
                        </a:rPr>
                        <a:t>EfficientNet-B0</a:t>
                      </a:r>
                    </a:p>
                    <a:p>
                      <a:pPr algn="l">
                        <a:buNone/>
                      </a:pPr>
                      <a:r>
                        <a:rPr sz="1500" b="0">
                          <a:solidFill>
                            <a:srgbClr val="122033"/>
                          </a:solidFill>
                          <a:latin typeface="Malgun Gothic"/>
                          <a:ea typeface="Malgun Gothic"/>
                          <a:cs typeface="Malgun Gothic"/>
                        </a:rPr>
                        <a:t>402만 개</a:t>
                      </a:r>
                    </a:p>
                  </a:txBody>
                  <a:tcPr>
                    <a:solidFill>
                      <a:srgbClr val="FFFFFF"/>
                    </a:solidFill>
                  </a:tcPr>
                </a:tc>
                <a:tc>
                  <a:txBody>
                    <a:bodyPr/>
                    <a:lstStyle/>
                    <a:p>
                      <a:pPr algn="l">
                        <a:buNone/>
                      </a:pPr>
                      <a:r>
                        <a:rPr sz="1500" b="0">
                          <a:solidFill>
                            <a:srgbClr val="122033"/>
                          </a:solidFill>
                          <a:latin typeface="Malgun Gothic"/>
                          <a:ea typeface="Malgun Gothic"/>
                          <a:cs typeface="Malgun Gothic"/>
                        </a:rPr>
                        <a:t>가벼운 합성곱과 네트워크</a:t>
                      </a:r>
                    </a:p>
                    <a:p>
                      <a:pPr algn="l">
                        <a:buNone/>
                      </a:pPr>
                      <a:r>
                        <a:rPr sz="1500" b="0">
                          <a:solidFill>
                            <a:srgbClr val="122033"/>
                          </a:solidFill>
                          <a:latin typeface="Malgun Gothic"/>
                          <a:ea typeface="Malgun Gothic"/>
                          <a:cs typeface="Malgun Gothic"/>
                        </a:rPr>
                        <a:t>깊이·너비·해상도 균형 조절</a:t>
                      </a:r>
                    </a:p>
                  </a:txBody>
                  <a:tcPr>
                    <a:solidFill>
                      <a:srgbClr val="FFFFFF"/>
                    </a:solidFill>
                  </a:tcPr>
                </a:tc>
                <a:tc>
                  <a:txBody>
                    <a:bodyPr/>
                    <a:lstStyle/>
                    <a:p>
                      <a:pPr algn="l">
                        <a:buNone/>
                      </a:pPr>
                      <a:r>
                        <a:rPr sz="1500" b="0">
                          <a:solidFill>
                            <a:srgbClr val="122033"/>
                          </a:solidFill>
                          <a:latin typeface="Malgun Gothic"/>
                          <a:ea typeface="Malgun Gothic"/>
                          <a:cs typeface="Malgun Gothic"/>
                        </a:rPr>
                        <a:t>정확도와 효율의 균형</a:t>
                      </a:r>
                    </a:p>
                  </a:txBody>
                  <a:tcPr>
                    <a:solidFill>
                      <a:srgbClr val="FFFFFF"/>
                    </a:solidFill>
                  </a:tcPr>
                </a:tc>
                <a:tc>
                  <a:txBody>
                    <a:bodyPr/>
                    <a:lstStyle/>
                    <a:p>
                      <a:pPr algn="l">
                        <a:buNone/>
                      </a:pPr>
                      <a:r>
                        <a:rPr sz="1500" b="0">
                          <a:solidFill>
                            <a:srgbClr val="122033"/>
                          </a:solidFill>
                          <a:latin typeface="Malgun Gothic"/>
                          <a:ea typeface="Malgun Gothic"/>
                          <a:cs typeface="Malgun Gothic"/>
                        </a:rPr>
                        <a:t>정확도 중심 모델</a:t>
                      </a:r>
                    </a:p>
                  </a:txBody>
                  <a:tcPr>
                    <a:solidFill>
                      <a:srgbClr val="FFFFFF"/>
                    </a:solidFill>
                  </a:tcPr>
                </a:tc>
                <a:extLst>
                  <a:ext uri="{0D108BD9-81ED-4DB2-BD59-A6C34878D82A}">
                    <a16:rowId xmlns:a16="http://schemas.microsoft.com/office/drawing/2014/main" val="10003"/>
                  </a:ext>
                </a:extLst>
              </a:tr>
            </a:tbl>
          </a:graphicData>
        </a:graphic>
      </p:graphicFrame>
      <p:sp>
        <p:nvSpPr>
          <p:cNvPr id="7" name="직사각형 6">
            <a:extLst>
              <a:ext uri="{FF2B5EF4-FFF2-40B4-BE49-F238E27FC236}">
                <a16:creationId xmlns:a16="http://schemas.microsoft.com/office/drawing/2014/main" id="{B436692B-F16D-42A5-9742-1C4EB8DA02B6}"/>
              </a:ext>
            </a:extLst>
          </p:cNvPr>
          <p:cNvSpPr>
            <a:spLocks noGrp="1"/>
          </p:cNvSpPr>
          <p:nvPr/>
        </p:nvSpPr>
        <p:spPr>
          <a:xfrm>
            <a:off x="628650" y="5314950"/>
            <a:ext cx="93345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같은 데이터와 주요 학습 설정으로 세 구조의 성능과 크기를 비교했다.</a:t>
            </a:r>
          </a:p>
        </p:txBody>
      </p:sp>
      <p:sp>
        <p:nvSpPr>
          <p:cNvPr id="8" name="직사각형 7">
            <a:extLst>
              <a:ext uri="{FF2B5EF4-FFF2-40B4-BE49-F238E27FC236}">
                <a16:creationId xmlns:a16="http://schemas.microsoft.com/office/drawing/2014/main" id="{631926C6-158D-447A-A278-D8D3DFC29340}"/>
              </a:ext>
            </a:extLst>
          </p:cNvPr>
          <p:cNvSpPr>
            <a:spLocks noGrp="1"/>
          </p:cNvSpPr>
          <p:nvPr/>
        </p:nvSpPr>
        <p:spPr>
          <a:xfrm>
            <a:off x="628650" y="5772150"/>
            <a:ext cx="7239000" cy="3048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모두 ImageNet 사전학습 가중치 사용</a:t>
            </a:r>
          </a:p>
        </p:txBody>
      </p:sp>
    </p:spTree>
    <p:extLst>
      <p:ext uri="{BB962C8B-B14F-4D97-AF65-F5344CB8AC3E}">
        <p14:creationId xmlns:p14="http://schemas.microsoft.com/office/powerpoint/2010/main" val="1622743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70A78F6F-95C4-4588-834F-C297F92664C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학습과 평가 설계</a:t>
            </a:r>
          </a:p>
        </p:txBody>
      </p:sp>
      <p:sp>
        <p:nvSpPr>
          <p:cNvPr id="2" name="직사각형 1">
            <a:extLst>
              <a:ext uri="{FF2B5EF4-FFF2-40B4-BE49-F238E27FC236}">
                <a16:creationId xmlns:a16="http://schemas.microsoft.com/office/drawing/2014/main" id="{1A8AF122-4CB8-46E5-91FD-9C0C0A427E2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검증 Macro-F1을 기준으로 최고 가중치 저장</a:t>
            </a:r>
          </a:p>
        </p:txBody>
      </p:sp>
      <p:sp>
        <p:nvSpPr>
          <p:cNvPr id="3" name="직선 연결선 2">
            <a:extLst>
              <a:ext uri="{FF2B5EF4-FFF2-40B4-BE49-F238E27FC236}">
                <a16:creationId xmlns:a16="http://schemas.microsoft.com/office/drawing/2014/main" id="{221BA7E0-9CDA-45B2-85CB-10C8836BA26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9D5763FC-15B2-448D-9E00-34A79D0A60F6}"/>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8287B8-7FCC-4069-9494-DAB5BE8ADD5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12</a:t>
            </a:r>
          </a:p>
        </p:txBody>
      </p:sp>
      <p:sp>
        <p:nvSpPr>
          <p:cNvPr id="6" name="사각형: 둥근 모서리 5">
            <a:extLst>
              <a:ext uri="{FF2B5EF4-FFF2-40B4-BE49-F238E27FC236}">
                <a16:creationId xmlns:a16="http://schemas.microsoft.com/office/drawing/2014/main" id="{7A334CAA-8891-4EBD-984D-807A8363D0B4}"/>
              </a:ext>
            </a:extLst>
          </p:cNvPr>
          <p:cNvSpPr>
            <a:spLocks noGrp="1"/>
          </p:cNvSpPr>
          <p:nvPr/>
        </p:nvSpPr>
        <p:spPr>
          <a:xfrm>
            <a:off x="876300" y="2038350"/>
            <a:ext cx="2095500" cy="952500"/>
          </a:xfrm>
          <a:prstGeom prst="roundRect">
            <a:avLst>
              <a:gd name="adj" fmla="val 12000"/>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같은 데이터</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세 모델 학습</a:t>
            </a:r>
          </a:p>
        </p:txBody>
      </p:sp>
      <p:sp>
        <p:nvSpPr>
          <p:cNvPr id="7" name="사각형: 둥근 모서리 6">
            <a:extLst>
              <a:ext uri="{FF2B5EF4-FFF2-40B4-BE49-F238E27FC236}">
                <a16:creationId xmlns:a16="http://schemas.microsoft.com/office/drawing/2014/main" id="{1E229C35-5C15-4949-A473-E9DA1BC8FB51}"/>
              </a:ext>
            </a:extLst>
          </p:cNvPr>
          <p:cNvSpPr>
            <a:spLocks noGrp="1"/>
          </p:cNvSpPr>
          <p:nvPr/>
        </p:nvSpPr>
        <p:spPr>
          <a:xfrm>
            <a:off x="3448050" y="2038350"/>
            <a:ext cx="2095500" cy="952500"/>
          </a:xfrm>
          <a:prstGeom prst="roundRect">
            <a:avLst>
              <a:gd name="adj" fmla="val 12000"/>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Training에만</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약한 증강</a:t>
            </a:r>
          </a:p>
        </p:txBody>
      </p:sp>
      <p:sp>
        <p:nvSpPr>
          <p:cNvPr id="8" name="사각형: 둥근 모서리 7">
            <a:extLst>
              <a:ext uri="{FF2B5EF4-FFF2-40B4-BE49-F238E27FC236}">
                <a16:creationId xmlns:a16="http://schemas.microsoft.com/office/drawing/2014/main" id="{DE6BDE3B-F664-4399-AAA5-21ACB9FBDB44}"/>
              </a:ext>
            </a:extLst>
          </p:cNvPr>
          <p:cNvSpPr>
            <a:spLocks noGrp="1"/>
          </p:cNvSpPr>
          <p:nvPr/>
        </p:nvSpPr>
        <p:spPr>
          <a:xfrm>
            <a:off x="6019800" y="2038350"/>
            <a:ext cx="2095500" cy="952500"/>
          </a:xfrm>
          <a:prstGeom prst="roundRect">
            <a:avLst>
              <a:gd name="adj" fmla="val 12000"/>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Validation</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Macro-F1 비교</a:t>
            </a:r>
          </a:p>
        </p:txBody>
      </p:sp>
      <p:sp>
        <p:nvSpPr>
          <p:cNvPr id="9" name="사각형: 둥근 모서리 8">
            <a:extLst>
              <a:ext uri="{FF2B5EF4-FFF2-40B4-BE49-F238E27FC236}">
                <a16:creationId xmlns:a16="http://schemas.microsoft.com/office/drawing/2014/main" id="{D4C2C95F-F146-43FF-8734-4C4B7BFA8F8B}"/>
              </a:ext>
            </a:extLst>
          </p:cNvPr>
          <p:cNvSpPr>
            <a:spLocks noGrp="1"/>
          </p:cNvSpPr>
          <p:nvPr/>
        </p:nvSpPr>
        <p:spPr>
          <a:xfrm>
            <a:off x="8591550" y="2038350"/>
            <a:ext cx="2095500" cy="952500"/>
          </a:xfrm>
          <a:prstGeom prst="roundRect">
            <a:avLst>
              <a:gd name="adj" fmla="val 12000"/>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3회 정체 시 종료</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best.pt 저장</a:t>
            </a:r>
          </a:p>
        </p:txBody>
      </p:sp>
      <p:cxnSp>
        <p:nvCxnSpPr>
          <p:cNvPr id="123" name="직선 화살표 연결선 26"/>
          <p:cNvCxnSpPr>
            <a:stCxn id="6" idx="3"/>
            <a:endCxn id="7" idx="1"/>
          </p:cNvCxnSpPr>
          <p:nvPr/>
        </p:nvCxnSpPr>
        <p:spPr>
          <a:xfrm>
            <a:off x="2971800" y="2514600"/>
            <a:ext cx="476250" cy="0"/>
          </a:xfrm>
          <a:prstGeom prst="straightConnector1">
            <a:avLst/>
          </a:prstGeom>
          <a:ln w="19050">
            <a:solidFill>
              <a:srgbClr val="607086"/>
            </a:solidFill>
            <a:prstDash val="solid"/>
            <a:tailEnd type="triangle" w="sm" len="sm"/>
          </a:ln>
        </p:spPr>
      </p:cxnSp>
      <p:cxnSp>
        <p:nvCxnSpPr>
          <p:cNvPr id="124" name="직선 화살표 연결선 27"/>
          <p:cNvCxnSpPr>
            <a:stCxn id="7" idx="3"/>
            <a:endCxn id="8" idx="1"/>
          </p:cNvCxnSpPr>
          <p:nvPr/>
        </p:nvCxnSpPr>
        <p:spPr>
          <a:xfrm>
            <a:off x="5543550" y="2514600"/>
            <a:ext cx="476250" cy="0"/>
          </a:xfrm>
          <a:prstGeom prst="straightConnector1">
            <a:avLst/>
          </a:prstGeom>
          <a:ln w="19050">
            <a:solidFill>
              <a:srgbClr val="607086"/>
            </a:solidFill>
            <a:prstDash val="solid"/>
            <a:tailEnd type="triangle" w="sm" len="sm"/>
          </a:ln>
        </p:spPr>
      </p:cxnSp>
      <p:cxnSp>
        <p:nvCxnSpPr>
          <p:cNvPr id="125" name="직선 화살표 연결선 28"/>
          <p:cNvCxnSpPr>
            <a:stCxn id="8" idx="3"/>
            <a:endCxn id="9" idx="1"/>
          </p:cNvCxnSpPr>
          <p:nvPr/>
        </p:nvCxnSpPr>
        <p:spPr>
          <a:xfrm>
            <a:off x="8115300" y="2514600"/>
            <a:ext cx="4762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3742E92D-40B4-4102-B14B-E8E12D8866E9}"/>
              </a:ext>
            </a:extLst>
          </p:cNvPr>
          <p:cNvSpPr>
            <a:spLocks noGrp="1"/>
          </p:cNvSpPr>
          <p:nvPr/>
        </p:nvSpPr>
        <p:spPr>
          <a:xfrm>
            <a:off x="647700" y="3752850"/>
            <a:ext cx="2095500" cy="361950"/>
          </a:xfrm>
          <a:prstGeom prst="rect">
            <a:avLst/>
          </a:prstGeom>
          <a:noFill/>
          <a:ln w="0">
            <a:noFill/>
          </a:ln>
        </p:spPr>
        <p:txBody>
          <a:bodyPr/>
          <a:lstStyle/>
          <a:p>
            <a:pPr algn="l">
              <a:buNone/>
              <a:defRPr sz="2100" b="1" i="0">
                <a:solidFill>
                  <a:srgbClr val="122033"/>
                </a:solidFill>
                <a:latin typeface="Malgun Gothic"/>
                <a:ea typeface="Malgun Gothic"/>
                <a:cs typeface="Malgun Gothic"/>
              </a:defRPr>
            </a:pPr>
            <a:r>
              <a:rPr sz="2100" b="1" i="0">
                <a:solidFill>
                  <a:srgbClr val="122033"/>
                </a:solidFill>
                <a:latin typeface="Malgun Gothic"/>
                <a:ea typeface="Malgun Gothic"/>
                <a:cs typeface="Malgun Gothic"/>
              </a:rPr>
              <a:t>공통 설정</a:t>
            </a:r>
          </a:p>
        </p:txBody>
      </p:sp>
      <p:sp>
        <p:nvSpPr>
          <p:cNvPr id="16" name="직사각형 15">
            <a:extLst>
              <a:ext uri="{FF2B5EF4-FFF2-40B4-BE49-F238E27FC236}">
                <a16:creationId xmlns:a16="http://schemas.microsoft.com/office/drawing/2014/main" id="{74746310-60B2-4AE3-96FE-A615D19E92A8}"/>
              </a:ext>
            </a:extLst>
          </p:cNvPr>
          <p:cNvSpPr>
            <a:spLocks noGrp="1"/>
          </p:cNvSpPr>
          <p:nvPr/>
        </p:nvSpPr>
        <p:spPr>
          <a:xfrm>
            <a:off x="628650" y="4191000"/>
            <a:ext cx="10477500" cy="1714500"/>
          </a:xfrm>
          <a:prstGeom prst="rect">
            <a:avLst/>
          </a:prstGeom>
          <a:noFill/>
          <a:ln w="0">
            <a:noFill/>
          </a:ln>
        </p:spPr>
        <p:txBody>
          <a:bodyPr/>
          <a:lstStyle/>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최대 epoch = 50, batch_size = 32, learning rate = 0.0003, seed = 42</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검증 F1이 3회 연속 개선되지 않으면 조기 종료</a:t>
            </a:r>
          </a:p>
          <a:p>
            <a:pPr marL="228600" indent="-101600">
              <a:spcAft>
                <a:spcPts val="9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최고 epoch는 best.pt, 재개 상태는 last.pt에 분리 저장</a:t>
            </a:r>
          </a:p>
        </p:txBody>
      </p:sp>
    </p:spTree>
    <p:extLst>
      <p:ext uri="{BB962C8B-B14F-4D97-AF65-F5344CB8AC3E}">
        <p14:creationId xmlns:p14="http://schemas.microsoft.com/office/powerpoint/2010/main" val="13115856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1BEB6577-5408-40A9-9BC3-445F137AB2A4}"/>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a:solidFill>
                  <a:srgbClr val="122033"/>
                </a:solidFill>
                <a:latin typeface="Malgun Gothic"/>
                <a:ea typeface="Malgun Gothic"/>
                <a:cs typeface="Malgun Gothic"/>
              </a:rPr>
              <a:t>세</a:t>
            </a:r>
            <a:r>
              <a:rPr lang="ko-KR" altLang="en-US" sz="3225" b="1" i="0" dirty="0">
                <a:solidFill>
                  <a:srgbClr val="122033"/>
                </a:solidFill>
                <a:latin typeface="Malgun Gothic"/>
                <a:ea typeface="Malgun Gothic"/>
                <a:cs typeface="Malgun Gothic"/>
              </a:rPr>
              <a:t>개의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모델의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검증</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성능</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6C94A07A-BB10-478B-BF6D-90EBF3EEEFC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현재 최고 수치는 EfficientNet-B0, 앱은 세 백본 중 하나를 선택하는 구조</a:t>
            </a:r>
          </a:p>
        </p:txBody>
      </p:sp>
      <p:sp>
        <p:nvSpPr>
          <p:cNvPr id="3" name="직선 연결선 2">
            <a:extLst>
              <a:ext uri="{FF2B5EF4-FFF2-40B4-BE49-F238E27FC236}">
                <a16:creationId xmlns:a16="http://schemas.microsoft.com/office/drawing/2014/main" id="{FBAD78F2-5C4D-4BC0-AF8D-DD50C55F4FD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613573-F5C2-4BE1-9AD4-E421EBAD934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236C769-3F4C-4BFA-92FF-5B1748112FCF}"/>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13</a:t>
            </a:r>
          </a:p>
        </p:txBody>
      </p:sp>
      <p:graphicFrame>
        <p:nvGraphicFramePr>
          <p:cNvPr id="20" name="Chart"/>
          <p:cNvGraphicFramePr/>
          <p:nvPr/>
        </p:nvGraphicFramePr>
        <p:xfrm>
          <a:off x="704850" y="1619250"/>
          <a:ext cx="79057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DF186A23-D41A-4357-AF27-4C8ED4BE629D}"/>
              </a:ext>
            </a:extLst>
          </p:cNvPr>
          <p:cNvSpPr>
            <a:spLocks noGrp="1"/>
          </p:cNvSpPr>
          <p:nvPr/>
        </p:nvSpPr>
        <p:spPr>
          <a:xfrm>
            <a:off x="9067800" y="2076450"/>
            <a:ext cx="2095500" cy="609600"/>
          </a:xfrm>
          <a:prstGeom prst="rect">
            <a:avLst/>
          </a:prstGeom>
          <a:noFill/>
          <a:ln w="0">
            <a:noFill/>
          </a:ln>
        </p:spPr>
        <p:txBody>
          <a:bodyPr/>
          <a:lstStyle/>
          <a:p>
            <a:pPr algn="l">
              <a:buNone/>
              <a:defRPr sz="3600" b="1" i="0">
                <a:solidFill>
                  <a:srgbClr val="4263EB"/>
                </a:solidFill>
                <a:latin typeface="Malgun Gothic"/>
                <a:ea typeface="Malgun Gothic"/>
                <a:cs typeface="Malgun Gothic"/>
              </a:defRPr>
            </a:pPr>
            <a:r>
              <a:rPr sz="3600" b="1" i="0">
                <a:solidFill>
                  <a:srgbClr val="4263EB"/>
                </a:solidFill>
                <a:latin typeface="Malgun Gothic"/>
                <a:ea typeface="Malgun Gothic"/>
                <a:cs typeface="Malgun Gothic"/>
              </a:rPr>
              <a:t>0.7400</a:t>
            </a:r>
          </a:p>
        </p:txBody>
      </p:sp>
      <p:sp>
        <p:nvSpPr>
          <p:cNvPr id="8" name="직사각형 7">
            <a:extLst>
              <a:ext uri="{FF2B5EF4-FFF2-40B4-BE49-F238E27FC236}">
                <a16:creationId xmlns:a16="http://schemas.microsoft.com/office/drawing/2014/main" id="{65FE4156-3721-4695-AFB9-52170BE0B199}"/>
              </a:ext>
            </a:extLst>
          </p:cNvPr>
          <p:cNvSpPr>
            <a:spLocks noGrp="1"/>
          </p:cNvSpPr>
          <p:nvPr/>
        </p:nvSpPr>
        <p:spPr>
          <a:xfrm>
            <a:off x="9067800" y="27051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정확도</a:t>
            </a:r>
          </a:p>
        </p:txBody>
      </p:sp>
      <p:sp>
        <p:nvSpPr>
          <p:cNvPr id="9" name="직사각형 8">
            <a:extLst>
              <a:ext uri="{FF2B5EF4-FFF2-40B4-BE49-F238E27FC236}">
                <a16:creationId xmlns:a16="http://schemas.microsoft.com/office/drawing/2014/main" id="{DEE6C811-3C00-4ADD-9E1D-7785ED4F442B}"/>
              </a:ext>
            </a:extLst>
          </p:cNvPr>
          <p:cNvSpPr>
            <a:spLocks noGrp="1"/>
          </p:cNvSpPr>
          <p:nvPr/>
        </p:nvSpPr>
        <p:spPr>
          <a:xfrm>
            <a:off x="9067800" y="3562350"/>
            <a:ext cx="2095500" cy="609600"/>
          </a:xfrm>
          <a:prstGeom prst="rect">
            <a:avLst/>
          </a:prstGeom>
          <a:noFill/>
          <a:ln w="0">
            <a:noFill/>
          </a:ln>
        </p:spPr>
        <p:txBody>
          <a:bodyPr/>
          <a:lstStyle/>
          <a:p>
            <a:pPr algn="l">
              <a:buNone/>
              <a:defRPr sz="3600" b="1" i="0">
                <a:solidFill>
                  <a:srgbClr val="14B8A6"/>
                </a:solidFill>
                <a:latin typeface="Malgun Gothic"/>
                <a:ea typeface="Malgun Gothic"/>
                <a:cs typeface="Malgun Gothic"/>
              </a:defRPr>
            </a:pPr>
            <a:r>
              <a:rPr sz="3600" b="1" i="0">
                <a:solidFill>
                  <a:srgbClr val="14B8A6"/>
                </a:solidFill>
                <a:latin typeface="Malgun Gothic"/>
                <a:ea typeface="Malgun Gothic"/>
                <a:cs typeface="Malgun Gothic"/>
              </a:rPr>
              <a:t>0.7357</a:t>
            </a:r>
          </a:p>
        </p:txBody>
      </p:sp>
      <p:sp>
        <p:nvSpPr>
          <p:cNvPr id="10" name="직사각형 9">
            <a:extLst>
              <a:ext uri="{FF2B5EF4-FFF2-40B4-BE49-F238E27FC236}">
                <a16:creationId xmlns:a16="http://schemas.microsoft.com/office/drawing/2014/main" id="{DA0C30C9-8BFD-4FB6-ADA2-5A227AFF2729}"/>
              </a:ext>
            </a:extLst>
          </p:cNvPr>
          <p:cNvSpPr>
            <a:spLocks noGrp="1"/>
          </p:cNvSpPr>
          <p:nvPr/>
        </p:nvSpPr>
        <p:spPr>
          <a:xfrm>
            <a:off x="9067800" y="4191000"/>
            <a:ext cx="2095500" cy="4953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F1</a:t>
            </a:r>
          </a:p>
        </p:txBody>
      </p:sp>
      <p:sp>
        <p:nvSpPr>
          <p:cNvPr id="11" name="직사각형 10">
            <a:extLst>
              <a:ext uri="{FF2B5EF4-FFF2-40B4-BE49-F238E27FC236}">
                <a16:creationId xmlns:a16="http://schemas.microsoft.com/office/drawing/2014/main" id="{E5D89FFD-772F-4DB2-A29C-6DE951C9A879}"/>
              </a:ext>
            </a:extLst>
          </p:cNvPr>
          <p:cNvSpPr>
            <a:spLocks noGrp="1"/>
          </p:cNvSpPr>
          <p:nvPr/>
        </p:nvSpPr>
        <p:spPr>
          <a:xfrm>
            <a:off x="9067800" y="5000625"/>
            <a:ext cx="2286000" cy="381000"/>
          </a:xfrm>
          <a:prstGeom prst="rect">
            <a:avLst/>
          </a:prstGeom>
          <a:noFill/>
          <a:ln w="0">
            <a:noFill/>
          </a:ln>
        </p:spPr>
        <p:txBody>
          <a:bodyPr/>
          <a:lstStyle/>
          <a:p>
            <a:pPr algn="l">
              <a:buNone/>
              <a:defRPr sz="1875" b="1" i="0">
                <a:solidFill>
                  <a:srgbClr val="122033"/>
                </a:solidFill>
                <a:latin typeface="Malgun Gothic"/>
                <a:ea typeface="Malgun Gothic"/>
                <a:cs typeface="Malgun Gothic"/>
              </a:defRPr>
            </a:pPr>
            <a:r>
              <a:rPr sz="1875" b="1" i="0">
                <a:solidFill>
                  <a:srgbClr val="122033"/>
                </a:solidFill>
                <a:latin typeface="Malgun Gothic"/>
                <a:ea typeface="Malgun Gothic"/>
                <a:cs typeface="Malgun Gothic"/>
              </a:rPr>
              <a:t>EfficientNet-B0</a:t>
            </a:r>
          </a:p>
        </p:txBody>
      </p:sp>
      <p:sp>
        <p:nvSpPr>
          <p:cNvPr id="12" name="직사각형 11">
            <a:extLst>
              <a:ext uri="{FF2B5EF4-FFF2-40B4-BE49-F238E27FC236}">
                <a16:creationId xmlns:a16="http://schemas.microsoft.com/office/drawing/2014/main" id="{64DA393D-6976-4E6D-807E-05DA7CC703F1}"/>
              </a:ext>
            </a:extLst>
          </p:cNvPr>
          <p:cNvSpPr>
            <a:spLocks noGrp="1"/>
          </p:cNvSpPr>
          <p:nvPr/>
        </p:nvSpPr>
        <p:spPr>
          <a:xfrm>
            <a:off x="9067800" y="5429250"/>
            <a:ext cx="2095500" cy="30480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best epoch 15</a:t>
            </a:r>
          </a:p>
        </p:txBody>
      </p:sp>
    </p:spTree>
    <p:extLst>
      <p:ext uri="{BB962C8B-B14F-4D97-AF65-F5344CB8AC3E}">
        <p14:creationId xmlns:p14="http://schemas.microsoft.com/office/powerpoint/2010/main" val="5686267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B3ABF865-F395-4550-847C-386B42F261C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감정별 F1</a:t>
            </a:r>
          </a:p>
        </p:txBody>
      </p:sp>
      <p:sp>
        <p:nvSpPr>
          <p:cNvPr id="2" name="직사각형 1">
            <a:extLst>
              <a:ext uri="{FF2B5EF4-FFF2-40B4-BE49-F238E27FC236}">
                <a16:creationId xmlns:a16="http://schemas.microsoft.com/office/drawing/2014/main" id="{CC3E51EE-7BCE-4871-A2CF-7B327D7A6873}"/>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기쁨·중립은 강하고 불안·상처는 공통 약점</a:t>
            </a:r>
          </a:p>
        </p:txBody>
      </p:sp>
      <p:sp>
        <p:nvSpPr>
          <p:cNvPr id="3" name="직선 연결선 2">
            <a:extLst>
              <a:ext uri="{FF2B5EF4-FFF2-40B4-BE49-F238E27FC236}">
                <a16:creationId xmlns:a16="http://schemas.microsoft.com/office/drawing/2014/main" id="{4CE2B66C-9199-49AB-940B-419520682177}"/>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5D09E57-60D8-465E-ABE1-E7D0722840C8}"/>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A0D98CBA-3A37-4E5A-B785-A5840FFDBED0}"/>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14</a:t>
            </a:r>
          </a:p>
        </p:txBody>
      </p:sp>
      <p:graphicFrame>
        <p:nvGraphicFramePr>
          <p:cNvPr id="24" name="Chart"/>
          <p:cNvGraphicFramePr/>
          <p:nvPr/>
        </p:nvGraphicFramePr>
        <p:xfrm>
          <a:off x="647700" y="1600200"/>
          <a:ext cx="8477250" cy="4095750"/>
        </p:xfrm>
        <a:graphic>
          <a:graphicData uri="http://schemas.openxmlformats.org/drawingml/2006/chart">
            <c:chart xmlns:c="http://schemas.openxmlformats.org/drawingml/2006/chart" xmlns:r="http://schemas.openxmlformats.org/officeDocument/2006/relationships" r:id="rId3"/>
          </a:graphicData>
        </a:graphic>
      </p:graphicFrame>
      <p:sp>
        <p:nvSpPr>
          <p:cNvPr id="7" name="직사각형 6">
            <a:extLst>
              <a:ext uri="{FF2B5EF4-FFF2-40B4-BE49-F238E27FC236}">
                <a16:creationId xmlns:a16="http://schemas.microsoft.com/office/drawing/2014/main" id="{CB339676-9A8C-4B83-B913-54149E0D029E}"/>
              </a:ext>
            </a:extLst>
          </p:cNvPr>
          <p:cNvSpPr>
            <a:spLocks noGrp="1"/>
          </p:cNvSpPr>
          <p:nvPr/>
        </p:nvSpPr>
        <p:spPr>
          <a:xfrm>
            <a:off x="9525000" y="1943100"/>
            <a:ext cx="1905000" cy="361950"/>
          </a:xfrm>
          <a:prstGeom prst="rect">
            <a:avLst/>
          </a:prstGeom>
          <a:noFill/>
          <a:ln w="0">
            <a:noFill/>
          </a:ln>
        </p:spPr>
        <p:txBody>
          <a:bodyPr/>
          <a:lstStyle/>
          <a:p>
            <a:pPr algn="l">
              <a:buNone/>
              <a:defRPr sz="1950" b="1" i="0">
                <a:solidFill>
                  <a:srgbClr val="F97356"/>
                </a:solidFill>
                <a:latin typeface="Malgun Gothic"/>
                <a:ea typeface="Malgun Gothic"/>
                <a:cs typeface="Malgun Gothic"/>
              </a:defRPr>
            </a:pPr>
            <a:r>
              <a:rPr sz="1950" b="1" i="0">
                <a:solidFill>
                  <a:srgbClr val="F97356"/>
                </a:solidFill>
                <a:latin typeface="Malgun Gothic"/>
                <a:ea typeface="Malgun Gothic"/>
                <a:cs typeface="Malgun Gothic"/>
              </a:rPr>
              <a:t>공통 약점</a:t>
            </a:r>
          </a:p>
        </p:txBody>
      </p:sp>
      <p:sp>
        <p:nvSpPr>
          <p:cNvPr id="8" name="직사각형 7">
            <a:extLst>
              <a:ext uri="{FF2B5EF4-FFF2-40B4-BE49-F238E27FC236}">
                <a16:creationId xmlns:a16="http://schemas.microsoft.com/office/drawing/2014/main" id="{D1676474-8EF6-45F5-B6F6-02AD3B98B3B6}"/>
              </a:ext>
            </a:extLst>
          </p:cNvPr>
          <p:cNvSpPr>
            <a:spLocks noGrp="1"/>
          </p:cNvSpPr>
          <p:nvPr/>
        </p:nvSpPr>
        <p:spPr>
          <a:xfrm>
            <a:off x="9525000" y="253365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불안</a:t>
            </a:r>
          </a:p>
        </p:txBody>
      </p:sp>
      <p:sp>
        <p:nvSpPr>
          <p:cNvPr id="9" name="직사각형 8">
            <a:extLst>
              <a:ext uri="{FF2B5EF4-FFF2-40B4-BE49-F238E27FC236}">
                <a16:creationId xmlns:a16="http://schemas.microsoft.com/office/drawing/2014/main" id="{EDB5B867-6E86-4330-976E-339BF66F900A}"/>
              </a:ext>
            </a:extLst>
          </p:cNvPr>
          <p:cNvSpPr>
            <a:spLocks noGrp="1"/>
          </p:cNvSpPr>
          <p:nvPr/>
        </p:nvSpPr>
        <p:spPr>
          <a:xfrm>
            <a:off x="9525000" y="297180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0.56~0.57</a:t>
            </a:r>
          </a:p>
        </p:txBody>
      </p:sp>
      <p:sp>
        <p:nvSpPr>
          <p:cNvPr id="10" name="직사각형 9">
            <a:extLst>
              <a:ext uri="{FF2B5EF4-FFF2-40B4-BE49-F238E27FC236}">
                <a16:creationId xmlns:a16="http://schemas.microsoft.com/office/drawing/2014/main" id="{EA3880C7-1BD5-45D6-8DF0-B90C2C080C91}"/>
              </a:ext>
            </a:extLst>
          </p:cNvPr>
          <p:cNvSpPr>
            <a:spLocks noGrp="1"/>
          </p:cNvSpPr>
          <p:nvPr/>
        </p:nvSpPr>
        <p:spPr>
          <a:xfrm>
            <a:off x="9525000" y="3695700"/>
            <a:ext cx="1619250" cy="457200"/>
          </a:xfrm>
          <a:prstGeom prst="rect">
            <a:avLst/>
          </a:prstGeom>
          <a:noFill/>
          <a:ln w="0">
            <a:noFill/>
          </a:ln>
        </p:spPr>
        <p:txBody>
          <a:bodyPr/>
          <a:lstStyle/>
          <a:p>
            <a:pPr algn="l">
              <a:buNone/>
              <a:defRPr sz="2700" b="1" i="0">
                <a:solidFill>
                  <a:srgbClr val="122033"/>
                </a:solidFill>
                <a:latin typeface="Malgun Gothic"/>
                <a:ea typeface="Malgun Gothic"/>
                <a:cs typeface="Malgun Gothic"/>
              </a:defRPr>
            </a:pPr>
            <a:r>
              <a:rPr sz="2700" b="1" i="0">
                <a:solidFill>
                  <a:srgbClr val="122033"/>
                </a:solidFill>
                <a:latin typeface="Malgun Gothic"/>
                <a:ea typeface="Malgun Gothic"/>
                <a:cs typeface="Malgun Gothic"/>
              </a:rPr>
              <a:t>상처</a:t>
            </a:r>
          </a:p>
        </p:txBody>
      </p:sp>
      <p:sp>
        <p:nvSpPr>
          <p:cNvPr id="11" name="직사각형 10">
            <a:extLst>
              <a:ext uri="{FF2B5EF4-FFF2-40B4-BE49-F238E27FC236}">
                <a16:creationId xmlns:a16="http://schemas.microsoft.com/office/drawing/2014/main" id="{67027350-64D2-42B7-8F19-1B59B4ECCF36}"/>
              </a:ext>
            </a:extLst>
          </p:cNvPr>
          <p:cNvSpPr>
            <a:spLocks noGrp="1"/>
          </p:cNvSpPr>
          <p:nvPr/>
        </p:nvSpPr>
        <p:spPr>
          <a:xfrm>
            <a:off x="9525000" y="4133850"/>
            <a:ext cx="1905000" cy="285750"/>
          </a:xfrm>
          <a:prstGeom prst="rect">
            <a:avLst/>
          </a:prstGeom>
          <a:noFill/>
          <a:ln w="0">
            <a:noFill/>
          </a:ln>
        </p:spPr>
        <p:txBody>
          <a:bodyPr/>
          <a:lstStyle/>
          <a:p>
            <a:pPr algn="l">
              <a:buNone/>
              <a:defRPr sz="1350" b="0" i="0">
                <a:solidFill>
                  <a:srgbClr val="607086"/>
                </a:solidFill>
                <a:latin typeface="Malgun Gothic"/>
                <a:ea typeface="Malgun Gothic"/>
                <a:cs typeface="Malgun Gothic"/>
              </a:defRPr>
            </a:pPr>
            <a:r>
              <a:rPr sz="1350" b="0" i="0">
                <a:solidFill>
                  <a:srgbClr val="607086"/>
                </a:solidFill>
                <a:latin typeface="Malgun Gothic"/>
                <a:ea typeface="Malgun Gothic"/>
                <a:cs typeface="Malgun Gothic"/>
              </a:rPr>
              <a:t>F1 0.50~0.54</a:t>
            </a:r>
          </a:p>
        </p:txBody>
      </p:sp>
      <p:sp>
        <p:nvSpPr>
          <p:cNvPr id="12" name="직사각형 11">
            <a:extLst>
              <a:ext uri="{FF2B5EF4-FFF2-40B4-BE49-F238E27FC236}">
                <a16:creationId xmlns:a16="http://schemas.microsoft.com/office/drawing/2014/main" id="{2BAA5B61-9B55-4AED-82E7-B3C2F3E23E37}"/>
              </a:ext>
            </a:extLst>
          </p:cNvPr>
          <p:cNvSpPr>
            <a:spLocks noGrp="1"/>
          </p:cNvSpPr>
          <p:nvPr/>
        </p:nvSpPr>
        <p:spPr>
          <a:xfrm>
            <a:off x="9525000" y="4953000"/>
            <a:ext cx="1952625" cy="723900"/>
          </a:xfrm>
          <a:prstGeom prst="rect">
            <a:avLst/>
          </a:prstGeom>
          <a:noFill/>
          <a:ln w="0">
            <a:noFill/>
          </a:ln>
        </p:spPr>
        <p:txBody>
          <a:bodyPr/>
          <a:lstStyle/>
          <a:p>
            <a:pPr algn="l">
              <a:buNone/>
              <a:defRPr sz="1500" b="0" i="0">
                <a:solidFill>
                  <a:srgbClr val="607086"/>
                </a:solidFill>
                <a:latin typeface="Malgun Gothic"/>
                <a:ea typeface="Malgun Gothic"/>
                <a:cs typeface="Malgun Gothic"/>
              </a:defRPr>
            </a:pPr>
            <a:r>
              <a:rPr sz="1500" b="0" i="0">
                <a:solidFill>
                  <a:srgbClr val="607086"/>
                </a:solidFill>
                <a:latin typeface="Malgun Gothic"/>
                <a:ea typeface="Malgun Gothic"/>
                <a:cs typeface="Malgun Gothic"/>
              </a:rPr>
              <a:t>향후 오분류 사례와 라벨 경계를 집중 분석</a:t>
            </a:r>
          </a:p>
        </p:txBody>
      </p:sp>
      <p:sp>
        <p:nvSpPr>
          <p:cNvPr id="15" name="직사각형 14">
            <a:extLst>
              <a:ext uri="{FF2B5EF4-FFF2-40B4-BE49-F238E27FC236}">
                <a16:creationId xmlns:a16="http://schemas.microsoft.com/office/drawing/2014/main" id="{6BA2E2DE-98B0-432D-B14B-4C8DF55DBA55}"/>
              </a:ext>
            </a:extLst>
          </p:cNvPr>
          <p:cNvSpPr>
            <a:spLocks noGrp="1"/>
          </p:cNvSpPr>
          <p:nvPr/>
        </p:nvSpPr>
        <p:spPr>
          <a:xfrm>
            <a:off x="1238250" y="173355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95.1%</a:t>
            </a:r>
          </a:p>
        </p:txBody>
      </p:sp>
      <p:sp>
        <p:nvSpPr>
          <p:cNvPr id="16" name="직사각형 15">
            <a:extLst>
              <a:ext uri="{FF2B5EF4-FFF2-40B4-BE49-F238E27FC236}">
                <a16:creationId xmlns:a16="http://schemas.microsoft.com/office/drawing/2014/main" id="{3FC9076D-AF7E-4D81-88AB-BA4148D25B9C}"/>
              </a:ext>
            </a:extLst>
          </p:cNvPr>
          <p:cNvSpPr>
            <a:spLocks noGrp="1"/>
          </p:cNvSpPr>
          <p:nvPr/>
        </p:nvSpPr>
        <p:spPr>
          <a:xfrm>
            <a:off x="4524375" y="382905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56.8%</a:t>
            </a:r>
          </a:p>
        </p:txBody>
      </p:sp>
      <p:sp>
        <p:nvSpPr>
          <p:cNvPr id="17" name="직사각형 16">
            <a:extLst>
              <a:ext uri="{FF2B5EF4-FFF2-40B4-BE49-F238E27FC236}">
                <a16:creationId xmlns:a16="http://schemas.microsoft.com/office/drawing/2014/main" id="{F3C0E3DB-DD82-49EC-9AA9-E556C5FAE5DF}"/>
              </a:ext>
            </a:extLst>
          </p:cNvPr>
          <p:cNvSpPr>
            <a:spLocks noGrp="1"/>
          </p:cNvSpPr>
          <p:nvPr/>
        </p:nvSpPr>
        <p:spPr>
          <a:xfrm>
            <a:off x="5619750" y="409575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52.2%</a:t>
            </a:r>
          </a:p>
        </p:txBody>
      </p:sp>
      <p:sp>
        <p:nvSpPr>
          <p:cNvPr id="18" name="직사각형 17">
            <a:extLst>
              <a:ext uri="{FF2B5EF4-FFF2-40B4-BE49-F238E27FC236}">
                <a16:creationId xmlns:a16="http://schemas.microsoft.com/office/drawing/2014/main" id="{CE09FCA7-481A-4E2C-B89D-2865AD87C19E}"/>
              </a:ext>
            </a:extLst>
          </p:cNvPr>
          <p:cNvSpPr>
            <a:spLocks noGrp="1"/>
          </p:cNvSpPr>
          <p:nvPr/>
        </p:nvSpPr>
        <p:spPr>
          <a:xfrm>
            <a:off x="7810500" y="2362200"/>
            <a:ext cx="1104900" cy="228600"/>
          </a:xfrm>
          <a:prstGeom prst="rect">
            <a:avLst/>
          </a:prstGeom>
          <a:noFill/>
          <a:ln w="0">
            <a:noFill/>
          </a:ln>
        </p:spPr>
        <p:txBody>
          <a:bodyPr anchor="ctr">
            <a:noAutofit/>
          </a:bodyPr>
          <a:lstStyle/>
          <a:p>
            <a:pPr algn="ctr">
              <a:defRPr sz="1050" b="1">
                <a:solidFill>
                  <a:srgbClr val="E85D3F"/>
                </a:solidFill>
                <a:latin typeface="Malgun Gothic"/>
                <a:ea typeface="Malgun Gothic"/>
                <a:cs typeface="Malgun Gothic"/>
              </a:defRPr>
            </a:pPr>
            <a:r>
              <a:rPr sz="1050" b="1">
                <a:solidFill>
                  <a:srgbClr val="E85D3F"/>
                </a:solidFill>
                <a:latin typeface="Malgun Gothic"/>
                <a:ea typeface="Malgun Gothic"/>
                <a:cs typeface="Malgun Gothic"/>
              </a:rPr>
              <a:t>평균 82.8%</a:t>
            </a:r>
          </a:p>
        </p:txBody>
      </p:sp>
    </p:spTree>
    <p:extLst>
      <p:ext uri="{BB962C8B-B14F-4D97-AF65-F5344CB8AC3E}">
        <p14:creationId xmlns:p14="http://schemas.microsoft.com/office/powerpoint/2010/main" val="798534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1" name="제목">
            <a:extLst>
              <a:ext uri="{FF2B5EF4-FFF2-40B4-BE49-F238E27FC236}">
                <a16:creationId xmlns:a16="http://schemas.microsoft.com/office/drawing/2014/main" id="{34E46C51-65A3-4F6C-BE15-5109D19D3E21}"/>
              </a:ext>
            </a:extLst>
          </p:cNvPr>
          <p:cNvSpPr>
            <a:spLocks noGrp="1"/>
          </p:cNvSpPr>
          <p:nvPr/>
        </p:nvSpPr>
        <p:spPr>
          <a:xfrm>
            <a:off x="609600" y="400050"/>
            <a:ext cx="10668000" cy="552450"/>
          </a:xfrm>
          <a:prstGeom prst="rect">
            <a:avLst/>
          </a:prstGeom>
          <a:noFill/>
          <a:ln w="0">
            <a:noFill/>
          </a:ln>
        </p:spPr>
        <p:txBody>
          <a:bodyPr>
            <a:noAutofit/>
          </a:bodyPr>
          <a:lstStyle/>
          <a:p>
            <a:pPr algn="l">
              <a:buNone/>
              <a:defRPr sz="3225" b="1">
                <a:solidFill>
                  <a:srgbClr val="122033"/>
                </a:solidFill>
                <a:latin typeface="Malgun Gothic"/>
                <a:ea typeface="Malgun Gothic"/>
                <a:cs typeface="Malgun Gothic"/>
              </a:defRPr>
            </a:pPr>
            <a:r>
              <a:rPr sz="3225" b="1">
                <a:solidFill>
                  <a:srgbClr val="122033"/>
                </a:solidFill>
                <a:latin typeface="Malgun Gothic"/>
                <a:ea typeface="Malgun Gothic"/>
                <a:cs typeface="Malgun Gothic"/>
              </a:rPr>
              <a:t>불안일까요, 상처일까요?</a:t>
            </a:r>
          </a:p>
        </p:txBody>
      </p:sp>
      <p:sp>
        <p:nvSpPr>
          <p:cNvPr id="2" name="부제">
            <a:extLst>
              <a:ext uri="{FF2B5EF4-FFF2-40B4-BE49-F238E27FC236}">
                <a16:creationId xmlns:a16="http://schemas.microsoft.com/office/drawing/2014/main" id="{6534349D-494D-438F-B4A3-FCC21EF3D200}"/>
              </a:ext>
            </a:extLst>
          </p:cNvPr>
          <p:cNvSpPr>
            <a:spLocks noGrp="1"/>
          </p:cNvSpPr>
          <p:nvPr/>
        </p:nvSpPr>
        <p:spPr>
          <a:xfrm>
            <a:off x="628650" y="962025"/>
            <a:ext cx="10572750" cy="323850"/>
          </a:xfrm>
          <a:prstGeom prst="rect">
            <a:avLst/>
          </a:prstGeom>
          <a:noFill/>
          <a:ln w="0">
            <a:noFill/>
          </a:ln>
        </p:spPr>
        <p:txBody>
          <a:bodyPr>
            <a:noAutofit/>
          </a:bodyPr>
          <a:lstStyle/>
          <a:p>
            <a:pPr algn="l">
              <a:buNone/>
              <a:defRPr sz="1425" b="0">
                <a:solidFill>
                  <a:srgbClr val="607086"/>
                </a:solidFill>
                <a:latin typeface="Malgun Gothic"/>
                <a:ea typeface="Malgun Gothic"/>
                <a:cs typeface="Malgun Gothic"/>
              </a:defRPr>
            </a:pPr>
            <a:r>
              <a:rPr sz="1425" b="0">
                <a:solidFill>
                  <a:srgbClr val="607086"/>
                </a:solidFill>
                <a:latin typeface="Malgun Gothic"/>
                <a:ea typeface="Malgun Gothic"/>
                <a:cs typeface="Malgun Gothic"/>
              </a:rPr>
              <a:t>같은 인물의 비슷한 표정도 Validation 라벨은 서로 다르다</a:t>
            </a:r>
          </a:p>
        </p:txBody>
      </p:sp>
      <p:sp>
        <p:nvSpPr>
          <p:cNvPr id="3" name="제목 구분선">
            <a:extLst>
              <a:ext uri="{FF2B5EF4-FFF2-40B4-BE49-F238E27FC236}">
                <a16:creationId xmlns:a16="http://schemas.microsoft.com/office/drawing/2014/main" id="{FE8F5AA5-7FA6-4998-AFA4-0C1FC1ECDB9D}"/>
              </a:ext>
            </a:extLst>
          </p:cNvPr>
          <p:cNvSpPr>
            <a:spLocks noGrp="1"/>
          </p:cNvSpPr>
          <p:nvPr/>
        </p:nvSpPr>
        <p:spPr>
          <a:xfrm>
            <a:off x="609600" y="1257300"/>
            <a:ext cx="10972800" cy="0"/>
          </a:xfrm>
          <a:prstGeom prst="line">
            <a:avLst/>
          </a:prstGeom>
          <a:noFill/>
          <a:ln w="9525">
            <a:solidFill>
              <a:srgbClr val="D9E0E8"/>
            </a:solidFill>
            <a:prstDash val="solid"/>
          </a:ln>
        </p:spPr>
      </p:sp>
      <p:pic>
        <p:nvPicPr>
          <p:cNvPr id="17" name="그림 16"/>
          <p:cNvPicPr>
            <a:picLocks noChangeAspect="1"/>
          </p:cNvPicPr>
          <p:nvPr/>
        </p:nvPicPr>
        <p:blipFill>
          <a:blip r:embed="rId3"/>
          <a:stretch/>
        </p:blipFill>
        <p:spPr>
          <a:xfrm>
            <a:off x="1409700" y="1428750"/>
            <a:ext cx="3962400" cy="3962400"/>
          </a:xfrm>
          <a:prstGeom prst="rect">
            <a:avLst/>
          </a:prstGeom>
        </p:spPr>
      </p:pic>
      <p:pic>
        <p:nvPicPr>
          <p:cNvPr id="18" name="그림 17"/>
          <p:cNvPicPr>
            <a:picLocks noChangeAspect="1"/>
          </p:cNvPicPr>
          <p:nvPr/>
        </p:nvPicPr>
        <p:blipFill>
          <a:blip r:embed="rId4"/>
          <a:stretch/>
        </p:blipFill>
        <p:spPr>
          <a:xfrm>
            <a:off x="6819900" y="1428750"/>
            <a:ext cx="3962400" cy="3962400"/>
          </a:xfrm>
          <a:prstGeom prst="rect">
            <a:avLst/>
          </a:prstGeom>
        </p:spPr>
      </p:pic>
      <p:sp>
        <p:nvSpPr>
          <p:cNvPr id="6" name="왼쪽 이미지 라벨">
            <a:extLst>
              <a:ext uri="{FF2B5EF4-FFF2-40B4-BE49-F238E27FC236}">
                <a16:creationId xmlns:a16="http://schemas.microsoft.com/office/drawing/2014/main" id="{FACBCD66-152F-421A-A50D-CFD7204BCF88}"/>
              </a:ext>
            </a:extLst>
          </p:cNvPr>
          <p:cNvSpPr>
            <a:spLocks noGrp="1"/>
          </p:cNvSpPr>
          <p:nvPr/>
        </p:nvSpPr>
        <p:spPr>
          <a:xfrm>
            <a:off x="14097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A  데이터 라벨: 상처</a:t>
            </a:r>
          </a:p>
        </p:txBody>
      </p:sp>
      <p:sp>
        <p:nvSpPr>
          <p:cNvPr id="7" name="오른쪽 이미지 라벨">
            <a:extLst>
              <a:ext uri="{FF2B5EF4-FFF2-40B4-BE49-F238E27FC236}">
                <a16:creationId xmlns:a16="http://schemas.microsoft.com/office/drawing/2014/main" id="{3F85624F-21D3-4EF0-935E-B812D4CB9FB3}"/>
              </a:ext>
            </a:extLst>
          </p:cNvPr>
          <p:cNvSpPr>
            <a:spLocks noGrp="1"/>
          </p:cNvSpPr>
          <p:nvPr/>
        </p:nvSpPr>
        <p:spPr>
          <a:xfrm>
            <a:off x="6819900" y="5381625"/>
            <a:ext cx="3962400" cy="361950"/>
          </a:xfrm>
          <a:prstGeom prst="rect">
            <a:avLst/>
          </a:prstGeom>
          <a:noFill/>
          <a:ln w="0">
            <a:noFill/>
          </a:ln>
        </p:spPr>
        <p:txBody>
          <a:bodyPr>
            <a:noAutofit/>
          </a:bodyPr>
          <a:lstStyle/>
          <a:p>
            <a:pPr algn="ctr">
              <a:buNone/>
              <a:defRPr sz="1725" b="1">
                <a:solidFill>
                  <a:srgbClr val="122033"/>
                </a:solidFill>
                <a:latin typeface="Malgun Gothic"/>
                <a:ea typeface="Malgun Gothic"/>
                <a:cs typeface="Malgun Gothic"/>
              </a:defRPr>
            </a:pPr>
            <a:r>
              <a:rPr sz="1725" b="1">
                <a:solidFill>
                  <a:srgbClr val="122033"/>
                </a:solidFill>
                <a:latin typeface="Malgun Gothic"/>
                <a:ea typeface="Malgun Gothic"/>
                <a:cs typeface="Malgun Gothic"/>
              </a:rPr>
              <a:t>B  데이터 라벨: 불안</a:t>
            </a:r>
          </a:p>
        </p:txBody>
      </p:sp>
      <p:sp>
        <p:nvSpPr>
          <p:cNvPr id="8" name="핵심 메시지">
            <a:extLst>
              <a:ext uri="{FF2B5EF4-FFF2-40B4-BE49-F238E27FC236}">
                <a16:creationId xmlns:a16="http://schemas.microsoft.com/office/drawing/2014/main" id="{FE927C0A-0595-430A-A302-E4EB12311F89}"/>
              </a:ext>
            </a:extLst>
          </p:cNvPr>
          <p:cNvSpPr>
            <a:spLocks noGrp="1"/>
          </p:cNvSpPr>
          <p:nvPr/>
        </p:nvSpPr>
        <p:spPr>
          <a:xfrm>
            <a:off x="876300" y="5753100"/>
            <a:ext cx="10439400" cy="552450"/>
          </a:xfrm>
          <a:prstGeom prst="rect">
            <a:avLst/>
          </a:prstGeom>
          <a:noFill/>
          <a:ln w="0">
            <a:noFill/>
          </a:ln>
        </p:spPr>
        <p:txBody>
          <a:bodyPr>
            <a:noAutofit/>
          </a:bodyPr>
          <a:lstStyle/>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표정 차이가 작아 사람도 경계를 판단하기 어렵다.</a:t>
            </a:r>
          </a:p>
          <a:p>
            <a:pPr algn="ctr">
              <a:buNone/>
              <a:defRPr sz="1350" b="1">
                <a:solidFill>
                  <a:srgbClr val="607086"/>
                </a:solidFill>
                <a:latin typeface="Malgun Gothic"/>
                <a:ea typeface="Malgun Gothic"/>
                <a:cs typeface="Malgun Gothic"/>
              </a:defRPr>
            </a:pPr>
            <a:r>
              <a:rPr sz="1350" b="1">
                <a:solidFill>
                  <a:srgbClr val="607086"/>
                </a:solidFill>
                <a:latin typeface="Malgun Gothic"/>
                <a:ea typeface="Malgun Gothic"/>
                <a:cs typeface="Malgun Gothic"/>
              </a:rPr>
              <a:t>모델의 낮은 F1에는 라벨 경계와 데이터 품질도 영향을 줄 수 있다.</a:t>
            </a:r>
          </a:p>
        </p:txBody>
      </p:sp>
      <p:sp>
        <p:nvSpPr>
          <p:cNvPr id="9" name="푸터">
            <a:extLst>
              <a:ext uri="{FF2B5EF4-FFF2-40B4-BE49-F238E27FC236}">
                <a16:creationId xmlns:a16="http://schemas.microsoft.com/office/drawing/2014/main" id="{A24AA855-DCDF-4F97-83BD-0B7154B760D6}"/>
              </a:ext>
            </a:extLst>
          </p:cNvPr>
          <p:cNvSpPr>
            <a:spLocks noGrp="1"/>
          </p:cNvSpPr>
          <p:nvPr/>
        </p:nvSpPr>
        <p:spPr>
          <a:xfrm>
            <a:off x="609600" y="6496050"/>
            <a:ext cx="2095500" cy="228600"/>
          </a:xfrm>
          <a:prstGeom prst="rect">
            <a:avLst/>
          </a:prstGeom>
          <a:noFill/>
          <a:ln w="0">
            <a:noFill/>
          </a:ln>
        </p:spPr>
        <p:txBody>
          <a:bodyPr>
            <a:noAutofit/>
          </a:bodyPr>
          <a:lstStyle/>
          <a:p>
            <a:pPr algn="l">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Emotion Project</a:t>
            </a:r>
          </a:p>
        </p:txBody>
      </p:sp>
      <p:sp>
        <p:nvSpPr>
          <p:cNvPr id="10" name="페이지 번호">
            <a:extLst>
              <a:ext uri="{FF2B5EF4-FFF2-40B4-BE49-F238E27FC236}">
                <a16:creationId xmlns:a16="http://schemas.microsoft.com/office/drawing/2014/main" id="{239095BB-8180-4488-AFB1-7A84DAFCEE8F}"/>
              </a:ext>
            </a:extLst>
          </p:cNvPr>
          <p:cNvSpPr>
            <a:spLocks noGrp="1"/>
          </p:cNvSpPr>
          <p:nvPr/>
        </p:nvSpPr>
        <p:spPr>
          <a:xfrm>
            <a:off x="11049000" y="6496050"/>
            <a:ext cx="533400" cy="228600"/>
          </a:xfrm>
          <a:prstGeom prst="rect">
            <a:avLst/>
          </a:prstGeom>
          <a:noFill/>
          <a:ln w="0">
            <a:noFill/>
          </a:ln>
        </p:spPr>
        <p:txBody>
          <a:bodyPr>
            <a:noAutofit/>
          </a:bodyPr>
          <a:lstStyle/>
          <a:p>
            <a:pPr algn="r">
              <a:buNone/>
              <a:defRPr sz="1050" b="0">
                <a:solidFill>
                  <a:srgbClr val="607086"/>
                </a:solidFill>
                <a:latin typeface="Malgun Gothic"/>
                <a:ea typeface="Malgun Gothic"/>
                <a:cs typeface="Malgun Gothic"/>
              </a:defRPr>
            </a:pPr>
            <a:r>
              <a:rPr sz="1050" b="0">
                <a:solidFill>
                  <a:srgbClr val="607086"/>
                </a:solidFill>
                <a:latin typeface="Malgun Gothic"/>
                <a:ea typeface="Malgun Gothic"/>
                <a:cs typeface="Malgun Gothic"/>
              </a:rPr>
              <a:t>15</a:t>
            </a:r>
          </a:p>
        </p:txBody>
      </p:sp>
    </p:spTree>
    <p:extLst>
      <p:ext uri="{BB962C8B-B14F-4D97-AF65-F5344CB8AC3E}">
        <p14:creationId xmlns:p14="http://schemas.microsoft.com/office/powerpoint/2010/main" val="1352717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9" name="직사각형 8">
            <a:extLst>
              <a:ext uri="{FF2B5EF4-FFF2-40B4-BE49-F238E27FC236}">
                <a16:creationId xmlns:a16="http://schemas.microsoft.com/office/drawing/2014/main" id="{45FBB835-6EE2-480E-B845-7998055E8A4D}"/>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학습 결과 분석 예시</a:t>
            </a:r>
          </a:p>
        </p:txBody>
      </p:sp>
      <p:sp>
        <p:nvSpPr>
          <p:cNvPr id="2" name="직사각형 1">
            <a:extLst>
              <a:ext uri="{FF2B5EF4-FFF2-40B4-BE49-F238E27FC236}">
                <a16:creationId xmlns:a16="http://schemas.microsoft.com/office/drawing/2014/main" id="{68B80552-00E5-440A-B5C5-0B8D014EF832}"/>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EfficientNet-B0의 학습곡선과 혼동행렬을 예시로 확인</a:t>
            </a:r>
          </a:p>
        </p:txBody>
      </p:sp>
      <p:sp>
        <p:nvSpPr>
          <p:cNvPr id="3" name="직선 연결선 2">
            <a:extLst>
              <a:ext uri="{FF2B5EF4-FFF2-40B4-BE49-F238E27FC236}">
                <a16:creationId xmlns:a16="http://schemas.microsoft.com/office/drawing/2014/main" id="{10FA11AB-247B-4CAD-95B8-BE969F49190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D05AADEA-524A-4FCF-A4DD-38ED99DDE633}"/>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6E3BEF87-EF9D-435E-A1B3-0A04151856C1}"/>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16</a:t>
            </a:r>
          </a:p>
        </p:txBody>
      </p:sp>
      <p:pic>
        <p:nvPicPr>
          <p:cNvPr id="17" name="그림 13"/>
          <p:cNvPicPr>
            <a:picLocks noChangeAspect="1"/>
          </p:cNvPicPr>
          <p:nvPr/>
        </p:nvPicPr>
        <p:blipFill>
          <a:blip r:embed="rId3"/>
          <a:stretch/>
        </p:blipFill>
        <p:spPr>
          <a:xfrm>
            <a:off x="552450" y="1569245"/>
            <a:ext cx="6858000" cy="4195760"/>
          </a:xfrm>
          <a:prstGeom prst="rect">
            <a:avLst/>
          </a:prstGeom>
        </p:spPr>
      </p:pic>
      <p:pic>
        <p:nvPicPr>
          <p:cNvPr id="18" name="그림 14"/>
          <p:cNvPicPr>
            <a:picLocks noChangeAspect="1"/>
          </p:cNvPicPr>
          <p:nvPr/>
        </p:nvPicPr>
        <p:blipFill>
          <a:blip r:embed="rId4"/>
          <a:stretch/>
        </p:blipFill>
        <p:spPr>
          <a:xfrm>
            <a:off x="7620000" y="1891433"/>
            <a:ext cx="3905250" cy="3551384"/>
          </a:xfrm>
          <a:prstGeom prst="rect">
            <a:avLst/>
          </a:prstGeom>
        </p:spPr>
      </p:pic>
      <p:sp>
        <p:nvSpPr>
          <p:cNvPr id="8" name="직사각형 7">
            <a:extLst>
              <a:ext uri="{FF2B5EF4-FFF2-40B4-BE49-F238E27FC236}">
                <a16:creationId xmlns:a16="http://schemas.microsoft.com/office/drawing/2014/main" id="{A064CAEA-A4A2-480B-BBCF-8F6FFE737F0F}"/>
              </a:ext>
            </a:extLst>
          </p:cNvPr>
          <p:cNvSpPr>
            <a:spLocks noGrp="1"/>
          </p:cNvSpPr>
          <p:nvPr/>
        </p:nvSpPr>
        <p:spPr>
          <a:xfrm>
            <a:off x="781050" y="5848350"/>
            <a:ext cx="10382250" cy="381000"/>
          </a:xfrm>
          <a:prstGeom prst="rect">
            <a:avLst/>
          </a:prstGeom>
          <a:noFill/>
          <a:ln w="0">
            <a:noFill/>
          </a:ln>
        </p:spPr>
        <p:txBody>
          <a:bodyPr/>
          <a:lstStyle/>
          <a:p>
            <a:pPr algn="ctr">
              <a:buNone/>
              <a:defRPr sz="1575" b="0" i="0">
                <a:solidFill>
                  <a:srgbClr val="607086"/>
                </a:solidFill>
                <a:latin typeface="Malgun Gothic"/>
                <a:ea typeface="Malgun Gothic"/>
                <a:cs typeface="Malgun Gothic"/>
              </a:defRPr>
            </a:pPr>
            <a:r>
              <a:rPr sz="1575" b="0" i="0">
                <a:solidFill>
                  <a:srgbClr val="607086"/>
                </a:solidFill>
                <a:latin typeface="Malgun Gothic"/>
                <a:ea typeface="Malgun Gothic"/>
                <a:cs typeface="Malgun Gothic"/>
              </a:rPr>
              <a:t>학습 정확도는 계속 상승했지만 검증 성능은 약 0.74 부근에서 정체</a:t>
            </a:r>
          </a:p>
        </p:txBody>
      </p:sp>
    </p:spTree>
    <p:extLst>
      <p:ext uri="{BB962C8B-B14F-4D97-AF65-F5344CB8AC3E}">
        <p14:creationId xmlns:p14="http://schemas.microsoft.com/office/powerpoint/2010/main" val="1675458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3" name="직사각형 12">
            <a:extLst>
              <a:ext uri="{FF2B5EF4-FFF2-40B4-BE49-F238E27FC236}">
                <a16:creationId xmlns:a16="http://schemas.microsoft.com/office/drawing/2014/main" id="{8A0B734E-3F52-44EA-858E-22A5AF4995EB}"/>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a:solidFill>
                  <a:srgbClr val="122033"/>
                </a:solidFill>
                <a:latin typeface="Malgun Gothic"/>
                <a:ea typeface="Malgun Gothic"/>
                <a:cs typeface="Malgun Gothic"/>
              </a:rPr>
              <a:t>세</a:t>
            </a:r>
            <a:r>
              <a:rPr lang="ko-KR" altLang="en-US" sz="3225" b="1" i="0" dirty="0">
                <a:solidFill>
                  <a:srgbClr val="122033"/>
                </a:solidFill>
                <a:latin typeface="Malgun Gothic"/>
                <a:ea typeface="Malgun Gothic"/>
                <a:cs typeface="Malgun Gothic"/>
              </a:rPr>
              <a:t>개의</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모델</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체크포인트와</a:t>
            </a:r>
            <a:r>
              <a:rPr sz="3225" b="1" i="0" dirty="0">
                <a:solidFill>
                  <a:srgbClr val="122033"/>
                </a:solidFill>
                <a:latin typeface="Malgun Gothic"/>
                <a:ea typeface="Malgun Gothic"/>
                <a:cs typeface="Malgun Gothic"/>
              </a:rPr>
              <a:t> 팀 </a:t>
            </a:r>
            <a:r>
              <a:rPr sz="3225" b="1" i="0" dirty="0" err="1">
                <a:solidFill>
                  <a:srgbClr val="122033"/>
                </a:solidFill>
                <a:latin typeface="Malgun Gothic"/>
                <a:ea typeface="Malgun Gothic"/>
                <a:cs typeface="Malgun Gothic"/>
              </a:rPr>
              <a:t>전달</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파일</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E6F4A826-33B6-4AA1-8CE1-E2E805995D7B}"/>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체크포인트 연결 전 백본 구조·입력 채널·클래스 순서를 함께 확인</a:t>
            </a:r>
          </a:p>
        </p:txBody>
      </p:sp>
      <p:sp>
        <p:nvSpPr>
          <p:cNvPr id="3" name="직선 연결선 2">
            <a:extLst>
              <a:ext uri="{FF2B5EF4-FFF2-40B4-BE49-F238E27FC236}">
                <a16:creationId xmlns:a16="http://schemas.microsoft.com/office/drawing/2014/main" id="{E76DB4BB-46D6-4BD1-9A13-6C403F0685FC}"/>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4185E663-EA90-42B6-BDF5-E56B81BF07EA}"/>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C23B4686-D0F0-460D-8C01-1D674DA0EB23}"/>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17</a:t>
            </a:r>
          </a:p>
        </p:txBody>
      </p:sp>
      <p:sp>
        <p:nvSpPr>
          <p:cNvPr id="6" name="직사각형 5">
            <a:extLst>
              <a:ext uri="{FF2B5EF4-FFF2-40B4-BE49-F238E27FC236}">
                <a16:creationId xmlns:a16="http://schemas.microsoft.com/office/drawing/2014/main" id="{DA73798E-7D87-4464-80DF-2A2FE7A22722}"/>
              </a:ext>
            </a:extLst>
          </p:cNvPr>
          <p:cNvSpPr>
            <a:spLocks noGrp="1"/>
          </p:cNvSpPr>
          <p:nvPr/>
        </p:nvSpPr>
        <p:spPr>
          <a:xfrm>
            <a:off x="704850" y="1790700"/>
            <a:ext cx="4762500" cy="647700"/>
          </a:xfrm>
          <a:prstGeom prst="rect">
            <a:avLst/>
          </a:prstGeom>
          <a:noFill/>
          <a:ln w="0">
            <a:noFill/>
          </a:ln>
        </p:spPr>
        <p:txBody>
          <a:bodyPr/>
          <a:lstStyle/>
          <a:p>
            <a:pPr algn="l">
              <a:buNone/>
              <a:defRPr sz="3750" b="1" i="0">
                <a:solidFill>
                  <a:srgbClr val="4263EB"/>
                </a:solidFill>
                <a:latin typeface="Malgun Gothic"/>
                <a:ea typeface="Malgun Gothic"/>
                <a:cs typeface="Malgun Gothic"/>
              </a:defRPr>
            </a:pPr>
            <a:r>
              <a:rPr sz="3750" b="1" i="0">
                <a:solidFill>
                  <a:srgbClr val="4263EB"/>
                </a:solidFill>
                <a:latin typeface="Malgun Gothic"/>
                <a:ea typeface="Malgun Gothic"/>
                <a:cs typeface="Malgun Gothic"/>
              </a:rPr>
              <a:t>3개 모델</a:t>
            </a:r>
          </a:p>
        </p:txBody>
      </p:sp>
      <p:sp>
        <p:nvSpPr>
          <p:cNvPr id="7" name="직사각형 6">
            <a:extLst>
              <a:ext uri="{FF2B5EF4-FFF2-40B4-BE49-F238E27FC236}">
                <a16:creationId xmlns:a16="http://schemas.microsoft.com/office/drawing/2014/main" id="{B1EF58CC-A7E1-405C-BA00-F5E3456F04AB}"/>
              </a:ext>
            </a:extLst>
          </p:cNvPr>
          <p:cNvSpPr>
            <a:spLocks noGrp="1"/>
          </p:cNvSpPr>
          <p:nvPr/>
        </p:nvSpPr>
        <p:spPr>
          <a:xfrm>
            <a:off x="723900" y="2571750"/>
            <a:ext cx="8477250" cy="381000"/>
          </a:xfrm>
          <a:prstGeom prst="rect">
            <a:avLst/>
          </a:prstGeom>
          <a:noFill/>
          <a:ln w="0">
            <a:noFill/>
          </a:ln>
        </p:spPr>
        <p:txBody>
          <a:bodyPr/>
          <a:lstStyle/>
          <a:p>
            <a:pPr algn="l">
              <a:buNone/>
              <a:defRPr sz="1800" b="0" i="0">
                <a:solidFill>
                  <a:srgbClr val="607086"/>
                </a:solidFill>
                <a:latin typeface="Malgun Gothic"/>
                <a:ea typeface="Malgun Gothic"/>
                <a:cs typeface="Malgun Gothic"/>
              </a:defRPr>
            </a:pPr>
            <a:r>
              <a:rPr sz="1800" b="0" i="0">
                <a:solidFill>
                  <a:srgbClr val="607086"/>
                </a:solidFill>
                <a:latin typeface="Malgun Gothic"/>
                <a:ea typeface="Malgun Gothic"/>
                <a:cs typeface="Malgun Gothic"/>
              </a:rPr>
              <a:t>ResNet18    MobileNetV2    EfficientNet-B0</a:t>
            </a:r>
          </a:p>
        </p:txBody>
      </p:sp>
      <p:sp>
        <p:nvSpPr>
          <p:cNvPr id="8" name="직사각형 7">
            <a:extLst>
              <a:ext uri="{FF2B5EF4-FFF2-40B4-BE49-F238E27FC236}">
                <a16:creationId xmlns:a16="http://schemas.microsoft.com/office/drawing/2014/main" id="{EB0BA8CC-EFB3-448B-A140-0277E4AA4446}"/>
              </a:ext>
            </a:extLst>
          </p:cNvPr>
          <p:cNvSpPr>
            <a:spLocks noGrp="1"/>
          </p:cNvSpPr>
          <p:nvPr/>
        </p:nvSpPr>
        <p:spPr>
          <a:xfrm>
            <a:off x="723900" y="3505200"/>
            <a:ext cx="1905000" cy="361950"/>
          </a:xfrm>
          <a:prstGeom prst="rect">
            <a:avLst/>
          </a:prstGeom>
          <a:noFill/>
          <a:ln w="0">
            <a:noFill/>
          </a:ln>
        </p:spPr>
        <p:txBody>
          <a:bodyPr/>
          <a:lstStyle/>
          <a:p>
            <a:pPr algn="l">
              <a:buNone/>
              <a:defRPr sz="2025" b="1" i="0">
                <a:solidFill>
                  <a:srgbClr val="122033"/>
                </a:solidFill>
                <a:latin typeface="Malgun Gothic"/>
                <a:ea typeface="Malgun Gothic"/>
                <a:cs typeface="Malgun Gothic"/>
              </a:defRPr>
            </a:pPr>
            <a:r>
              <a:rPr sz="2025" b="1" i="0">
                <a:solidFill>
                  <a:srgbClr val="122033"/>
                </a:solidFill>
                <a:latin typeface="Malgun Gothic"/>
                <a:ea typeface="Malgun Gothic"/>
                <a:cs typeface="Malgun Gothic"/>
              </a:rPr>
              <a:t>모델 경로</a:t>
            </a:r>
          </a:p>
        </p:txBody>
      </p:sp>
      <p:sp>
        <p:nvSpPr>
          <p:cNvPr id="9" name="사각형: 둥근 모서리 8">
            <a:extLst>
              <a:ext uri="{FF2B5EF4-FFF2-40B4-BE49-F238E27FC236}">
                <a16:creationId xmlns:a16="http://schemas.microsoft.com/office/drawing/2014/main" id="{2058FE6D-034E-41FC-8C45-BA465C0CB7B5}"/>
              </a:ext>
            </a:extLst>
          </p:cNvPr>
          <p:cNvSpPr>
            <a:spLocks noGrp="1"/>
          </p:cNvSpPr>
          <p:nvPr/>
        </p:nvSpPr>
        <p:spPr>
          <a:xfrm>
            <a:off x="723900" y="3962400"/>
            <a:ext cx="8667750" cy="1104900"/>
          </a:xfrm>
          <a:prstGeom prst="roundRect">
            <a:avLst>
              <a:gd name="adj" fmla="val 13043"/>
            </a:avLst>
          </a:prstGeom>
          <a:solidFill>
            <a:srgbClr val="0B1526"/>
          </a:solidFill>
          <a:ln w="0">
            <a:noFill/>
          </a:ln>
        </p:spPr>
        <p:txBody>
          <a:bodyPr/>
          <a:lstStyle/>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ResNet18  models/.../best.pt
MobileNetV2  models/.../best.pt</a:t>
            </a:r>
          </a:p>
          <a:p>
            <a:pPr algn="l">
              <a:buNone/>
              <a:defRPr sz="1875" b="1" i="0">
                <a:solidFill>
                  <a:srgbClr val="FFFFFF"/>
                </a:solidFill>
                <a:latin typeface="Malgun Gothic"/>
                <a:ea typeface="Malgun Gothic"/>
                <a:cs typeface="Malgun Gothic"/>
              </a:defRPr>
            </a:pPr>
            <a:r>
              <a:rPr sz="1875" b="1" i="0">
                <a:solidFill>
                  <a:srgbClr val="FFFFFF"/>
                </a:solidFill>
                <a:latin typeface="Malgun Gothic"/>
                <a:ea typeface="Malgun Gothic"/>
                <a:cs typeface="Malgun Gothic"/>
              </a:rPr>
              <a:t>EfficientNet-B0  models/.../best.pt</a:t>
            </a:r>
          </a:p>
        </p:txBody>
      </p:sp>
      <p:sp>
        <p:nvSpPr>
          <p:cNvPr id="10" name="직사각형 9">
            <a:extLst>
              <a:ext uri="{FF2B5EF4-FFF2-40B4-BE49-F238E27FC236}">
                <a16:creationId xmlns:a16="http://schemas.microsoft.com/office/drawing/2014/main" id="{F1522130-17C7-456F-AFA3-DA33F66BAB3F}"/>
              </a:ext>
            </a:extLst>
          </p:cNvPr>
          <p:cNvSpPr>
            <a:spLocks noGrp="1"/>
          </p:cNvSpPr>
          <p:nvPr/>
        </p:nvSpPr>
        <p:spPr>
          <a:xfrm>
            <a:off x="7524750" y="1790700"/>
            <a:ext cx="3810000" cy="1714500"/>
          </a:xfrm>
          <a:prstGeom prst="rect">
            <a:avLst/>
          </a:prstGeom>
          <a:noFill/>
          <a:ln w="0">
            <a:noFill/>
          </a:ln>
        </p:spPr>
        <p:txBody>
          <a:bodyPr/>
          <a:lstStyle/>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모델 이름과 가중치</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7개 클래스 순서</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입력 크기와 정규화 값</a:t>
            </a:r>
          </a:p>
          <a:p>
            <a:pPr marL="228600" indent="-101600">
              <a:spcAft>
                <a:spcPts val="700"/>
              </a:spcAft>
              <a:buChar char="•"/>
              <a:defRPr sz="1575">
                <a:solidFill>
                  <a:srgbClr val="122033"/>
                </a:solidFill>
                <a:latin typeface="Malgun Gothic"/>
                <a:ea typeface="Malgun Gothic"/>
                <a:cs typeface="Malgun Gothic"/>
              </a:defRPr>
            </a:pPr>
            <a:r>
              <a:rPr sz="1575">
                <a:solidFill>
                  <a:srgbClr val="122033"/>
                </a:solidFill>
                <a:latin typeface="Malgun Gothic"/>
                <a:ea typeface="Malgun Gothic"/>
                <a:cs typeface="Malgun Gothic"/>
              </a:rPr>
              <a:t>최고 검증 지표와 실행 환경</a:t>
            </a:r>
          </a:p>
        </p:txBody>
      </p:sp>
    </p:spTree>
    <p:extLst>
      <p:ext uri="{BB962C8B-B14F-4D97-AF65-F5344CB8AC3E}">
        <p14:creationId xmlns:p14="http://schemas.microsoft.com/office/powerpoint/2010/main" val="2019989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37A7044-875B-405B-9468-5A5C1FC09985}"/>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현재 결과의 한계</a:t>
            </a:r>
          </a:p>
        </p:txBody>
      </p:sp>
      <p:sp>
        <p:nvSpPr>
          <p:cNvPr id="2" name="직사각형 1">
            <a:extLst>
              <a:ext uri="{FF2B5EF4-FFF2-40B4-BE49-F238E27FC236}">
                <a16:creationId xmlns:a16="http://schemas.microsoft.com/office/drawing/2014/main" id="{96238EDC-C734-41BC-B0C8-E43EAC411549}"/>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배포 전 일반화와 실시간 성능을 추가 검증</a:t>
            </a:r>
          </a:p>
        </p:txBody>
      </p:sp>
      <p:sp>
        <p:nvSpPr>
          <p:cNvPr id="3" name="직선 연결선 2">
            <a:extLst>
              <a:ext uri="{FF2B5EF4-FFF2-40B4-BE49-F238E27FC236}">
                <a16:creationId xmlns:a16="http://schemas.microsoft.com/office/drawing/2014/main" id="{DF2C06E0-C9D8-4393-8842-A1F2DFB2E9A6}"/>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206BF82A-2981-4155-B397-BC5FBFAA22B5}"/>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5BB6C15C-98EF-4673-814B-C9329810BD3A}"/>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18</a:t>
            </a:r>
          </a:p>
        </p:txBody>
      </p:sp>
      <p:sp>
        <p:nvSpPr>
          <p:cNvPr id="6" name="직사각형 5">
            <a:extLst>
              <a:ext uri="{FF2B5EF4-FFF2-40B4-BE49-F238E27FC236}">
                <a16:creationId xmlns:a16="http://schemas.microsoft.com/office/drawing/2014/main" id="{B5B32EC8-0134-4BBF-ACA6-7F3FA2C636CA}"/>
              </a:ext>
            </a:extLst>
          </p:cNvPr>
          <p:cNvSpPr>
            <a:spLocks noGrp="1"/>
          </p:cNvSpPr>
          <p:nvPr/>
        </p:nvSpPr>
        <p:spPr>
          <a:xfrm>
            <a:off x="704850" y="1733550"/>
            <a:ext cx="4762500" cy="400050"/>
          </a:xfrm>
          <a:prstGeom prst="rect">
            <a:avLst/>
          </a:prstGeom>
          <a:noFill/>
          <a:ln w="0">
            <a:noFill/>
          </a:ln>
        </p:spPr>
        <p:txBody>
          <a:bodyPr/>
          <a:lstStyle/>
          <a:p>
            <a:pPr algn="l">
              <a:buNone/>
              <a:defRPr sz="2250" b="1" i="0">
                <a:solidFill>
                  <a:srgbClr val="D94D4D"/>
                </a:solidFill>
                <a:latin typeface="Malgun Gothic"/>
                <a:ea typeface="Malgun Gothic"/>
                <a:cs typeface="Malgun Gothic"/>
              </a:defRPr>
            </a:pPr>
            <a:r>
              <a:rPr sz="2250" b="1" i="0">
                <a:solidFill>
                  <a:srgbClr val="D94D4D"/>
                </a:solidFill>
                <a:latin typeface="Malgun Gothic"/>
                <a:ea typeface="Malgun Gothic"/>
                <a:cs typeface="Malgun Gothic"/>
              </a:rPr>
              <a:t>확인된 한계</a:t>
            </a:r>
          </a:p>
        </p:txBody>
      </p:sp>
      <p:sp>
        <p:nvSpPr>
          <p:cNvPr id="7" name="직사각형 6">
            <a:extLst>
              <a:ext uri="{FF2B5EF4-FFF2-40B4-BE49-F238E27FC236}">
                <a16:creationId xmlns:a16="http://schemas.microsoft.com/office/drawing/2014/main" id="{F4E2336F-A41E-473D-9590-B45CE8CEC3B3}"/>
              </a:ext>
            </a:extLst>
          </p:cNvPr>
          <p:cNvSpPr>
            <a:spLocks noGrp="1"/>
          </p:cNvSpPr>
          <p:nvPr/>
        </p:nvSpPr>
        <p:spPr>
          <a:xfrm>
            <a:off x="6534150" y="1733550"/>
            <a:ext cx="4762500" cy="400050"/>
          </a:xfrm>
          <a:prstGeom prst="rect">
            <a:avLst/>
          </a:prstGeom>
          <a:noFill/>
          <a:ln w="0">
            <a:noFill/>
          </a:ln>
        </p:spPr>
        <p:txBody>
          <a:bodyPr/>
          <a:lstStyle/>
          <a:p>
            <a:pPr algn="l">
              <a:buNone/>
              <a:defRPr sz="2250" b="1" i="0">
                <a:solidFill>
                  <a:srgbClr val="258C6B"/>
                </a:solidFill>
                <a:latin typeface="Malgun Gothic"/>
                <a:ea typeface="Malgun Gothic"/>
                <a:cs typeface="Malgun Gothic"/>
              </a:defRPr>
            </a:pPr>
            <a:r>
              <a:rPr sz="2250" b="1" i="0">
                <a:solidFill>
                  <a:srgbClr val="258C6B"/>
                </a:solidFill>
                <a:latin typeface="Malgun Gothic"/>
                <a:ea typeface="Malgun Gothic"/>
                <a:cs typeface="Malgun Gothic"/>
              </a:rPr>
              <a:t>추가 검증</a:t>
            </a:r>
          </a:p>
        </p:txBody>
      </p:sp>
      <p:sp>
        <p:nvSpPr>
          <p:cNvPr id="8" name="직사각형 7">
            <a:extLst>
              <a:ext uri="{FF2B5EF4-FFF2-40B4-BE49-F238E27FC236}">
                <a16:creationId xmlns:a16="http://schemas.microsoft.com/office/drawing/2014/main" id="{D98D82D4-3456-4C20-8FC0-3CF5C101159E}"/>
              </a:ext>
            </a:extLst>
          </p:cNvPr>
          <p:cNvSpPr>
            <a:spLocks noGrp="1"/>
          </p:cNvSpPr>
          <p:nvPr/>
        </p:nvSpPr>
        <p:spPr>
          <a:xfrm>
            <a:off x="6858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같은 인물의 유사 이미지가 두 분할에 포함될 가능성</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시간 제약으로 Training 4개 파트 중 2개만 사용</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흑백 입력과 RGB 입력의 직접 비교 부재</a:t>
            </a:r>
          </a:p>
        </p:txBody>
      </p:sp>
      <p:sp>
        <p:nvSpPr>
          <p:cNvPr id="9" name="직사각형 8">
            <a:extLst>
              <a:ext uri="{FF2B5EF4-FFF2-40B4-BE49-F238E27FC236}">
                <a16:creationId xmlns:a16="http://schemas.microsoft.com/office/drawing/2014/main" id="{18F0D364-E6AE-44DC-9A21-AFB3CCC0D511}"/>
              </a:ext>
            </a:extLst>
          </p:cNvPr>
          <p:cNvSpPr>
            <a:spLocks noGrp="1"/>
          </p:cNvSpPr>
          <p:nvPr/>
        </p:nvSpPr>
        <p:spPr>
          <a:xfrm>
            <a:off x="6515100" y="2381250"/>
            <a:ext cx="4762500" cy="2381250"/>
          </a:xfrm>
          <a:prstGeom prst="rect">
            <a:avLst/>
          </a:prstGeom>
          <a:noFill/>
          <a:ln w="0">
            <a:noFill/>
          </a:ln>
        </p:spPr>
        <p:txBody>
          <a:bodyPr/>
          <a:lstStyle/>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인물·촬영 세션 기준 group split 실험</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사용한 2개 파트와 제외 범위를 추가 실험</a:t>
            </a:r>
          </a:p>
          <a:p>
            <a:pPr marL="228600" indent="-101600">
              <a:spcAft>
                <a:spcPts val="1200"/>
              </a:spcAft>
              <a:buChar char="•"/>
              <a:defRPr sz="1725">
                <a:solidFill>
                  <a:srgbClr val="122033"/>
                </a:solidFill>
                <a:latin typeface="Malgun Gothic"/>
                <a:ea typeface="Malgun Gothic"/>
                <a:cs typeface="Malgun Gothic"/>
              </a:defRPr>
            </a:pPr>
            <a:r>
              <a:rPr sz="1725">
                <a:solidFill>
                  <a:srgbClr val="122033"/>
                </a:solidFill>
                <a:latin typeface="Malgun Gothic"/>
                <a:ea typeface="Malgun Gothic"/>
                <a:cs typeface="Malgun Gothic"/>
              </a:rPr>
              <a:t>RGB ablation test</a:t>
            </a:r>
          </a:p>
        </p:txBody>
      </p:sp>
      <p:sp>
        <p:nvSpPr>
          <p:cNvPr id="10" name="직선 연결선 9">
            <a:extLst>
              <a:ext uri="{FF2B5EF4-FFF2-40B4-BE49-F238E27FC236}">
                <a16:creationId xmlns:a16="http://schemas.microsoft.com/office/drawing/2014/main" id="{D34D44D8-AC29-4A97-9EC6-47DEC85D0E80}"/>
              </a:ext>
            </a:extLst>
          </p:cNvPr>
          <p:cNvSpPr>
            <a:spLocks noGrp="1"/>
          </p:cNvSpPr>
          <p:nvPr/>
        </p:nvSpPr>
        <p:spPr>
          <a:xfrm>
            <a:off x="5962650" y="1752600"/>
            <a:ext cx="0" cy="3409950"/>
          </a:xfrm>
          <a:prstGeom prst="line">
            <a:avLst/>
          </a:prstGeom>
          <a:ln w="19050">
            <a:solidFill>
              <a:srgbClr val="D9E0E8"/>
            </a:solidFill>
            <a:prstDash val="solid"/>
          </a:ln>
        </p:spPr>
      </p:sp>
    </p:spTree>
    <p:extLst>
      <p:ext uri="{BB962C8B-B14F-4D97-AF65-F5344CB8AC3E}">
        <p14:creationId xmlns:p14="http://schemas.microsoft.com/office/powerpoint/2010/main" val="2233907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000D5885-57A7-4213-A1F5-C2D9657D7ED6}"/>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a:solidFill>
                  <a:srgbClr val="122033"/>
                </a:solidFill>
                <a:latin typeface="Malgun Gothic"/>
                <a:ea typeface="Malgun Gothic"/>
                <a:cs typeface="Malgun Gothic"/>
              </a:rPr>
              <a:t>Jetson 실시간 감정 인식 구조</a:t>
            </a:r>
          </a:p>
        </p:txBody>
      </p:sp>
      <p:sp>
        <p:nvSpPr>
          <p:cNvPr id="2" name="직사각형 1">
            <a:extLst>
              <a:ext uri="{FF2B5EF4-FFF2-40B4-BE49-F238E27FC236}">
                <a16:creationId xmlns:a16="http://schemas.microsoft.com/office/drawing/2014/main" id="{2AA47B5E-1201-4926-9BBA-E7E076340DA4}"/>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웹캠 입력부터 다중 얼굴 추적·감정 표시까지의 처리 흐름</a:t>
            </a:r>
          </a:p>
        </p:txBody>
      </p:sp>
      <p:sp>
        <p:nvSpPr>
          <p:cNvPr id="3" name="직선 연결선 2">
            <a:extLst>
              <a:ext uri="{FF2B5EF4-FFF2-40B4-BE49-F238E27FC236}">
                <a16:creationId xmlns:a16="http://schemas.microsoft.com/office/drawing/2014/main" id="{B46FC623-6957-4C12-9971-8E2060639AC0}"/>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81DA1895-54BE-45A3-BD5C-E5A5EE94A229}"/>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7FD30565-27A9-407A-81A9-51C98F1155A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19</a:t>
            </a:r>
          </a:p>
        </p:txBody>
      </p:sp>
      <p:sp>
        <p:nvSpPr>
          <p:cNvPr id="6" name="사각형: 둥근 모서리 5">
            <a:extLst>
              <a:ext uri="{FF2B5EF4-FFF2-40B4-BE49-F238E27FC236}">
                <a16:creationId xmlns:a16="http://schemas.microsoft.com/office/drawing/2014/main" id="{E3987A02-3568-42A6-9C98-AC2899698653}"/>
              </a:ext>
            </a:extLst>
          </p:cNvPr>
          <p:cNvSpPr>
            <a:spLocks noGrp="1"/>
          </p:cNvSpPr>
          <p:nvPr/>
        </p:nvSpPr>
        <p:spPr>
          <a:xfrm>
            <a:off x="552450" y="2076450"/>
            <a:ext cx="16192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dirty="0">
                <a:solidFill>
                  <a:srgbClr val="122033"/>
                </a:solidFill>
                <a:latin typeface="Malgun Gothic"/>
                <a:ea typeface="Malgun Gothic"/>
                <a:cs typeface="Malgun Gothic"/>
              </a:rPr>
              <a:t>V4L2
</a:t>
            </a:r>
            <a:r>
              <a:rPr sz="1575" b="1" dirty="0" err="1">
                <a:solidFill>
                  <a:srgbClr val="122033"/>
                </a:solidFill>
                <a:latin typeface="Malgun Gothic"/>
                <a:ea typeface="Malgun Gothic"/>
                <a:cs typeface="Malgun Gothic"/>
              </a:rPr>
              <a:t>웹캠</a:t>
            </a:r>
            <a:r>
              <a:rPr sz="1575" b="1" dirty="0">
                <a:solidFill>
                  <a:srgbClr val="122033"/>
                </a:solidFill>
                <a:latin typeface="Malgun Gothic"/>
                <a:ea typeface="Malgun Gothic"/>
                <a:cs typeface="Malgun Gothic"/>
              </a:rPr>
              <a:t> </a:t>
            </a:r>
            <a:r>
              <a:rPr sz="1575" b="1" dirty="0" err="1">
                <a:solidFill>
                  <a:srgbClr val="122033"/>
                </a:solidFill>
                <a:latin typeface="Malgun Gothic"/>
                <a:ea typeface="Malgun Gothic"/>
                <a:cs typeface="Malgun Gothic"/>
              </a:rPr>
              <a:t>입력</a:t>
            </a:r>
            <a:endParaRPr sz="1575" b="1" dirty="0">
              <a:solidFill>
                <a:srgbClr val="122033"/>
              </a:solidFill>
              <a:latin typeface="Malgun Gothic"/>
              <a:ea typeface="Malgun Gothic"/>
              <a:cs typeface="Malgun Gothic"/>
            </a:endParaRPr>
          </a:p>
        </p:txBody>
      </p:sp>
      <p:sp>
        <p:nvSpPr>
          <p:cNvPr id="7" name="사각형: 둥근 모서리 6">
            <a:extLst>
              <a:ext uri="{FF2B5EF4-FFF2-40B4-BE49-F238E27FC236}">
                <a16:creationId xmlns:a16="http://schemas.microsoft.com/office/drawing/2014/main" id="{B72A6B94-E2D2-43C6-A4BA-226311B63FB6}"/>
              </a:ext>
            </a:extLst>
          </p:cNvPr>
          <p:cNvSpPr>
            <a:spLocks noGrp="1"/>
          </p:cNvSpPr>
          <p:nvPr/>
        </p:nvSpPr>
        <p:spPr>
          <a:xfrm>
            <a:off x="2571750" y="2076450"/>
            <a:ext cx="1809750" cy="819150"/>
          </a:xfrm>
          <a:prstGeom prst="roundRect">
            <a:avLst>
              <a:gd name="adj" fmla="val 13953"/>
            </a:avLst>
          </a:prstGeom>
          <a:solidFill>
            <a:srgbClr val="FFF7D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Haar Cascade</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탐지</a:t>
            </a:r>
          </a:p>
        </p:txBody>
      </p:sp>
      <p:sp>
        <p:nvSpPr>
          <p:cNvPr id="8" name="사각형: 둥근 모서리 7">
            <a:extLst>
              <a:ext uri="{FF2B5EF4-FFF2-40B4-BE49-F238E27FC236}">
                <a16:creationId xmlns:a16="http://schemas.microsoft.com/office/drawing/2014/main" id="{5C31AC8B-BF6B-43F3-86F8-E73638CCC2AC}"/>
              </a:ext>
            </a:extLst>
          </p:cNvPr>
          <p:cNvSpPr>
            <a:spLocks noGrp="1"/>
          </p:cNvSpPr>
          <p:nvPr/>
        </p:nvSpPr>
        <p:spPr>
          <a:xfrm>
            <a:off x="4781550" y="2076450"/>
            <a:ext cx="2000250" cy="819150"/>
          </a:xfrm>
          <a:prstGeom prst="roundRect">
            <a:avLst>
              <a:gd name="adj" fmla="val 13953"/>
            </a:avLst>
          </a:prstGeom>
          <a:solidFill>
            <a:srgbClr val="FFF0EC"/>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얼굴 ID 추적</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정사각형 패딩</a:t>
            </a:r>
          </a:p>
        </p:txBody>
      </p:sp>
      <p:sp>
        <p:nvSpPr>
          <p:cNvPr id="9" name="사각형: 둥근 모서리 8">
            <a:extLst>
              <a:ext uri="{FF2B5EF4-FFF2-40B4-BE49-F238E27FC236}">
                <a16:creationId xmlns:a16="http://schemas.microsoft.com/office/drawing/2014/main" id="{C2D3E1CE-8EC1-4BE4-8B50-476310FB62F7}"/>
              </a:ext>
            </a:extLst>
          </p:cNvPr>
          <p:cNvSpPr>
            <a:spLocks noGrp="1"/>
          </p:cNvSpPr>
          <p:nvPr/>
        </p:nvSpPr>
        <p:spPr>
          <a:xfrm>
            <a:off x="7181850" y="2076450"/>
            <a:ext cx="1809750" cy="819150"/>
          </a:xfrm>
          <a:prstGeom prst="roundRect">
            <a:avLst>
              <a:gd name="adj" fmla="val 13953"/>
            </a:avLst>
          </a:prstGeom>
          <a:solidFill>
            <a:srgbClr val="E8F8F5"/>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선택 모델</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GPU·CPU 추론</a:t>
            </a:r>
          </a:p>
        </p:txBody>
      </p:sp>
      <p:sp>
        <p:nvSpPr>
          <p:cNvPr id="10" name="사각형: 둥근 모서리 9">
            <a:extLst>
              <a:ext uri="{FF2B5EF4-FFF2-40B4-BE49-F238E27FC236}">
                <a16:creationId xmlns:a16="http://schemas.microsoft.com/office/drawing/2014/main" id="{1654BA85-C2F3-4A2F-8111-55B500E425A8}"/>
              </a:ext>
            </a:extLst>
          </p:cNvPr>
          <p:cNvSpPr>
            <a:spLocks noGrp="1"/>
          </p:cNvSpPr>
          <p:nvPr/>
        </p:nvSpPr>
        <p:spPr>
          <a:xfrm>
            <a:off x="9391650" y="2076450"/>
            <a:ext cx="1809750" cy="819150"/>
          </a:xfrm>
          <a:prstGeom prst="roundRect">
            <a:avLst>
              <a:gd name="adj" fmla="val 13953"/>
            </a:avLst>
          </a:prstGeom>
          <a:solidFill>
            <a:srgbClr val="EAF0FF"/>
          </a:solidFill>
          <a:ln w="9525">
            <a:solidFill>
              <a:srgbClr val="D9E0E8"/>
            </a:solidFill>
            <a:prstDash val="solid"/>
          </a:ln>
        </p:spPr>
        <p:txBody>
          <a:bodyPr/>
          <a:lstStyle/>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EMA 보정</a:t>
            </a:r>
          </a:p>
          <a:p>
            <a:pPr algn="ctr">
              <a:buNone/>
              <a:defRPr sz="1575" b="1">
                <a:solidFill>
                  <a:srgbClr val="122033"/>
                </a:solidFill>
                <a:latin typeface="Malgun Gothic"/>
                <a:ea typeface="Malgun Gothic"/>
                <a:cs typeface="Malgun Gothic"/>
              </a:defRPr>
            </a:pPr>
            <a:r>
              <a:rPr sz="1575" b="1">
                <a:solidFill>
                  <a:srgbClr val="122033"/>
                </a:solidFill>
                <a:latin typeface="Malgun Gothic"/>
                <a:ea typeface="Malgun Gothic"/>
                <a:cs typeface="Malgun Gothic"/>
              </a:rPr>
              <a:t>화면 표시</a:t>
            </a:r>
          </a:p>
        </p:txBody>
      </p:sp>
      <p:cxnSp>
        <p:nvCxnSpPr>
          <p:cNvPr id="125" name="직선 화살표 연결선 26"/>
          <p:cNvCxnSpPr>
            <a:stCxn id="6" idx="3"/>
            <a:endCxn id="7" idx="1"/>
          </p:cNvCxnSpPr>
          <p:nvPr/>
        </p:nvCxnSpPr>
        <p:spPr>
          <a:xfrm>
            <a:off x="2171700" y="2486025"/>
            <a:ext cx="400050" cy="0"/>
          </a:xfrm>
          <a:prstGeom prst="straightConnector1">
            <a:avLst/>
          </a:prstGeom>
          <a:ln w="19050">
            <a:solidFill>
              <a:srgbClr val="607086"/>
            </a:solidFill>
            <a:prstDash val="solid"/>
            <a:tailEnd type="triangle" w="sm" len="sm"/>
          </a:ln>
        </p:spPr>
      </p:cxnSp>
      <p:cxnSp>
        <p:nvCxnSpPr>
          <p:cNvPr id="126" name="직선 화살표 연결선 27"/>
          <p:cNvCxnSpPr>
            <a:stCxn id="7" idx="3"/>
            <a:endCxn id="8" idx="1"/>
          </p:cNvCxnSpPr>
          <p:nvPr/>
        </p:nvCxnSpPr>
        <p:spPr>
          <a:xfrm>
            <a:off x="4381500" y="2486025"/>
            <a:ext cx="400050" cy="0"/>
          </a:xfrm>
          <a:prstGeom prst="straightConnector1">
            <a:avLst/>
          </a:prstGeom>
          <a:ln w="19050">
            <a:solidFill>
              <a:srgbClr val="607086"/>
            </a:solidFill>
            <a:prstDash val="solid"/>
            <a:tailEnd type="triangle" w="sm" len="sm"/>
          </a:ln>
        </p:spPr>
      </p:cxnSp>
      <p:cxnSp>
        <p:nvCxnSpPr>
          <p:cNvPr id="127" name="직선 화살표 연결선 28"/>
          <p:cNvCxnSpPr>
            <a:stCxn id="8" idx="3"/>
            <a:endCxn id="9" idx="1"/>
          </p:cNvCxnSpPr>
          <p:nvPr/>
        </p:nvCxnSpPr>
        <p:spPr>
          <a:xfrm>
            <a:off x="6781800" y="2486025"/>
            <a:ext cx="400050" cy="0"/>
          </a:xfrm>
          <a:prstGeom prst="straightConnector1">
            <a:avLst/>
          </a:prstGeom>
          <a:ln w="19050">
            <a:solidFill>
              <a:srgbClr val="607086"/>
            </a:solidFill>
            <a:prstDash val="solid"/>
            <a:tailEnd type="triangle" w="sm" len="sm"/>
          </a:ln>
        </p:spPr>
      </p:cxnSp>
      <p:cxnSp>
        <p:nvCxnSpPr>
          <p:cNvPr id="128" name="직선 화살표 연결선 29"/>
          <p:cNvCxnSpPr>
            <a:stCxn id="9" idx="3"/>
            <a:endCxn id="10" idx="1"/>
          </p:cNvCxnSpPr>
          <p:nvPr/>
        </p:nvCxnSpPr>
        <p:spPr>
          <a:xfrm>
            <a:off x="8991600" y="2486025"/>
            <a:ext cx="400050" cy="0"/>
          </a:xfrm>
          <a:prstGeom prst="straightConnector1">
            <a:avLst/>
          </a:prstGeom>
          <a:ln w="19050">
            <a:solidFill>
              <a:srgbClr val="607086"/>
            </a:solidFill>
            <a:prstDash val="solid"/>
            <a:tailEnd type="triangle" w="sm" len="sm"/>
          </a:ln>
        </p:spPr>
      </p:cxnSp>
      <p:sp>
        <p:nvSpPr>
          <p:cNvPr id="15" name="직사각형 14">
            <a:extLst>
              <a:ext uri="{FF2B5EF4-FFF2-40B4-BE49-F238E27FC236}">
                <a16:creationId xmlns:a16="http://schemas.microsoft.com/office/drawing/2014/main" id="{B3743750-09F0-4470-8D0C-F9ACBAFEF7AC}"/>
              </a:ext>
            </a:extLst>
          </p:cNvPr>
          <p:cNvSpPr>
            <a:spLocks noGrp="1"/>
          </p:cNvSpPr>
          <p:nvPr/>
        </p:nvSpPr>
        <p:spPr>
          <a:xfrm>
            <a:off x="590550" y="3714750"/>
            <a:ext cx="3048000" cy="381000"/>
          </a:xfrm>
          <a:prstGeom prst="rect">
            <a:avLst/>
          </a:prstGeom>
          <a:noFill/>
          <a:ln w="0">
            <a:noFill/>
          </a:ln>
        </p:spPr>
        <p:txBody>
          <a:bodyPr/>
          <a:lstStyle/>
          <a:p>
            <a:pPr algn="l">
              <a:buNone/>
              <a:defRPr sz="2175" b="1" i="0">
                <a:solidFill>
                  <a:srgbClr val="122033"/>
                </a:solidFill>
                <a:latin typeface="Malgun Gothic"/>
                <a:ea typeface="Malgun Gothic"/>
                <a:cs typeface="Malgun Gothic"/>
              </a:defRPr>
            </a:pPr>
            <a:r>
              <a:rPr sz="2175" b="1" i="0" dirty="0" err="1">
                <a:solidFill>
                  <a:srgbClr val="122033"/>
                </a:solidFill>
                <a:latin typeface="Malgun Gothic"/>
                <a:ea typeface="Malgun Gothic"/>
                <a:cs typeface="Malgun Gothic"/>
              </a:rPr>
              <a:t>입력</a:t>
            </a:r>
            <a:r>
              <a:rPr sz="2175" b="1" i="0" dirty="0">
                <a:solidFill>
                  <a:srgbClr val="122033"/>
                </a:solidFill>
                <a:latin typeface="Malgun Gothic"/>
                <a:ea typeface="Malgun Gothic"/>
                <a:cs typeface="Malgun Gothic"/>
              </a:rPr>
              <a:t> </a:t>
            </a:r>
            <a:r>
              <a:rPr sz="2175" b="1" i="0" dirty="0" err="1">
                <a:solidFill>
                  <a:srgbClr val="122033"/>
                </a:solidFill>
                <a:latin typeface="Malgun Gothic"/>
                <a:ea typeface="Malgun Gothic"/>
                <a:cs typeface="Malgun Gothic"/>
              </a:rPr>
              <a:t>모드·실시간</a:t>
            </a:r>
            <a:r>
              <a:rPr sz="2175" b="1" i="0" dirty="0">
                <a:solidFill>
                  <a:srgbClr val="122033"/>
                </a:solidFill>
                <a:latin typeface="Malgun Gothic"/>
                <a:ea typeface="Malgun Gothic"/>
                <a:cs typeface="Malgun Gothic"/>
              </a:rPr>
              <a:t> </a:t>
            </a:r>
            <a:r>
              <a:rPr sz="2175" b="1" i="0" dirty="0" err="1">
                <a:solidFill>
                  <a:srgbClr val="122033"/>
                </a:solidFill>
                <a:latin typeface="Malgun Gothic"/>
                <a:ea typeface="Malgun Gothic"/>
                <a:cs typeface="Malgun Gothic"/>
              </a:rPr>
              <a:t>처리</a:t>
            </a:r>
            <a:endParaRPr sz="2175" b="1" i="0" dirty="0">
              <a:solidFill>
                <a:srgbClr val="122033"/>
              </a:solidFill>
              <a:latin typeface="Malgun Gothic"/>
              <a:ea typeface="Malgun Gothic"/>
              <a:cs typeface="Malgun Gothic"/>
            </a:endParaRPr>
          </a:p>
        </p:txBody>
      </p:sp>
      <p:sp>
        <p:nvSpPr>
          <p:cNvPr id="16" name="직사각형 15">
            <a:extLst>
              <a:ext uri="{FF2B5EF4-FFF2-40B4-BE49-F238E27FC236}">
                <a16:creationId xmlns:a16="http://schemas.microsoft.com/office/drawing/2014/main" id="{768934CB-8368-456A-85D6-20267580F8F2}"/>
              </a:ext>
            </a:extLst>
          </p:cNvPr>
          <p:cNvSpPr>
            <a:spLocks noGrp="1"/>
          </p:cNvSpPr>
          <p:nvPr/>
        </p:nvSpPr>
        <p:spPr>
          <a:xfrm>
            <a:off x="571500" y="4210050"/>
            <a:ext cx="10668000" cy="1714500"/>
          </a:xfrm>
          <a:prstGeom prst="rect">
            <a:avLst/>
          </a:prstGeom>
          <a:noFill/>
          <a:ln w="0">
            <a:noFill/>
          </a:ln>
        </p:spPr>
        <p:txBody>
          <a:bodyPr>
            <a:noAutofit/>
          </a:bodyPr>
          <a:lstStyle/>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그레이스케일</a:t>
            </a:r>
            <a:r>
              <a:rPr sz="1650" dirty="0">
                <a:solidFill>
                  <a:srgbClr val="162235"/>
                </a:solidFill>
                <a:latin typeface="Malgun Gothic"/>
                <a:ea typeface="Malgun Gothic"/>
                <a:cs typeface="Malgun Gothic"/>
              </a:rPr>
              <a:t>: CLAHE → 1채널 224×224 / </a:t>
            </a:r>
            <a:r>
              <a:rPr sz="1650" dirty="0" err="1">
                <a:solidFill>
                  <a:srgbClr val="162235"/>
                </a:solidFill>
                <a:latin typeface="Malgun Gothic"/>
                <a:ea typeface="Malgun Gothic"/>
                <a:cs typeface="Malgun Gothic"/>
              </a:rPr>
              <a:t>컬러</a:t>
            </a:r>
            <a:r>
              <a:rPr sz="1650" dirty="0">
                <a:solidFill>
                  <a:srgbClr val="162235"/>
                </a:solidFill>
                <a:latin typeface="Malgun Gothic"/>
                <a:ea typeface="Malgun Gothic"/>
                <a:cs typeface="Malgun Gothic"/>
              </a:rPr>
              <a:t>: BGR→RGB → ImageNet </a:t>
            </a:r>
            <a:r>
              <a:rPr sz="1650" dirty="0" err="1">
                <a:solidFill>
                  <a:srgbClr val="162235"/>
                </a:solidFill>
                <a:latin typeface="Malgun Gothic"/>
                <a:ea typeface="Malgun Gothic"/>
                <a:cs typeface="Malgun Gothic"/>
              </a:rPr>
              <a:t>정규화</a:t>
            </a:r>
            <a:endParaRPr sz="1650" dirty="0">
              <a:solidFill>
                <a:srgbClr val="162235"/>
              </a:solidFill>
              <a:latin typeface="Malgun Gothic"/>
              <a:ea typeface="Malgun Gothic"/>
              <a:cs typeface="Malgun Gothic"/>
            </a:endParaRP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중심점</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거리와</a:t>
            </a:r>
            <a:r>
              <a:rPr sz="1650" dirty="0">
                <a:solidFill>
                  <a:srgbClr val="162235"/>
                </a:solidFill>
                <a:latin typeface="Malgun Gothic"/>
                <a:ea typeface="Malgun Gothic"/>
                <a:cs typeface="Malgun Gothic"/>
              </a:rPr>
              <a:t> ROI </a:t>
            </a:r>
            <a:r>
              <a:rPr sz="1650" dirty="0" err="1">
                <a:solidFill>
                  <a:srgbClr val="162235"/>
                </a:solidFill>
                <a:latin typeface="Malgun Gothic"/>
                <a:ea typeface="Malgun Gothic"/>
                <a:cs typeface="Malgun Gothic"/>
              </a:rPr>
              <a:t>크기</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변화를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함께</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계산해</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여러</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얼굴의</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ID를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유지한다</a:t>
            </a:r>
            <a:r>
              <a:rPr sz="1650" dirty="0">
                <a:solidFill>
                  <a:srgbClr val="162235"/>
                </a:solidFill>
                <a:latin typeface="Malgun Gothic"/>
                <a:ea typeface="Malgun Gothic"/>
                <a:cs typeface="Malgun Gothic"/>
              </a:rPr>
              <a:t>.</a:t>
            </a: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선택한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모델</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가중치는</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백그라운드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스레드에서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불러와</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화면</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멈춤을</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줄인다</a:t>
            </a:r>
            <a:r>
              <a:rPr sz="1650" dirty="0">
                <a:solidFill>
                  <a:srgbClr val="162235"/>
                </a:solidFill>
                <a:latin typeface="Malgun Gothic"/>
                <a:ea typeface="Malgun Gothic"/>
                <a:cs typeface="Malgun Gothic"/>
              </a:rPr>
              <a:t>.</a:t>
            </a:r>
          </a:p>
          <a:p>
            <a:pPr marL="228600" indent="-101600">
              <a:spcAft>
                <a:spcPts val="900"/>
              </a:spcAft>
              <a:buChar char="•"/>
              <a:defRPr sz="1650">
                <a:solidFill>
                  <a:srgbClr val="162235"/>
                </a:solidFill>
                <a:latin typeface="Malgun Gothic"/>
                <a:ea typeface="Malgun Gothic"/>
                <a:cs typeface="Malgun Gothic"/>
              </a:defRPr>
            </a:pPr>
            <a:r>
              <a:rPr sz="1650" dirty="0" err="1">
                <a:solidFill>
                  <a:srgbClr val="162235"/>
                </a:solidFill>
                <a:latin typeface="Malgun Gothic"/>
                <a:ea typeface="Malgun Gothic"/>
                <a:cs typeface="Malgun Gothic"/>
              </a:rPr>
              <a:t>카메라</a:t>
            </a:r>
            <a:r>
              <a:rPr sz="1650" dirty="0">
                <a:solidFill>
                  <a:srgbClr val="162235"/>
                </a:solidFill>
                <a:latin typeface="Malgun Gothic"/>
                <a:ea typeface="Malgun Gothic"/>
                <a:cs typeface="Malgun Gothic"/>
              </a:rPr>
              <a:t> 0~2번을 </a:t>
            </a:r>
            <a:r>
              <a:rPr sz="1650" dirty="0" err="1">
                <a:solidFill>
                  <a:srgbClr val="162235"/>
                </a:solidFill>
                <a:latin typeface="Malgun Gothic"/>
                <a:ea typeface="Malgun Gothic"/>
                <a:cs typeface="Malgun Gothic"/>
              </a:rPr>
              <a:t>탐색하고</a:t>
            </a:r>
            <a:r>
              <a:rPr sz="1650" dirty="0">
                <a:solidFill>
                  <a:srgbClr val="162235"/>
                </a:solidFill>
                <a:latin typeface="Malgun Gothic"/>
                <a:ea typeface="Malgun Gothic"/>
                <a:cs typeface="Malgun Gothic"/>
              </a:rPr>
              <a:t> 320×240, 약 30 </a:t>
            </a:r>
            <a:r>
              <a:rPr sz="1650" dirty="0" err="1">
                <a:solidFill>
                  <a:srgbClr val="162235"/>
                </a:solidFill>
                <a:latin typeface="Malgun Gothic"/>
                <a:ea typeface="Malgun Gothic"/>
                <a:cs typeface="Malgun Gothic"/>
              </a:rPr>
              <a:t>FPS를</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목표로</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화면을</a:t>
            </a:r>
            <a:r>
              <a:rPr sz="1650" dirty="0">
                <a:solidFill>
                  <a:srgbClr val="162235"/>
                </a:solidFill>
                <a:latin typeface="Malgun Gothic"/>
                <a:ea typeface="Malgun Gothic"/>
                <a:cs typeface="Malgun Gothic"/>
              </a:rPr>
              <a:t> </a:t>
            </a:r>
            <a:r>
              <a:rPr sz="1650" dirty="0" err="1">
                <a:solidFill>
                  <a:srgbClr val="162235"/>
                </a:solidFill>
                <a:latin typeface="Malgun Gothic"/>
                <a:ea typeface="Malgun Gothic"/>
                <a:cs typeface="Malgun Gothic"/>
              </a:rPr>
              <a:t>갱신한다</a:t>
            </a:r>
            <a:r>
              <a:rPr sz="1650" dirty="0">
                <a:solidFill>
                  <a:srgbClr val="162235"/>
                </a:solidFill>
                <a:latin typeface="Malgun Gothic"/>
                <a:ea typeface="Malgun Gothic"/>
                <a:cs typeface="Malgun Gothic"/>
              </a:rPr>
              <a:t>.</a:t>
            </a:r>
          </a:p>
        </p:txBody>
      </p:sp>
    </p:spTree>
    <p:extLst>
      <p:ext uri="{BB962C8B-B14F-4D97-AF65-F5344CB8AC3E}">
        <p14:creationId xmlns:p14="http://schemas.microsoft.com/office/powerpoint/2010/main" val="7689325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8FA"/>
        </a:solidFill>
        <a:effectLst/>
      </p:bgPr>
    </p:bg>
    <p:spTree>
      <p:nvGrpSpPr>
        <p:cNvPr id="1" name=""/>
        <p:cNvGrpSpPr/>
        <p:nvPr/>
      </p:nvGrpSpPr>
      <p:grpSpPr>
        <a:xfrm>
          <a:off x="0" y="0"/>
          <a:ext cx="0" cy="0"/>
          <a:chOff x="0" y="0"/>
          <a:chExt cx="0" cy="0"/>
        </a:xfrm>
      </p:grpSpPr>
      <p:sp>
        <p:nvSpPr>
          <p:cNvPr id="15" name="직사각형 14">
            <a:extLst>
              <a:ext uri="{FF2B5EF4-FFF2-40B4-BE49-F238E27FC236}">
                <a16:creationId xmlns:a16="http://schemas.microsoft.com/office/drawing/2014/main" id="{3FF90BB8-A150-4EE4-9E33-C4752B2EF3D8}"/>
              </a:ext>
            </a:extLst>
          </p:cNvPr>
          <p:cNvSpPr>
            <a:spLocks noGrp="1"/>
          </p:cNvSpPr>
          <p:nvPr/>
        </p:nvSpPr>
        <p:spPr>
          <a:xfrm>
            <a:off x="609600" y="400050"/>
            <a:ext cx="10668000" cy="552450"/>
          </a:xfrm>
          <a:prstGeom prst="rect">
            <a:avLst/>
          </a:prstGeom>
          <a:noFill/>
          <a:ln w="0">
            <a:noFill/>
          </a:ln>
        </p:spPr>
        <p:txBody>
          <a:bodyPr/>
          <a:lstStyle/>
          <a:p>
            <a:pPr algn="l">
              <a:buNone/>
              <a:defRPr sz="3225" b="1" i="0">
                <a:solidFill>
                  <a:srgbClr val="122033"/>
                </a:solidFill>
                <a:latin typeface="Malgun Gothic"/>
                <a:ea typeface="Malgun Gothic"/>
                <a:cs typeface="Malgun Gothic"/>
              </a:defRPr>
            </a:pPr>
            <a:r>
              <a:rPr sz="3225" b="1" i="0" dirty="0" err="1">
                <a:solidFill>
                  <a:srgbClr val="122033"/>
                </a:solidFill>
                <a:latin typeface="Malgun Gothic"/>
                <a:ea typeface="Malgun Gothic"/>
                <a:cs typeface="Malgun Gothic"/>
              </a:rPr>
              <a:t>실시간</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다중</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얼굴</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처리를</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위한</a:t>
            </a:r>
            <a:r>
              <a:rPr sz="3225" b="1" i="0" dirty="0">
                <a:solidFill>
                  <a:srgbClr val="122033"/>
                </a:solidFill>
                <a:latin typeface="Malgun Gothic"/>
                <a:ea typeface="Malgun Gothic"/>
                <a:cs typeface="Malgun Gothic"/>
              </a:rPr>
              <a:t> </a:t>
            </a:r>
            <a:r>
              <a:rPr sz="3225" b="1" i="0" dirty="0" err="1">
                <a:solidFill>
                  <a:srgbClr val="122033"/>
                </a:solidFill>
                <a:latin typeface="Malgun Gothic"/>
                <a:ea typeface="Malgun Gothic"/>
                <a:cs typeface="Malgun Gothic"/>
              </a:rPr>
              <a:t>최적화</a:t>
            </a:r>
            <a:endParaRPr sz="3225" b="1" i="0" dirty="0">
              <a:solidFill>
                <a:srgbClr val="122033"/>
              </a:solidFill>
              <a:latin typeface="Malgun Gothic"/>
              <a:ea typeface="Malgun Gothic"/>
              <a:cs typeface="Malgun Gothic"/>
            </a:endParaRPr>
          </a:p>
        </p:txBody>
      </p:sp>
      <p:sp>
        <p:nvSpPr>
          <p:cNvPr id="2" name="직사각형 1">
            <a:extLst>
              <a:ext uri="{FF2B5EF4-FFF2-40B4-BE49-F238E27FC236}">
                <a16:creationId xmlns:a16="http://schemas.microsoft.com/office/drawing/2014/main" id="{BB598B41-3811-4C64-8BCB-763C6162064E}"/>
              </a:ext>
            </a:extLst>
          </p:cNvPr>
          <p:cNvSpPr>
            <a:spLocks noGrp="1"/>
          </p:cNvSpPr>
          <p:nvPr/>
        </p:nvSpPr>
        <p:spPr>
          <a:xfrm>
            <a:off x="628650" y="962025"/>
            <a:ext cx="10572750" cy="323850"/>
          </a:xfrm>
          <a:prstGeom prst="rect">
            <a:avLst/>
          </a:prstGeom>
          <a:noFill/>
          <a:ln w="0">
            <a:noFill/>
          </a:ln>
        </p:spPr>
        <p:txBody>
          <a:bodyPr/>
          <a:lstStyle/>
          <a:p>
            <a:pPr algn="l">
              <a:buNone/>
              <a:defRPr sz="1425" b="0" i="0">
                <a:solidFill>
                  <a:srgbClr val="607086"/>
                </a:solidFill>
                <a:latin typeface="Malgun Gothic"/>
                <a:ea typeface="Malgun Gothic"/>
                <a:cs typeface="Malgun Gothic"/>
              </a:defRPr>
            </a:pPr>
            <a:r>
              <a:rPr sz="1425" b="0" i="0">
                <a:solidFill>
                  <a:srgbClr val="607086"/>
                </a:solidFill>
                <a:latin typeface="Malgun Gothic"/>
                <a:ea typeface="Malgun Gothic"/>
                <a:cs typeface="Malgun Gothic"/>
              </a:rPr>
              <a:t>Jetson Orin Nano에서 속도와 예측 안정성을 함께 확보하는 설계</a:t>
            </a:r>
          </a:p>
        </p:txBody>
      </p:sp>
      <p:sp>
        <p:nvSpPr>
          <p:cNvPr id="3" name="직선 연결선 2">
            <a:extLst>
              <a:ext uri="{FF2B5EF4-FFF2-40B4-BE49-F238E27FC236}">
                <a16:creationId xmlns:a16="http://schemas.microsoft.com/office/drawing/2014/main" id="{95E5F972-2129-4523-931D-CCBF1BBFB682}"/>
              </a:ext>
            </a:extLst>
          </p:cNvPr>
          <p:cNvSpPr>
            <a:spLocks noGrp="1"/>
          </p:cNvSpPr>
          <p:nvPr/>
        </p:nvSpPr>
        <p:spPr>
          <a:xfrm>
            <a:off x="609600" y="1257300"/>
            <a:ext cx="10972800" cy="0"/>
          </a:xfrm>
          <a:prstGeom prst="line">
            <a:avLst/>
          </a:prstGeom>
          <a:ln w="9525">
            <a:solidFill>
              <a:srgbClr val="D9E0E8"/>
            </a:solidFill>
            <a:prstDash val="solid"/>
          </a:ln>
        </p:spPr>
      </p:sp>
      <p:sp>
        <p:nvSpPr>
          <p:cNvPr id="4" name="직사각형 3">
            <a:extLst>
              <a:ext uri="{FF2B5EF4-FFF2-40B4-BE49-F238E27FC236}">
                <a16:creationId xmlns:a16="http://schemas.microsoft.com/office/drawing/2014/main" id="{F3B0EC52-72FF-48E4-9D15-1C9239283FF4}"/>
              </a:ext>
            </a:extLst>
          </p:cNvPr>
          <p:cNvSpPr>
            <a:spLocks noGrp="1"/>
          </p:cNvSpPr>
          <p:nvPr/>
        </p:nvSpPr>
        <p:spPr>
          <a:xfrm>
            <a:off x="609600" y="6496050"/>
            <a:ext cx="2095500" cy="228600"/>
          </a:xfrm>
          <a:prstGeom prst="rect">
            <a:avLst/>
          </a:prstGeom>
          <a:noFill/>
          <a:ln w="0">
            <a:noFill/>
          </a:ln>
        </p:spPr>
        <p:txBody>
          <a:bodyPr/>
          <a:lstStyle/>
          <a:p>
            <a:pPr algn="l">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Emotion Project</a:t>
            </a:r>
          </a:p>
        </p:txBody>
      </p:sp>
      <p:sp>
        <p:nvSpPr>
          <p:cNvPr id="5" name="직사각형 4">
            <a:extLst>
              <a:ext uri="{FF2B5EF4-FFF2-40B4-BE49-F238E27FC236}">
                <a16:creationId xmlns:a16="http://schemas.microsoft.com/office/drawing/2014/main" id="{84CB404B-7159-425A-B0AE-B2793280E487}"/>
              </a:ext>
            </a:extLst>
          </p:cNvPr>
          <p:cNvSpPr>
            <a:spLocks noGrp="1"/>
          </p:cNvSpPr>
          <p:nvPr/>
        </p:nvSpPr>
        <p:spPr>
          <a:xfrm>
            <a:off x="11049000" y="6496050"/>
            <a:ext cx="533400" cy="228600"/>
          </a:xfrm>
          <a:prstGeom prst="rect">
            <a:avLst/>
          </a:prstGeom>
          <a:noFill/>
          <a:ln w="0">
            <a:noFill/>
          </a:ln>
        </p:spPr>
        <p:txBody>
          <a:bodyPr/>
          <a:lstStyle/>
          <a:p>
            <a:pPr algn="r">
              <a:buNone/>
              <a:defRPr sz="1050" b="0" i="0">
                <a:solidFill>
                  <a:srgbClr val="607086"/>
                </a:solidFill>
                <a:latin typeface="Malgun Gothic"/>
                <a:ea typeface="Malgun Gothic"/>
                <a:cs typeface="Malgun Gothic"/>
              </a:defRPr>
            </a:pPr>
            <a:r>
              <a:rPr sz="1050" b="0" i="0">
                <a:solidFill>
                  <a:srgbClr val="607086"/>
                </a:solidFill>
                <a:latin typeface="Malgun Gothic"/>
                <a:ea typeface="Malgun Gothic"/>
                <a:cs typeface="Malgun Gothic"/>
              </a:rPr>
              <a:t>20</a:t>
            </a:r>
          </a:p>
        </p:txBody>
      </p:sp>
      <p:sp>
        <p:nvSpPr>
          <p:cNvPr id="6" name="사각형: 둥근 모서리 5">
            <a:extLst>
              <a:ext uri="{FF2B5EF4-FFF2-40B4-BE49-F238E27FC236}">
                <a16:creationId xmlns:a16="http://schemas.microsoft.com/office/drawing/2014/main" id="{ED7727D8-FCC9-48BF-AE1D-C879F9A72049}"/>
              </a:ext>
            </a:extLst>
          </p:cNvPr>
          <p:cNvSpPr>
            <a:spLocks noGrp="1"/>
          </p:cNvSpPr>
          <p:nvPr/>
        </p:nvSpPr>
        <p:spPr>
          <a:xfrm>
            <a:off x="628650" y="2003611"/>
            <a:ext cx="4032997" cy="3714750"/>
          </a:xfrm>
          <a:prstGeom prst="roundRect">
            <a:avLst>
              <a:gd name="adj" fmla="val 3590"/>
            </a:avLst>
          </a:prstGeom>
          <a:solidFill>
            <a:srgbClr val="E9EDF2"/>
          </a:solidFill>
          <a:ln w="19050">
            <a:solidFill>
              <a:srgbClr val="607086"/>
            </a:solidFill>
            <a:prstDash val="dash"/>
          </a:ln>
        </p:spPr>
        <p:txBody>
          <a:bodyPr anchor="ctr">
            <a:noAutofit/>
          </a:bodyPr>
          <a:lstStyle/>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1  </a:t>
            </a:r>
            <a:r>
              <a:rPr sz="1650" b="1" dirty="0" err="1">
                <a:solidFill>
                  <a:srgbClr val="5E6F88"/>
                </a:solidFill>
                <a:latin typeface="Malgun Gothic"/>
                <a:ea typeface="Malgun Gothic"/>
                <a:cs typeface="Malgun Gothic"/>
              </a:rPr>
              <a:t>카메라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영상은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계속</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표시</a:t>
            </a:r>
            <a:endParaRPr sz="1650" b="1" dirty="0">
              <a:solidFill>
                <a:srgbClr val="5E6F88"/>
              </a:solidFill>
              <a:latin typeface="Malgun Gothic"/>
              <a:ea typeface="Malgun Gothic"/>
              <a:cs typeface="Malgun Gothic"/>
            </a:endParaRPr>
          </a:p>
          <a:p>
            <a:pP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AI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추론은</a:t>
            </a:r>
            <a:r>
              <a:rPr sz="1650" b="1" dirty="0">
                <a:solidFill>
                  <a:srgbClr val="5E6F88"/>
                </a:solidFill>
                <a:latin typeface="Malgun Gothic"/>
                <a:ea typeface="Malgun Gothic"/>
                <a:cs typeface="Malgun Gothic"/>
              </a:rPr>
              <a:t> 2프레임마다 1회</a:t>
            </a:r>
            <a:endParaRPr sz="1950" b="1" dirty="0">
              <a:solidFill>
                <a:srgbClr val="607086"/>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950" b="1" dirty="0">
              <a:solidFill>
                <a:srgbClr val="607086"/>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2  </a:t>
            </a:r>
            <a:r>
              <a:rPr sz="1650" b="1" dirty="0" err="1">
                <a:solidFill>
                  <a:srgbClr val="5E6F88"/>
                </a:solidFill>
                <a:latin typeface="Malgun Gothic"/>
                <a:ea typeface="Malgun Gothic"/>
                <a:cs typeface="Malgun Gothic"/>
              </a:rPr>
              <a:t>얼굴</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중심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이동과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크기</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변화를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함께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계산</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여러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사람의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ID와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기록을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분리</a:t>
            </a:r>
            <a:endParaRPr sz="1650" b="1" dirty="0">
              <a:solidFill>
                <a:srgbClr val="5E6F88"/>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3  </a:t>
            </a:r>
            <a:r>
              <a:rPr sz="1650" b="1" dirty="0" err="1">
                <a:solidFill>
                  <a:srgbClr val="5E6F88"/>
                </a:solidFill>
                <a:latin typeface="Malgun Gothic"/>
                <a:ea typeface="Malgun Gothic"/>
                <a:cs typeface="Malgun Gothic"/>
              </a:rPr>
              <a:t>모델</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전환은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백그라운드에서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처리</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EMA로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레이블의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깜빡임을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완화</a:t>
            </a:r>
            <a:endParaRPr sz="1650" b="1" dirty="0">
              <a:solidFill>
                <a:srgbClr val="5E6F88"/>
              </a:solidFill>
              <a:latin typeface="Malgun Gothic"/>
              <a:ea typeface="Malgun Gothic"/>
              <a:cs typeface="Malgun Gothic"/>
            </a:endParaRPr>
          </a:p>
        </p:txBody>
      </p:sp>
      <p:sp>
        <p:nvSpPr>
          <p:cNvPr id="20" name="사각형: 둥근 모서리 19">
            <a:extLst>
              <a:ext uri="{FF2B5EF4-FFF2-40B4-BE49-F238E27FC236}">
                <a16:creationId xmlns:a16="http://schemas.microsoft.com/office/drawing/2014/main" id="{A69DE0F8-56DE-4535-8556-8F1D8B137F90}"/>
              </a:ext>
            </a:extLst>
          </p:cNvPr>
          <p:cNvSpPr>
            <a:spLocks noGrp="1"/>
          </p:cNvSpPr>
          <p:nvPr/>
        </p:nvSpPr>
        <p:spPr>
          <a:xfrm>
            <a:off x="7168403" y="2003611"/>
            <a:ext cx="4032997" cy="3714750"/>
          </a:xfrm>
          <a:prstGeom prst="roundRect">
            <a:avLst>
              <a:gd name="adj" fmla="val 3590"/>
            </a:avLst>
          </a:prstGeom>
          <a:solidFill>
            <a:srgbClr val="E9EDF2"/>
          </a:solidFill>
          <a:ln w="19050">
            <a:solidFill>
              <a:srgbClr val="607086"/>
            </a:solidFill>
            <a:prstDash val="dash"/>
          </a:ln>
        </p:spPr>
        <p:txBody>
          <a:bodyPr anchor="ctr">
            <a:noAutofit/>
          </a:bodyPr>
          <a:lstStyle/>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1  </a:t>
            </a:r>
            <a:r>
              <a:rPr sz="1650" b="1" dirty="0" err="1">
                <a:solidFill>
                  <a:srgbClr val="5E6F88"/>
                </a:solidFill>
                <a:latin typeface="Malgun Gothic"/>
                <a:ea typeface="Malgun Gothic"/>
                <a:cs typeface="Malgun Gothic"/>
              </a:rPr>
              <a:t>카메라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영상은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계속</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표시</a:t>
            </a:r>
            <a:endParaRPr sz="1650" b="1" dirty="0">
              <a:solidFill>
                <a:srgbClr val="5E6F88"/>
              </a:solidFill>
              <a:latin typeface="Malgun Gothic"/>
              <a:ea typeface="Malgun Gothic"/>
              <a:cs typeface="Malgun Gothic"/>
            </a:endParaRPr>
          </a:p>
          <a:p>
            <a:pP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AI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추론은</a:t>
            </a:r>
            <a:r>
              <a:rPr sz="1650" b="1" dirty="0">
                <a:solidFill>
                  <a:srgbClr val="5E6F88"/>
                </a:solidFill>
                <a:latin typeface="Malgun Gothic"/>
                <a:ea typeface="Malgun Gothic"/>
                <a:cs typeface="Malgun Gothic"/>
              </a:rPr>
              <a:t> 2프레임마다 1회</a:t>
            </a:r>
            <a:endParaRPr sz="1950" b="1" dirty="0">
              <a:solidFill>
                <a:srgbClr val="607086"/>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950" b="1" dirty="0">
              <a:solidFill>
                <a:srgbClr val="607086"/>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2  </a:t>
            </a:r>
            <a:r>
              <a:rPr sz="1650" b="1" dirty="0" err="1">
                <a:solidFill>
                  <a:srgbClr val="5E6F88"/>
                </a:solidFill>
                <a:latin typeface="Malgun Gothic"/>
                <a:ea typeface="Malgun Gothic"/>
                <a:cs typeface="Malgun Gothic"/>
              </a:rPr>
              <a:t>얼굴</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중심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이동과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크기</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변화를</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함께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계산</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여러</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사람의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ID와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기록을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분리</a:t>
            </a:r>
            <a:endParaRPr sz="1650" b="1" dirty="0">
              <a:solidFill>
                <a:srgbClr val="5E6F88"/>
              </a:solidFill>
              <a:latin typeface="Malgun Gothic"/>
              <a:ea typeface="Malgun Gothic"/>
              <a:cs typeface="Malgun Gothic"/>
            </a:endParaRPr>
          </a:p>
          <a:p>
            <a:pPr algn="ctr">
              <a:buNone/>
              <a:defRPr sz="1950" b="1">
                <a:solidFill>
                  <a:srgbClr val="607086"/>
                </a:solidFill>
                <a:latin typeface="Malgun Gothic"/>
                <a:ea typeface="Malgun Gothic"/>
                <a:cs typeface="Malgun Gothic"/>
              </a:defRPr>
            </a:pP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3  </a:t>
            </a:r>
            <a:r>
              <a:rPr sz="1650" b="1" dirty="0" err="1">
                <a:solidFill>
                  <a:srgbClr val="5E6F88"/>
                </a:solidFill>
                <a:latin typeface="Malgun Gothic"/>
                <a:ea typeface="Malgun Gothic"/>
                <a:cs typeface="Malgun Gothic"/>
              </a:rPr>
              <a:t>모델</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전환은</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백그라운드에서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처리</a:t>
            </a:r>
            <a:endParaRPr sz="1650" b="1" dirty="0">
              <a:solidFill>
                <a:srgbClr val="5E6F88"/>
              </a:solidFill>
              <a:latin typeface="Malgun Gothic"/>
              <a:ea typeface="Malgun Gothic"/>
              <a:cs typeface="Malgun Gothic"/>
            </a:endParaRPr>
          </a:p>
          <a:p>
            <a:pPr algn="ctr">
              <a:buNone/>
              <a:defRPr sz="1650" b="1">
                <a:solidFill>
                  <a:srgbClr val="5E6F88"/>
                </a:solidFill>
                <a:latin typeface="Malgun Gothic"/>
                <a:ea typeface="Malgun Gothic"/>
                <a:cs typeface="Malgun Gothic"/>
              </a:defRPr>
            </a:pP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EMA로</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감정</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레이블의</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깜빡임을</a:t>
            </a:r>
            <a:r>
              <a:rPr sz="1650" b="1" dirty="0">
                <a:solidFill>
                  <a:srgbClr val="5E6F88"/>
                </a:solidFill>
                <a:latin typeface="Malgun Gothic"/>
                <a:ea typeface="Malgun Gothic"/>
                <a:cs typeface="Malgun Gothic"/>
              </a:rPr>
              <a:t> </a:t>
            </a:r>
            <a:r>
              <a:rPr sz="1650" b="1" dirty="0" err="1">
                <a:solidFill>
                  <a:srgbClr val="5E6F88"/>
                </a:solidFill>
                <a:latin typeface="Malgun Gothic"/>
                <a:ea typeface="Malgun Gothic"/>
                <a:cs typeface="Malgun Gothic"/>
              </a:rPr>
              <a:t>완화</a:t>
            </a:r>
            <a:endParaRPr sz="1650" b="1" dirty="0">
              <a:solidFill>
                <a:srgbClr val="5E6F88"/>
              </a:solidFill>
              <a:latin typeface="Malgun Gothic"/>
              <a:ea typeface="Malgun Gothic"/>
              <a:cs typeface="Malgun Gothic"/>
            </a:endParaRPr>
          </a:p>
        </p:txBody>
      </p:sp>
    </p:spTree>
    <p:extLst>
      <p:ext uri="{BB962C8B-B14F-4D97-AF65-F5344CB8AC3E}">
        <p14:creationId xmlns:p14="http://schemas.microsoft.com/office/powerpoint/2010/main" val="17348714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419</TotalTime>
  <Words>2515</Words>
  <Application>Microsoft Office PowerPoint</Application>
  <DocSecurity>0</DocSecurity>
  <PresentationFormat>와이드스크린</PresentationFormat>
  <Paragraphs>348</Paragraphs>
  <Slides>20</Slides>
  <Notes>20</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20</vt:i4>
      </vt:variant>
    </vt:vector>
  </HeadingPairs>
  <TitlesOfParts>
    <vt:vector size="23" baseType="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USER</cp:lastModifiedBy>
  <cp:revision>6</cp:revision>
  <dcterms:created xsi:type="dcterms:W3CDTF">2026-09-16T02:06:14Z</dcterms:created>
  <dcterms:modified xsi:type="dcterms:W3CDTF">2026-09-16T10:10:14Z</dcterms:modified>
</cp:coreProperties>
</file>