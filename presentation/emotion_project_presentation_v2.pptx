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44" autoAdjust="0"/>
  </p:normalViewPr>
  <p:slideViewPr>
    <p:cSldViewPr snapToGrid="0">
      <p:cViewPr varScale="1">
        <p:scale>
          <a:sx n="68" d="100"/>
          <a:sy n="68" d="100"/>
        </p:scale>
        <p:origin x="9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 비율</c:v>
                </c:pt>
              </c:strCache>
            </c:strRef>
          </c:tx>
          <c:spPr>
            <a:solidFill>
              <a:srgbClr val="42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기쁨</c:v>
                </c:pt>
                <c:pt idx="1">
                  <c:v>당황</c:v>
                </c:pt>
                <c:pt idx="2">
                  <c:v>분노</c:v>
                </c:pt>
                <c:pt idx="3">
                  <c:v>불안</c:v>
                </c:pt>
                <c:pt idx="4">
                  <c:v>상처</c:v>
                </c:pt>
                <c:pt idx="5">
                  <c:v>슬픔</c:v>
                </c:pt>
                <c:pt idx="6">
                  <c:v>중립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0.14319999999999999</c:v>
                </c:pt>
                <c:pt idx="1">
                  <c:v>0.1434</c:v>
                </c:pt>
                <c:pt idx="2">
                  <c:v>0.14349999999999999</c:v>
                </c:pt>
                <c:pt idx="3">
                  <c:v>0.1431</c:v>
                </c:pt>
                <c:pt idx="4">
                  <c:v>0.14130000000000001</c:v>
                </c:pt>
                <c:pt idx="5">
                  <c:v>0.14199999999999999</c:v>
                </c:pt>
                <c:pt idx="6">
                  <c:v>0.1434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1B5-4BD0-94EF-3A62BA4968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4599999999999999"/>
          <c:min val="0.13800000000000001"/>
        </c:scaling>
        <c:delete val="0"/>
        <c:axPos val="l"/>
        <c:majorGridlines>
          <c:spPr>
            <a:ln w="9525">
              <a:solidFill>
                <a:srgbClr val="D9E0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2E-3"/>
      </c:valAx>
      <c:spPr>
        <a:noFill/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42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0.73995549999999999</c:v>
              </c:pt>
              <c:pt idx="1">
                <c:v>0.73091830000000002</c:v>
              </c:pt>
              <c:pt idx="2">
                <c:v>0.72752220000000001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E82-4058-89B5-594535722868}"/>
            </c:ext>
          </c:extLst>
        </c:ser>
        <c:ser>
          <c:idx val="1"/>
          <c:order val="1"/>
          <c:tx>
            <c:v>Macro-F1</c:v>
          </c:tx>
          <c:spPr>
            <a:solidFill>
              <a:srgbClr val="14B8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0.7357475</c:v>
              </c:pt>
              <c:pt idx="1">
                <c:v>0.72957680000000003</c:v>
              </c:pt>
              <c:pt idx="2">
                <c:v>0.72533729999999996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E82-4058-89B5-5945357228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5"/>
          <c:min val="0.7"/>
        </c:scaling>
        <c:delete val="0"/>
        <c:axPos val="l"/>
        <c:majorGridlines>
          <c:spPr>
            <a:ln w="9525">
              <a:solidFill>
                <a:srgbClr val="D9E0E8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0.01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EfficientNet-B0</c:v>
          </c:tx>
          <c:spPr>
            <a:solidFill>
              <a:srgbClr val="4263EB"/>
            </a:solidFill>
          </c:spPr>
          <c:invertIfNegative val="1"/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0.77</c:v>
              </c:pt>
              <c:pt idx="2">
                <c:v>0.77</c:v>
              </c:pt>
              <c:pt idx="3">
                <c:v>0.56999999999999995</c:v>
              </c:pt>
              <c:pt idx="4">
                <c:v>0.54</c:v>
              </c:pt>
              <c:pt idx="5">
                <c:v>0.72</c:v>
              </c:pt>
              <c:pt idx="6">
                <c:v>0.83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E8-4D78-89F8-319050A1D335}"/>
            </c:ext>
          </c:extLst>
        </c:ser>
        <c:ser>
          <c:idx val="1"/>
          <c:order val="1"/>
          <c:tx>
            <c:v>MobileNetV2</c:v>
          </c:tx>
          <c:spPr>
            <a:solidFill>
              <a:srgbClr val="14B8A6"/>
            </a:solidFill>
          </c:spPr>
          <c:invertIfNegative val="1"/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0.56000000000000005</c:v>
              </c:pt>
              <c:pt idx="4">
                <c:v>0.53</c:v>
              </c:pt>
              <c:pt idx="5">
                <c:v>0.71</c:v>
              </c:pt>
              <c:pt idx="6">
                <c:v>0.83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1E8-4D78-89F8-319050A1D335}"/>
            </c:ext>
          </c:extLst>
        </c:ser>
        <c:ser>
          <c:idx val="2"/>
          <c:order val="2"/>
          <c:tx>
            <c:v>ResNet18</c:v>
          </c:tx>
          <c:spPr>
            <a:solidFill>
              <a:srgbClr val="F4B740"/>
            </a:solidFill>
          </c:spPr>
          <c:invertIfNegative val="1"/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0.56999999999999995</c:v>
              </c:pt>
              <c:pt idx="4">
                <c:v>0.5</c:v>
              </c:pt>
              <c:pt idx="5">
                <c:v>0.71</c:v>
              </c:pt>
              <c:pt idx="6">
                <c:v>0.83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1E8-4D78-89F8-319050A1D3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w="9525">
              <a:solidFill>
                <a:srgbClr val="D9E0E8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0.1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범위는 데이터 품질 점검, 전처리, GPU 학습 환경, 세 모델 비교입니다. 마지막에는 웹캠 프로그램으로 확장할 계획을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최종 수치를 한 장에서 제시합니다. EfficientNet-B0는 현재 정확도 중심 후보이고 MobileNetV2는 실시간 속도를 위한 대안입니다.</a:t>
            </a:r>
          </a:p>
          <a:p>
            <a:endParaRPr/>
          </a:p>
          <a:p>
            <a:r>
              <a:t>근거: dataset/processed/preprocessing_summary.json | results/comparisons/all_three_models/comparison_table.csv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완료된 연구 단계와 예정된 프로그램 단계를 분리해서 설명합니다. 프로그램을 구현하면 뒤쪽 슬라이드만 갱신해도 전체 발표 흐름을 유지할 수 있습니다.</a:t>
            </a:r>
          </a:p>
          <a:p>
            <a:endParaRPr/>
          </a:p>
          <a:p>
            <a:r>
              <a:t>근거: docs/01_project_overview.md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분노와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적은</a:t>
            </a:r>
            <a:r>
              <a:rPr dirty="0"/>
              <a:t> </a:t>
            </a:r>
            <a:r>
              <a:rPr dirty="0" err="1"/>
              <a:t>상처의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620장입니다.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수만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불균형이</a:t>
            </a:r>
            <a:r>
              <a:rPr dirty="0"/>
              <a:t> </a:t>
            </a:r>
            <a:r>
              <a:rPr dirty="0" err="1"/>
              <a:t>매우</a:t>
            </a:r>
            <a:r>
              <a:rPr dirty="0"/>
              <a:t> </a:t>
            </a:r>
            <a:r>
              <a:rPr dirty="0" err="1"/>
              <a:t>작습니다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근거</a:t>
            </a:r>
            <a:r>
              <a:rPr dirty="0"/>
              <a:t>: results/preprocessing_eda_report.md, 4.1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분포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클래스 균형만으로 데이터가 완전히 균형적이라고 말하면 안 됩니다. 연령 편향과 분할 중복 가능성을 모델 평가 한계로 제시합니다.</a:t>
            </a:r>
          </a:p>
          <a:p>
            <a:endParaRPr/>
          </a:p>
          <a:p>
            <a:r>
              <a:t>근거: results/preprocessing_eda_report.md, 4.2 및 4.4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244가 아니라 224를 선택한 이유, 강제 resize 대신 패딩한 이유, 흑백 선택의 장단점을 질문받을 수 있습니다. 표의 이유와 한계를 함께 설명합니다.</a:t>
            </a:r>
          </a:p>
          <a:p>
            <a:endParaRPr/>
          </a:p>
          <a:p>
            <a:r>
              <a:t>근거: results/preprocessing_eda_report.md, 6. 전처리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전처리된 이미지는 정사각형이지만 얼굴 비율은 유지됩니다. 남는 영역만 검정색으로 채웠습니다. 이 이미지는 프로젝트 Validation 데이터의 예시입니다.</a:t>
            </a:r>
          </a:p>
          <a:p>
            <a:endParaRPr/>
          </a:p>
          <a:p>
            <a:r>
              <a:t>근거: 사용자가 제공한 Validation 원본 | dataset/processed/images/Validation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손상 파일은 한글 경로 문제가 아니라 JPEG 스트림 손상이었습니다. 전체의 0.0058%로 매우 적어 복원하지 않고 제외했습니다.</a:t>
            </a:r>
          </a:p>
          <a:p>
            <a:endParaRPr/>
          </a:p>
          <a:p>
            <a:r>
              <a:t>근거: dataset/processed/preprocessing_summary.json | results/preprocessing_eda_report.md, 5 및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nvidia-smi는 드라이버가 지원하는 CUDA를 보여줍니다. 실제 PyTorch 런타임은 torch.version.cuda로 확인하고 행렬 곱셈까지 실행했습니다.</a:t>
            </a:r>
          </a:p>
          <a:p>
            <a:endParaRPr/>
          </a:p>
          <a:p>
            <a:r>
              <a:t>근거: scripts/setup_cuda126.ps1 | src/check_environment.py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ResNet18은 기준선, MobileNetV2는 경량성, EfficientNet-B0는 정확도와 효율의 균형을 대표합니다.</a:t>
            </a:r>
          </a:p>
          <a:p>
            <a:endParaRPr/>
          </a:p>
          <a:p>
            <a:r>
              <a:t>근거: src/train_models.py | docs/04_model_training_and_selection.md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 epoch는 최대값입니다. 실제 세 모델은 18~21 epoch에서 조기 종료됐고 최고 성능 시점은 best.pt로 보관했습니다.</a:t>
            </a:r>
          </a:p>
          <a:p>
            <a:endParaRPr/>
          </a:p>
          <a:p>
            <a:r>
              <a:t>근거: src/train_models.py | results/experiments/*/run_summary.json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모델 차이는 크지 않지만 EfficientNet-B0가 두 지표 모두 가장 높았습니다. Accuracy만이 아니라 클래스별 성능을 같은 비중으로 보는 Macro-F1을 주 기준으로 사용했습니다.</a:t>
            </a:r>
          </a:p>
          <a:p>
            <a:endParaRPr/>
          </a:p>
          <a:p>
            <a:r>
              <a:t>근거: results/comparisons/all_three_models/comparison_table.csv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기쁨과 중립은 잘 구분되지만 불안과 상처는 세 모델 모두 어렵습니다. 모델 구조보다 데이터의 감정 경계와 표정 유사성이 영향을 줬을 가능성이 있습니다.</a:t>
            </a:r>
          </a:p>
          <a:p>
            <a:endParaRPr/>
          </a:p>
          <a:p>
            <a:r>
              <a:t>근거: results/experiments/*/run_summary.json | results/comparisons/all_three_models/per_class_f1.png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학습과 검증의 간격이 커져 과적합 신호가 나타납니다. best epoch 15의 가중치를 저장했고 patience 3에 따라 18에서 멈췄습니다. 혼동행렬에서도 상처가 슬픔과 불안으로 혼동되는 경향을 확인할 수 있습니다.</a:t>
            </a:r>
          </a:p>
          <a:p>
            <a:endParaRPr/>
          </a:p>
          <a:p>
            <a:r>
              <a:t>근거: results/comparisons/all_three_models/training_curves_GPU_efficientnet_b0_e50_p3_b32_efficientnet_b0.png | results/comparisons/all_three_models/confusion_matrix_GPU_efficientnet_b0_e50_p3_b32_efficientnet_b0.png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팀원에게는 best.pt를 전달합니다. 체크포인트 안의 class_names와 normalization을 프로그램에서 그대로 읽어야 학습 때와 같은 입력이 됩니다.</a:t>
            </a:r>
          </a:p>
          <a:p>
            <a:endParaRPr/>
          </a:p>
          <a:p>
            <a:r>
              <a:t>근거: README.md | models/GPU_efficientnet_b0_e50_p3_b32/efficientnet_b0/best.pt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한계를 숨기지 않고 다음 실험으로 연결합니다. 특히 PyTorch 버전 차이는 비교 조건의 작은 차이이므로 동일 lock 재현이 가장 엄밀합니다.</a:t>
            </a:r>
          </a:p>
          <a:p>
            <a:endParaRPr/>
          </a:p>
          <a:p>
            <a:r>
              <a:t>근거: docs/02_environment_and_gpu.md | results/preprocessing_eda_report.md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프로그램 담당자에게 전달할 입력 규칙입니다. 얼굴 검출 뒤의 전처리가 학습 코드와 다르면 정확도가 크게 떨어질 수 있습니다.</a:t>
            </a:r>
          </a:p>
          <a:p>
            <a:endParaRPr/>
          </a:p>
          <a:p>
            <a:r>
              <a:t>근거: models/GPU_efficientnet_b0_e50_p3_b32/efficientnet_b0/best.pt | src/train_models.py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의도적으로 프로그램 결과를 추가할 수 있게 만들었습니다. 구현 후 회색 영역을 실제 캡처로 교체하고 FPS, 지연 시간, 장치 사용량을 입력합니다. 숫자를 채운 뒤 EfficientNet-B0와 MobileNetV2 중 최종 배포 모델을 결정합니다.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CC6DC15-11EC-4F6C-85DA-09950FE87912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809625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한국인 얼굴 감정 인식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A8D019-0968-414B-BFDA-84E572ADEEB2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rPr>
              <a:t>데이터 전처리와 모델 비교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E4D4146-6AE8-4228-882D-6F6A3AAC9EFA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381250" cy="0"/>
          </a:xfrm>
          <a:prstGeom prst="line">
            <a:avLst/>
          </a:prstGeom>
          <a:ln w="57150">
            <a:solidFill>
              <a:srgbClr val="14B8A6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D41D2C-A840-4F15-9093-5D90A0BE6194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86677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0" i="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오석</a:t>
            </a:r>
            <a:r>
              <a:rPr lang="en-US" altLang="ko-KR" sz="1650" b="0" i="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650" b="0" i="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정준영</a:t>
            </a:r>
            <a:r>
              <a:rPr lang="en-US" altLang="ko-KR" sz="1650" b="0" i="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650" b="0" i="0" dirty="0" err="1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김범영</a:t>
            </a:r>
            <a:r>
              <a:rPr lang="ko-KR" altLang="en-US" sz="165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65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650" dirty="0" err="1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김정오</a:t>
            </a:r>
            <a:r>
              <a:rPr lang="ko-KR" altLang="en-US" sz="165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 팀</a:t>
            </a:r>
            <a:r>
              <a:rPr lang="en-US" altLang="ko-KR" sz="1650" dirty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lang="en-US" altLang="ko-KR" sz="1650" b="0" i="0" dirty="0">
              <a:solidFill>
                <a:srgbClr val="DCE6F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1DC95B-C7E8-431E-A5AF-1B1FD6DE6391}"/>
              </a:ext>
            </a:extLst>
          </p:cNvPr>
          <p:cNvSpPr>
            <a:spLocks noGrp="1"/>
          </p:cNvSpPr>
          <p:nvPr/>
        </p:nvSpPr>
        <p:spPr>
          <a:xfrm>
            <a:off x="762000" y="5772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 dirty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팀 </a:t>
            </a:r>
            <a:r>
              <a:rPr sz="1350" b="0" i="0" dirty="0" err="1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프로젝트</a:t>
            </a:r>
            <a:r>
              <a:rPr sz="1350" b="0" i="0" dirty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발표</a:t>
            </a:r>
            <a:endParaRPr sz="1350" b="0" i="0" dirty="0">
              <a:solidFill>
                <a:srgbClr val="8FA2B9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796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341155-58B6-4494-8488-490A4663A74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프로젝트 요약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143ED8-32DC-40F6-BC24-86BB43786179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완료된 범위와 핵심 결론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521F64A-13F5-46AE-9DE2-3597996FE41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AB141-FAF9-4781-AF79-5A87C3EC7BA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A93897-79F1-4AF6-8808-DEBBDEE88FF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C34494-0738-4EBF-980E-E5088F5C2C56}"/>
              </a:ext>
            </a:extLst>
          </p:cNvPr>
          <p:cNvSpPr>
            <a:spLocks noGrp="1"/>
          </p:cNvSpPr>
          <p:nvPr/>
        </p:nvSpPr>
        <p:spPr>
          <a:xfrm>
            <a:off x="1753722" y="17526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 dirty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60E00E-F5B6-4A99-8DEA-666D05E96C32}"/>
              </a:ext>
            </a:extLst>
          </p:cNvPr>
          <p:cNvSpPr>
            <a:spLocks noGrp="1"/>
          </p:cNvSpPr>
          <p:nvPr/>
        </p:nvSpPr>
        <p:spPr>
          <a:xfrm>
            <a:off x="1753722" y="23812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완료 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CA05AD-4CE9-440F-A6FC-834B342A443C}"/>
              </a:ext>
            </a:extLst>
          </p:cNvPr>
          <p:cNvSpPr>
            <a:spLocks noGrp="1"/>
          </p:cNvSpPr>
          <p:nvPr/>
        </p:nvSpPr>
        <p:spPr>
          <a:xfrm>
            <a:off x="4951881" y="17526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6FAB5D-DE01-4555-8682-C7DA8EA329C1}"/>
              </a:ext>
            </a:extLst>
          </p:cNvPr>
          <p:cNvSpPr>
            <a:spLocks noGrp="1"/>
          </p:cNvSpPr>
          <p:nvPr/>
        </p:nvSpPr>
        <p:spPr>
          <a:xfrm>
            <a:off x="4951881" y="23812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방향</a:t>
            </a:r>
            <a:r>
              <a:rPr sz="1500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보정</a:t>
            </a:r>
            <a:endParaRPr sz="1500" b="0" i="0" dirty="0">
              <a:solidFill>
                <a:srgbClr val="60708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E7D9AD-0A46-4C23-84BC-B87C5C2C798D}"/>
              </a:ext>
            </a:extLst>
          </p:cNvPr>
          <p:cNvSpPr>
            <a:spLocks noGrp="1"/>
          </p:cNvSpPr>
          <p:nvPr/>
        </p:nvSpPr>
        <p:spPr>
          <a:xfrm>
            <a:off x="8150040" y="1752600"/>
            <a:ext cx="2667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61B971-B19D-44AA-8EDB-F272661BC07C}"/>
              </a:ext>
            </a:extLst>
          </p:cNvPr>
          <p:cNvSpPr>
            <a:spLocks noGrp="1"/>
          </p:cNvSpPr>
          <p:nvPr/>
        </p:nvSpPr>
        <p:spPr>
          <a:xfrm>
            <a:off x="8150040" y="238125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최고 Validation Macro-F1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E9696B-15BA-40C7-BA80-B1890029C04C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결론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DB723-2064-43B1-8CEC-705763C27878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0287000" cy="2000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손상 JPEG 16장을 근거와 함께 제외하고 원본은 보존했다.</a:t>
            </a:r>
          </a:p>
          <a:p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224×224 흑백 PNG로 입력 규격을 통일하고 라벨 좌표도 함께 변환했다.</a:t>
            </a:r>
          </a:p>
          <a:p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중 EfficientNet-B0가 Accuracy와 Macro-F1 모두 가장 높았다.</a:t>
            </a:r>
          </a:p>
          <a:p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단계에서는 EfficientNet-B0와 MobileNetV2의 실제 지연 시간을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6561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EC9D1B-61CE-45E9-95D1-84C2B405831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전체 작업 과정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754C8E-DEC0-4133-917B-B99D09D10151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수집부터 프로그램 적용 전 단계까지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C69E740-15DE-4685-95FC-30B1A138C6E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28D6AE-4BCE-427F-A336-021E747A608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4EDADE-7488-48BC-B473-B771C55253F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263B98-493B-4388-B918-55407982B4DB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828800" cy="895350"/>
          </a:xfrm>
          <a:prstGeom prst="roundRect">
            <a:avLst>
              <a:gd name="adj" fmla="val 12766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JPG·JSON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EE08D5-3B78-4357-8575-CA3D88A827E3}"/>
              </a:ext>
            </a:extLst>
          </p:cNvPr>
          <p:cNvSpPr>
            <a:spLocks noGrp="1"/>
          </p:cNvSpPr>
          <p:nvPr/>
        </p:nvSpPr>
        <p:spPr>
          <a:xfrm>
            <a:off x="2895600" y="2095500"/>
            <a:ext cx="1828800" cy="895350"/>
          </a:xfrm>
          <a:prstGeom prst="roundRect">
            <a:avLst>
              <a:gd name="adj" fmla="val 12766"/>
            </a:avLst>
          </a:prstGeom>
          <a:solidFill>
            <a:srgbClr val="FFF7D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EDA와 품질 점검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7C1A81-B460-45AE-8B52-D565AFE016B0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1828800" cy="895350"/>
          </a:xfrm>
          <a:prstGeom prst="roundRect">
            <a:avLst>
              <a:gd name="adj" fmla="val 12766"/>
            </a:avLst>
          </a:prstGeom>
          <a:solidFill>
            <a:srgbClr val="E8F8F5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이미지·라벨</a:t>
            </a:r>
            <a:r>
              <a:rPr sz="1400" b="1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</a:t>
            </a:r>
            <a:endParaRPr sz="1400" b="1" dirty="0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AAF76-CDFB-4873-9884-C41BB49111E3}"/>
              </a:ext>
            </a:extLst>
          </p:cNvPr>
          <p:cNvSpPr>
            <a:spLocks noGrp="1"/>
          </p:cNvSpPr>
          <p:nvPr/>
        </p:nvSpPr>
        <p:spPr>
          <a:xfrm>
            <a:off x="7467600" y="2095500"/>
            <a:ext cx="1828800" cy="895350"/>
          </a:xfrm>
          <a:prstGeom prst="roundRect">
            <a:avLst>
              <a:gd name="adj" fmla="val 12766"/>
            </a:avLst>
          </a:prstGeom>
          <a:solidFill>
            <a:srgbClr val="FFF0EC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학습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1C64B3A-7C94-4AC7-A083-ADA647D7772C}"/>
              </a:ext>
            </a:extLst>
          </p:cNvPr>
          <p:cNvSpPr>
            <a:spLocks noGrp="1"/>
          </p:cNvSpPr>
          <p:nvPr/>
        </p:nvSpPr>
        <p:spPr>
          <a:xfrm>
            <a:off x="9753600" y="2095500"/>
            <a:ext cx="1828800" cy="895350"/>
          </a:xfrm>
          <a:prstGeom prst="roundRect">
            <a:avLst>
              <a:gd name="adj" fmla="val 12766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비교·저장</a:t>
            </a:r>
          </a:p>
        </p:txBody>
      </p:sp>
      <p:cxnSp>
        <p:nvCxnSpPr>
          <p:cNvPr id="34" name="직선 화살표 연결선 33"/>
          <p:cNvCxnSpPr>
            <a:stCxn id="6" idx="3"/>
            <a:endCxn id="7" idx="1"/>
          </p:cNvCxnSpPr>
          <p:nvPr/>
        </p:nvCxnSpPr>
        <p:spPr>
          <a:xfrm>
            <a:off x="2438400" y="254317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35" name="직선 화살표 연결선 34"/>
          <p:cNvCxnSpPr>
            <a:stCxn id="7" idx="3"/>
            <a:endCxn id="8" idx="1"/>
          </p:cNvCxnSpPr>
          <p:nvPr/>
        </p:nvCxnSpPr>
        <p:spPr>
          <a:xfrm>
            <a:off x="4724400" y="254317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36" name="직선 화살표 연결선 35"/>
          <p:cNvCxnSpPr>
            <a:stCxn id="8" idx="3"/>
            <a:endCxn id="9" idx="1"/>
          </p:cNvCxnSpPr>
          <p:nvPr/>
        </p:nvCxnSpPr>
        <p:spPr>
          <a:xfrm>
            <a:off x="7010400" y="254317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37" name="직선 화살표 연결선 36"/>
          <p:cNvCxnSpPr>
            <a:stCxn id="9" idx="3"/>
            <a:endCxn id="10" idx="1"/>
          </p:cNvCxnSpPr>
          <p:nvPr/>
        </p:nvCxnSpPr>
        <p:spPr>
          <a:xfrm>
            <a:off x="9296400" y="254317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B147B33-1228-4EE3-85ED-261131C71783}"/>
              </a:ext>
            </a:extLst>
          </p:cNvPr>
          <p:cNvSpPr>
            <a:spLocks noGrp="1"/>
          </p:cNvSpPr>
          <p:nvPr/>
        </p:nvSpPr>
        <p:spPr>
          <a:xfrm>
            <a:off x="628650" y="39243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1FDFBBC-366A-492E-B034-0CE7538E22D8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1905000" cy="723900"/>
          </a:xfrm>
          <a:prstGeom prst="roundRect">
            <a:avLst>
              <a:gd name="adj" fmla="val 15789"/>
            </a:avLst>
          </a:prstGeom>
          <a:solidFill>
            <a:srgbClr val="FFF0EC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 입력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9910972-B6A4-45E6-8827-5F6E85B139D8}"/>
              </a:ext>
            </a:extLst>
          </p:cNvPr>
          <p:cNvSpPr>
            <a:spLocks noGrp="1"/>
          </p:cNvSpPr>
          <p:nvPr/>
        </p:nvSpPr>
        <p:spPr>
          <a:xfrm>
            <a:off x="5105400" y="3829050"/>
            <a:ext cx="2095500" cy="723900"/>
          </a:xfrm>
          <a:prstGeom prst="roundRect">
            <a:avLst>
              <a:gd name="adj" fmla="val 15789"/>
            </a:avLst>
          </a:prstGeom>
          <a:solidFill>
            <a:srgbClr val="FFF7D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검출·224 전처리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EB4CE5C-8841-451B-B1B6-50182D653E81}"/>
              </a:ext>
            </a:extLst>
          </p:cNvPr>
          <p:cNvSpPr>
            <a:spLocks noGrp="1"/>
          </p:cNvSpPr>
          <p:nvPr/>
        </p:nvSpPr>
        <p:spPr>
          <a:xfrm>
            <a:off x="7677150" y="382905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E8F8F5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best.pt 추론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8CB3CAB-A392-42E5-9C1F-DBA4B2362EE6}"/>
              </a:ext>
            </a:extLst>
          </p:cNvPr>
          <p:cNvSpPr>
            <a:spLocks noGrp="1"/>
          </p:cNvSpPr>
          <p:nvPr/>
        </p:nvSpPr>
        <p:spPr>
          <a:xfrm>
            <a:off x="9867900" y="382905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 표시</a:t>
            </a:r>
          </a:p>
        </p:txBody>
      </p:sp>
      <p:cxnSp>
        <p:nvCxnSpPr>
          <p:cNvPr id="43" name="직선 화살표 연결선 42"/>
          <p:cNvCxnSpPr>
            <a:stCxn id="16" idx="3"/>
            <a:endCxn id="17" idx="1"/>
          </p:cNvCxnSpPr>
          <p:nvPr/>
        </p:nvCxnSpPr>
        <p:spPr>
          <a:xfrm>
            <a:off x="4629150" y="41910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44" name="직선 화살표 연결선 43"/>
          <p:cNvCxnSpPr>
            <a:stCxn id="17" idx="3"/>
            <a:endCxn id="18" idx="1"/>
          </p:cNvCxnSpPr>
          <p:nvPr/>
        </p:nvCxnSpPr>
        <p:spPr>
          <a:xfrm>
            <a:off x="7200900" y="41910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45" name="직선 화살표 연결선 44"/>
          <p:cNvCxnSpPr>
            <a:stCxn id="18" idx="3"/>
            <a:endCxn id="19" idx="1"/>
          </p:cNvCxnSpPr>
          <p:nvPr/>
        </p:nvCxnSpPr>
        <p:spPr>
          <a:xfrm>
            <a:off x="9391650" y="41910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332F34-5B57-4FC6-964F-2D308D67DA14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발표는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비교와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저장까지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다루며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뒤쪽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슬라이드는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프로그램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추가할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있게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 dirty="0" err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구성했다</a:t>
            </a:r>
            <a:r>
              <a:rPr sz="1725" b="0" i="0" dirty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804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29DBD7-D7D1-4A5C-A9F7-810EA6E6B73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규모와 클래스 균형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9256D3-9CD4-43D7-9FFF-ABF247C112BB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성공 기준 275,688장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863E982B-8A56-4654-98BD-2681FACA844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6B354D-F09C-4586-ADD4-D1D4197EE9A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DE2FDF-0520-4265-A6A1-305F643CC7F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8" name="Chart"/>
          <p:cNvGraphicFramePr/>
          <p:nvPr>
            <p:extLst>
              <p:ext uri="{D42A27DB-BD31-4B8C-83A1-F6EECF244321}">
                <p14:modId xmlns:p14="http://schemas.microsoft.com/office/powerpoint/2010/main" val="154772549"/>
              </p:ext>
            </p:extLst>
          </p:nvPr>
        </p:nvGraphicFramePr>
        <p:xfrm>
          <a:off x="609600" y="1619250"/>
          <a:ext cx="75247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A526025-02BF-4EC4-9292-01B2667C529E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223,570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DBDB13-E767-4200-AE6B-DA2CECF06D46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9444F8-A4A9-476E-9292-2EF922F66BF5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52,118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27152C-62FA-4541-8FE5-05C5DA4F9733}"/>
              </a:ext>
            </a:extLst>
          </p:cNvPr>
          <p:cNvSpPr>
            <a:spLocks noGrp="1"/>
          </p:cNvSpPr>
          <p:nvPr/>
        </p:nvSpPr>
        <p:spPr>
          <a:xfrm>
            <a:off x="8572500" y="40576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201500-0CB1-4FBA-9555-33AAA667F7DD}"/>
              </a:ext>
            </a:extLst>
          </p:cNvPr>
          <p:cNvSpPr>
            <a:spLocks noGrp="1"/>
          </p:cNvSpPr>
          <p:nvPr/>
        </p:nvSpPr>
        <p:spPr>
          <a:xfrm>
            <a:off x="8572500" y="495300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클래스</a:t>
            </a:r>
            <a:r>
              <a:rPr sz="1650" b="1" i="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i="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비율</a:t>
            </a:r>
            <a:r>
              <a:rPr sz="1650" b="1" i="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14.13~14.35%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CAA6C0-8EBF-494C-A1D0-C765AB67E309}"/>
              </a:ext>
            </a:extLst>
          </p:cNvPr>
          <p:cNvSpPr>
            <a:spLocks noGrp="1"/>
          </p:cNvSpPr>
          <p:nvPr/>
        </p:nvSpPr>
        <p:spPr>
          <a:xfrm>
            <a:off x="8572500" y="54102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오버샘플링 필요성 낮음</a:t>
            </a:r>
          </a:p>
        </p:txBody>
      </p:sp>
    </p:spTree>
    <p:extLst>
      <p:ext uri="{BB962C8B-B14F-4D97-AF65-F5344CB8AC3E}">
        <p14:creationId xmlns:p14="http://schemas.microsoft.com/office/powerpoint/2010/main" val="177805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A02D74-FD0E-44A4-AAB3-14222DFF8F4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EDA에서 확인한 데이터 특성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442A2E-86ED-49B1-85EC-7C74C57793D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균형적인 클래스와 별개로 일반화 위험이 존재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234A63E-AEEC-4BDB-9FA1-E90BCA51DD5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75341A-F506-4D9C-9EE5-617D3F24E3A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D6C382-CA08-49C3-B63B-8FCB3D87FD9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BADD82-5F6B-46FE-94F3-FB13E7BF09A4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84.70%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85B3FB-3382-424B-BF35-20CFC9D991B0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20·30대 비중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60DD8F-B910-48A5-9744-D9E618983DD3}"/>
              </a:ext>
            </a:extLst>
          </p:cNvPr>
          <p:cNvSpPr>
            <a:spLocks noGrp="1"/>
          </p:cNvSpPr>
          <p:nvPr/>
        </p:nvSpPr>
        <p:spPr>
          <a:xfrm>
            <a:off x="3562350" y="17335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55.31%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E41917-893C-4376-8FBF-70DBDE7DF483}"/>
              </a:ext>
            </a:extLst>
          </p:cNvPr>
          <p:cNvSpPr>
            <a:spLocks noGrp="1"/>
          </p:cNvSpPr>
          <p:nvPr/>
        </p:nvSpPr>
        <p:spPr>
          <a:xfrm>
            <a:off x="3562350" y="23622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여성 이미지 비중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1713AA-EFAC-44F6-853F-C3CA4082193F}"/>
              </a:ext>
            </a:extLst>
          </p:cNvPr>
          <p:cNvSpPr>
            <a:spLocks noGrp="1"/>
          </p:cNvSpPr>
          <p:nvPr/>
        </p:nvSpPr>
        <p:spPr>
          <a:xfrm>
            <a:off x="6419850" y="17335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rPr>
              <a:t>528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9DD058-CB44-4143-A199-A9EF975A86E9}"/>
              </a:ext>
            </a:extLst>
          </p:cNvPr>
          <p:cNvSpPr>
            <a:spLocks noGrp="1"/>
          </p:cNvSpPr>
          <p:nvPr/>
        </p:nvSpPr>
        <p:spPr>
          <a:xfrm>
            <a:off x="6419850" y="23622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분할 간 공통 식별자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05C31B-3FC1-4D88-B725-E523902411D3}"/>
              </a:ext>
            </a:extLst>
          </p:cNvPr>
          <p:cNvSpPr>
            <a:spLocks noGrp="1"/>
          </p:cNvSpPr>
          <p:nvPr/>
        </p:nvSpPr>
        <p:spPr>
          <a:xfrm>
            <a:off x="9277350" y="17335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127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5B8614-D243-4758-9D12-B3E5C319B9F6}"/>
              </a:ext>
            </a:extLst>
          </p:cNvPr>
          <p:cNvSpPr>
            <a:spLocks noGrp="1"/>
          </p:cNvSpPr>
          <p:nvPr/>
        </p:nvSpPr>
        <p:spPr>
          <a:xfrm>
            <a:off x="9277350" y="23622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Validation에만 있는 60대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4A0C70-9DF9-405C-8B13-A453DF04336A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EFBCAF-13B9-4996-AF39-414FB5E83CA8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10382250" cy="1619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클래스 수는 균형적이지만 연령 분포는 20·30대에 집중되어 있다.</a:t>
            </a:r>
          </a:p>
          <a:p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공통 식별자가 개인이나 촬영 세션을 뜻한다면 현재 성능이 높게 측정됐을 수 있다.</a:t>
            </a:r>
          </a:p>
          <a:p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제공 Validation 결과와 별도로 식별자 기반 group split 검증이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8315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6DB245-714C-4ADF-9E3F-805CF7428B0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D5274B-2384-4D72-AFA6-4A663C0B5418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표정 형태를 보존하면서 세 모델의 입력 규격을 통일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462598A-8319-4D78-918A-66042D40401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AD307A-CE44-4310-ACDD-124477361A6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0B08BC-5EEB-48A8-A20D-CCD90A28BE3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09600" y="1676400"/>
          <a:ext cx="10972800" cy="3905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크기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224×224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사전학습 모델 호환성과 계산량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 표정 축소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EXIF 픽셀 보정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옆·거꾸로 된 얼굴 방지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태그는 별도 확인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1채널 흑백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형태·명암 집중, 저장량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색상 정보 손실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종횡비 유지+패딩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얼굴 눌림과 늘어남 방지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검정 여백 발생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재저장 손실 없이 입력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크기 증가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331E27D-653F-471C-A001-8AA620B8F207}"/>
              </a:ext>
            </a:extLst>
          </p:cNvPr>
          <p:cNvSpPr>
            <a:spLocks noGrp="1"/>
          </p:cNvSpPr>
          <p:nvPr/>
        </p:nvSpPr>
        <p:spPr>
          <a:xfrm>
            <a:off x="628650" y="5810250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ImageNet 사전학습 모델 입력에서는 흑백 값을 RGB 세 채널에 동일하게 복제한다.</a:t>
            </a:r>
          </a:p>
        </p:txBody>
      </p:sp>
    </p:spTree>
    <p:extLst>
      <p:ext uri="{BB962C8B-B14F-4D97-AF65-F5344CB8AC3E}">
        <p14:creationId xmlns:p14="http://schemas.microsoft.com/office/powerpoint/2010/main" val="165610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A7F9B9-5053-46A9-B71F-B22786C9642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 변환 전후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3FC528-001C-4CAF-BB13-4E57046F7240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비율을 유지하고 검정 패딩으로 224×224 통일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D1A2A7B-C69A-4E7A-893B-8914BF98178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828ACE-5687-413A-B63D-01CDD537233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7772C-48B5-4E76-9198-3C628F98184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024ADA-E37D-4C2F-B692-22043551F362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" y="1981200"/>
            <a:ext cx="4572000" cy="3429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417DE9E-0A25-4095-B266-ADAABD66A4F1}"/>
              </a:ext>
            </a:extLst>
          </p:cNvPr>
          <p:cNvSpPr>
            <a:spLocks noGrp="1"/>
          </p:cNvSpPr>
          <p:nvPr/>
        </p:nvSpPr>
        <p:spPr>
          <a:xfrm>
            <a:off x="6629400" y="15621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PNG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15150" y="1981200"/>
            <a:ext cx="3429000" cy="3429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1A6ACDA-3E66-48EA-AE8E-BD3C376752C3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고해상도 RGB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55ABD2-52FA-4E75-960F-03BF41795FF7}"/>
              </a:ext>
            </a:extLst>
          </p:cNvPr>
          <p:cNvSpPr>
            <a:spLocks noGrp="1"/>
          </p:cNvSpPr>
          <p:nvPr/>
        </p:nvSpPr>
        <p:spPr>
          <a:xfrm>
            <a:off x="6629400" y="5619750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224×224 · 흑백 · 방향 보정</a:t>
            </a:r>
          </a:p>
        </p:txBody>
      </p:sp>
    </p:spTree>
    <p:extLst>
      <p:ext uri="{BB962C8B-B14F-4D97-AF65-F5344CB8AC3E}">
        <p14:creationId xmlns:p14="http://schemas.microsoft.com/office/powerpoint/2010/main" val="173646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9A6EB9-C8FC-4260-9FED-B01035C9398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56C209-9156-4D38-B76C-E0AEF10E87C1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중단 재실행과 오류 추적이 가능한 처리 구조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E06A48A-0800-462A-A251-DEA0D1856E4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0552C9-3A2D-4746-A62E-6857A2AD4AD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7D7903-F3FE-4CBF-8D03-481B080BA1A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F34967-0751-4E86-94AF-108A45521A32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2286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94593B-B61D-43A2-B120-326AA9C592D6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성공 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899BCC-1E74-4D42-ACB4-C410AB11ACF6}"/>
              </a:ext>
            </a:extLst>
          </p:cNvPr>
          <p:cNvSpPr>
            <a:spLocks noGrp="1"/>
          </p:cNvSpPr>
          <p:nvPr/>
        </p:nvSpPr>
        <p:spPr>
          <a:xfrm>
            <a:off x="3371850" y="169545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EB62C6-09AB-496B-92EB-657769EBD9C7}"/>
              </a:ext>
            </a:extLst>
          </p:cNvPr>
          <p:cNvSpPr>
            <a:spLocks noGrp="1"/>
          </p:cNvSpPr>
          <p:nvPr/>
        </p:nvSpPr>
        <p:spPr>
          <a:xfrm>
            <a:off x="3371850" y="2324100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7CE578-DFC2-45BA-B19F-6ABD9831764C}"/>
              </a:ext>
            </a:extLst>
          </p:cNvPr>
          <p:cNvSpPr>
            <a:spLocks noGrp="1"/>
          </p:cNvSpPr>
          <p:nvPr/>
        </p:nvSpPr>
        <p:spPr>
          <a:xfrm>
            <a:off x="5962650" y="1695450"/>
            <a:ext cx="2286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827,064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C6DBEB-59FF-44B4-BDA5-9080D431F639}"/>
              </a:ext>
            </a:extLst>
          </p:cNvPr>
          <p:cNvSpPr>
            <a:spLocks noGrp="1"/>
          </p:cNvSpPr>
          <p:nvPr/>
        </p:nvSpPr>
        <p:spPr>
          <a:xfrm>
            <a:off x="5962650" y="232410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변환 얼굴 박스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9E0539-3B2A-4255-8E8D-F02470E392D5}"/>
              </a:ext>
            </a:extLst>
          </p:cNvPr>
          <p:cNvSpPr>
            <a:spLocks noGrp="1"/>
          </p:cNvSpPr>
          <p:nvPr/>
        </p:nvSpPr>
        <p:spPr>
          <a:xfrm>
            <a:off x="8896350" y="16954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1:35:35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594180-AB34-412B-8D80-82DC495EBADC}"/>
              </a:ext>
            </a:extLst>
          </p:cNvPr>
          <p:cNvSpPr>
            <a:spLocks noGrp="1"/>
          </p:cNvSpPr>
          <p:nvPr/>
        </p:nvSpPr>
        <p:spPr>
          <a:xfrm>
            <a:off x="8896350" y="23241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전체 처리 시간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F6E24918-A80D-4084-A4D4-9FD89F4D46C4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5537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9EF933-54B8-4348-9861-5923FA1752C5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513.40 GiB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36B35D-BF81-44BD-BA0F-E8DDD1701530}"/>
              </a:ext>
            </a:extLst>
          </p:cNvPr>
          <p:cNvSpPr>
            <a:spLocks noGrp="1"/>
          </p:cNvSpPr>
          <p:nvPr/>
        </p:nvSpPr>
        <p:spPr>
          <a:xfrm>
            <a:off x="8286750" y="390525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12.85 GiB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C81A80-7A66-48F3-81A5-DE9101957F9A}"/>
              </a:ext>
            </a:extLst>
          </p:cNvPr>
          <p:cNvSpPr>
            <a:spLocks noGrp="1"/>
          </p:cNvSpPr>
          <p:nvPr/>
        </p:nvSpPr>
        <p:spPr>
          <a:xfrm>
            <a:off x="3333750" y="4191000"/>
            <a:ext cx="4762500" cy="0"/>
          </a:xfrm>
          <a:prstGeom prst="line">
            <a:avLst/>
          </a:prstGeom>
          <a:ln w="76200">
            <a:solidFill>
              <a:srgbClr val="258C6B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11D5F3-DAF4-48AE-8113-AC20A405FCDD}"/>
              </a:ext>
            </a:extLst>
          </p:cNvPr>
          <p:cNvSpPr>
            <a:spLocks noGrp="1"/>
          </p:cNvSpPr>
          <p:nvPr/>
        </p:nvSpPr>
        <p:spPr>
          <a:xfrm>
            <a:off x="3810000" y="45339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이미지 저장 용량 97.50% 감소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640374-746C-4DCD-9F6A-210895B6AA4D}"/>
              </a:ext>
            </a:extLst>
          </p:cNvPr>
          <p:cNvSpPr>
            <a:spLocks noGrp="1"/>
          </p:cNvSpPr>
          <p:nvPr/>
        </p:nvSpPr>
        <p:spPr>
          <a:xfrm>
            <a:off x="1219200" y="5219700"/>
            <a:ext cx="9810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완성된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PNG는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건너뛰어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재부팅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명령으로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이어서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처리한다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임시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파일을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완성한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이름으로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교체해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중단된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파일을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구별한다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실패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경로와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이유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split별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시간은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preprocessing_summary.json에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남긴다</a:t>
            </a:r>
            <a:r>
              <a:rPr sz="1500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487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EBFC5C-7067-49AC-AE7F-7AA8A49C692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환경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49B33D-34BC-465B-908E-684DB5E9293B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설치 확인보다 실제 CUDA 연산 검증을 우선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395A23-324A-47B7-94AB-971AF8A49DA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AA0BA0-6BA2-495A-B846-FE9B6F8443B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A04EE2-9081-4743-96D7-651502FE6AA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CC2C01-1F65-4A5F-8818-1BA1E261FE8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000250" cy="914400"/>
          </a:xfrm>
          <a:prstGeom prst="roundRect">
            <a:avLst>
              <a:gd name="adj" fmla="val 12500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nvidia-smi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GPU·드라이버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C8A842-90B3-42D3-812C-36278F57F7AB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2000250" cy="914400"/>
          </a:xfrm>
          <a:prstGeom prst="roundRect">
            <a:avLst>
              <a:gd name="adj" fmla="val 12500"/>
            </a:avLst>
          </a:prstGeom>
          <a:solidFill>
            <a:srgbClr val="FFF7D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Python 3.12.10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5FF0314-4530-4279-848A-456AC63EAA79}"/>
              </a:ext>
            </a:extLst>
          </p:cNvPr>
          <p:cNvSpPr>
            <a:spLocks noGrp="1"/>
          </p:cNvSpPr>
          <p:nvPr/>
        </p:nvSpPr>
        <p:spPr>
          <a:xfrm>
            <a:off x="5600700" y="1952625"/>
            <a:ext cx="2000250" cy="914400"/>
          </a:xfrm>
          <a:prstGeom prst="roundRect">
            <a:avLst>
              <a:gd name="adj" fmla="val 12500"/>
            </a:avLst>
          </a:prstGeom>
          <a:solidFill>
            <a:srgbClr val="FFF0EC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cu126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전용 wheel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ADFEF6-C3E1-4E9F-9561-5D82697DCB0F}"/>
              </a:ext>
            </a:extLst>
          </p:cNvPr>
          <p:cNvSpPr>
            <a:spLocks noGrp="1"/>
          </p:cNvSpPr>
          <p:nvPr/>
        </p:nvSpPr>
        <p:spPr>
          <a:xfrm>
            <a:off x="8058150" y="1952625"/>
            <a:ext cx="2000250" cy="914400"/>
          </a:xfrm>
          <a:prstGeom prst="roundRect">
            <a:avLst>
              <a:gd name="adj" fmla="val 12500"/>
            </a:avLst>
          </a:prstGeom>
          <a:solidFill>
            <a:srgbClr val="E8F8F5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행렬 연산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cxnSp>
        <p:nvCxnSpPr>
          <p:cNvPr id="25" name="직선 화살표 연결선 24"/>
          <p:cNvCxnSpPr>
            <a:stCxn id="6" idx="3"/>
            <a:endCxn id="7" idx="1"/>
          </p:cNvCxnSpPr>
          <p:nvPr/>
        </p:nvCxnSpPr>
        <p:spPr>
          <a:xfrm>
            <a:off x="2686050" y="240982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26" name="직선 화살표 연결선 25"/>
          <p:cNvCxnSpPr>
            <a:stCxn id="7" idx="3"/>
            <a:endCxn id="8" idx="1"/>
          </p:cNvCxnSpPr>
          <p:nvPr/>
        </p:nvCxnSpPr>
        <p:spPr>
          <a:xfrm>
            <a:off x="5143500" y="240982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27" name="직선 화살표 연결선 26"/>
          <p:cNvCxnSpPr>
            <a:stCxn id="8" idx="3"/>
            <a:endCxn id="9" idx="1"/>
          </p:cNvCxnSpPr>
          <p:nvPr/>
        </p:nvCxnSpPr>
        <p:spPr>
          <a:xfrm>
            <a:off x="7600950" y="2409825"/>
            <a:ext cx="4572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6229EC-A641-4770-BA7D-366CC236C542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TensorFlow 대신 PyTorch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8C82F4-29F1-4593-B75E-3F9EBE7E0DD6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382250" cy="1504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torchvision의 세 모델을 같은 API와 학습 코드로 비교할 수 있다.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체크포인트, Macro-F1, AMP와 중단 재개를 직접 관리했다.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사용 가능 시 모델과 배치를 자동으로 GPU에 이동한다.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888CE7-9CD2-48E4-A54E-CF5E11FEEFE9}"/>
              </a:ext>
            </a:extLst>
          </p:cNvPr>
          <p:cNvSpPr>
            <a:spLocks noGrp="1"/>
          </p:cNvSpPr>
          <p:nvPr/>
        </p:nvSpPr>
        <p:spPr>
          <a:xfrm>
            <a:off x="704850" y="59055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실험 GPU: NVIDIA GeForce RTX 4060</a:t>
            </a:r>
          </a:p>
        </p:txBody>
      </p:sp>
    </p:spTree>
    <p:extLst>
      <p:ext uri="{BB962C8B-B14F-4D97-AF65-F5344CB8AC3E}">
        <p14:creationId xmlns:p14="http://schemas.microsoft.com/office/powerpoint/2010/main" val="13527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B84B319-A1EB-4966-A4B4-C101A76D415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모델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02263B-4CB3-4287-954B-1D69A7F81E0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기준선, 경량성, 정확도 효율을 대표하는 구조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04B2106-BECE-4181-A4BE-173B0369FED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09EB79-31A6-4D47-9D44-A7A75BAF1BF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23C646-2636-4016-B885-B8F18252BC9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4" name="표 13"/>
          <p:cNvGraphicFramePr/>
          <p:nvPr/>
        </p:nvGraphicFramePr>
        <p:xfrm>
          <a:off x="609600" y="1733550"/>
          <a:ext cx="10972800" cy="3143252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구조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역할</a:t>
                      </a:r>
                    </a:p>
                  </a:txBody>
                  <a:tcPr>
                    <a:solidFill>
                      <a:srgbClr val="0B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Residual 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안정적이고 설명이 쉬움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CNN 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MobileNetV2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Depthwise conv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Inverted residual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파라미터와 연산량이 작음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후보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EfficientNet-B0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MBConv·SE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Compound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정확도와 효율의 균형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정확도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436692B-F16D-42A5-9742-1C4EB8DA02B6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데이터와 학습 설정으로 세 구조의 성능과 크기를 비교했다.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926C6-158D-447A-A278-D8D3DFC29340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모두 ImageNet 사전학습 가중치 사용</a:t>
            </a:r>
          </a:p>
        </p:txBody>
      </p:sp>
    </p:spTree>
    <p:extLst>
      <p:ext uri="{BB962C8B-B14F-4D97-AF65-F5344CB8AC3E}">
        <p14:creationId xmlns:p14="http://schemas.microsoft.com/office/powerpoint/2010/main" val="162274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A78F6F-95C4-4588-834F-C297F92664C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학습과 평가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8AF122-4CB8-46E5-91FD-9C0C0A427E2B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검증 Macro-F1을 기준으로 최고 가중치 저장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221BA7E0-9CDA-45B2-85CB-10C8836BA26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5763FC-15B2-448D-9E00-34A79D0A60F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8287B8-7FCC-4069-9494-DAB5BE8ADD5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A334CAA-8891-4EBD-984D-807A8363D0B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223,570장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E229C35-5C15-4949-A473-E9DA1BC8FB51}"/>
              </a:ext>
            </a:extLst>
          </p:cNvPr>
          <p:cNvSpPr>
            <a:spLocks noGrp="1"/>
          </p:cNvSpPr>
          <p:nvPr/>
        </p:nvSpPr>
        <p:spPr>
          <a:xfrm>
            <a:off x="2914650" y="2038350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약한</a:t>
            </a:r>
            <a:r>
              <a:rPr sz="1575" b="1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1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증강</a:t>
            </a:r>
            <a:endParaRPr sz="1575" b="1" dirty="0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</a:t>
            </a:r>
            <a:r>
              <a:rPr sz="1575" b="1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정규화</a:t>
            </a:r>
            <a:endParaRPr sz="1575" b="1" dirty="0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E6BDE3B-F664-4399-AAA5-21ACB9FBDB44}"/>
              </a:ext>
            </a:extLst>
          </p:cNvPr>
          <p:cNvSpPr>
            <a:spLocks noGrp="1"/>
          </p:cNvSpPr>
          <p:nvPr/>
        </p:nvSpPr>
        <p:spPr>
          <a:xfrm>
            <a:off x="5200650" y="2038350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FFF0EC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 err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AdamW·AMP</a:t>
            </a:r>
            <a:endParaRPr sz="1575" b="1" dirty="0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Cosine scheduler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C2C95F-F146-43FF-8734-4C4B7BFA8F8B}"/>
              </a:ext>
            </a:extLst>
          </p:cNvPr>
          <p:cNvSpPr>
            <a:spLocks noGrp="1"/>
          </p:cNvSpPr>
          <p:nvPr/>
        </p:nvSpPr>
        <p:spPr>
          <a:xfrm>
            <a:off x="7486650" y="2038350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52,118장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C6B50C9-0B49-4226-B56A-9EBFCAC8E9C8}"/>
              </a:ext>
            </a:extLst>
          </p:cNvPr>
          <p:cNvSpPr>
            <a:spLocks noGrp="1"/>
          </p:cNvSpPr>
          <p:nvPr/>
        </p:nvSpPr>
        <p:spPr>
          <a:xfrm>
            <a:off x="9772650" y="2038350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best.pt 저장</a:t>
            </a:r>
          </a:p>
        </p:txBody>
      </p:sp>
      <p:cxnSp>
        <p:nvCxnSpPr>
          <p:cNvPr id="27" name="직선 화살표 연결선 26"/>
          <p:cNvCxnSpPr>
            <a:stCxn id="6" idx="3"/>
            <a:endCxn id="7" idx="1"/>
          </p:cNvCxnSpPr>
          <p:nvPr/>
        </p:nvCxnSpPr>
        <p:spPr>
          <a:xfrm>
            <a:off x="2438400" y="25146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28" name="직선 화살표 연결선 27"/>
          <p:cNvCxnSpPr>
            <a:cxnSpLocks/>
            <a:stCxn id="7" idx="3"/>
            <a:endCxn id="8" idx="1"/>
          </p:cNvCxnSpPr>
          <p:nvPr/>
        </p:nvCxnSpPr>
        <p:spPr>
          <a:xfrm>
            <a:off x="4724400" y="25146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29" name="직선 화살표 연결선 28"/>
          <p:cNvCxnSpPr>
            <a:cxnSpLocks/>
            <a:stCxn id="8" idx="3"/>
            <a:endCxn id="9" idx="1"/>
          </p:cNvCxnSpPr>
          <p:nvPr/>
        </p:nvCxnSpPr>
        <p:spPr>
          <a:xfrm>
            <a:off x="7010400" y="25146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30" name="직선 화살표 연결선 29"/>
          <p:cNvCxnSpPr>
            <a:stCxn id="9" idx="3"/>
            <a:endCxn id="10" idx="1"/>
          </p:cNvCxnSpPr>
          <p:nvPr/>
        </p:nvCxnSpPr>
        <p:spPr>
          <a:xfrm>
            <a:off x="9296400" y="2514600"/>
            <a:ext cx="476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42E92D-40B4-4102-B14B-E8E12D8866E9}"/>
              </a:ext>
            </a:extLst>
          </p:cNvPr>
          <p:cNvSpPr>
            <a:spLocks noGrp="1"/>
          </p:cNvSpPr>
          <p:nvPr/>
        </p:nvSpPr>
        <p:spPr>
          <a:xfrm>
            <a:off x="647700" y="37528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공통 설정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746310-60B2-4AE3-96FE-A615D19E92A8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104775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최대 50 epoch, batch 32, learning rate 0.0003, seed 42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label smoothing 0.1과 weight decay 0.0001로 과적합 완화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검증 Macro-F1이 3회 연속 개선되지 않으면 조기 종료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epoch는 best.pt, 재개 상태는 last.pt에 분리 저장</a:t>
            </a:r>
          </a:p>
        </p:txBody>
      </p:sp>
    </p:spTree>
    <p:extLst>
      <p:ext uri="{BB962C8B-B14F-4D97-AF65-F5344CB8AC3E}">
        <p14:creationId xmlns:p14="http://schemas.microsoft.com/office/powerpoint/2010/main" val="131158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EB6577-5408-40A9-9BC3-445F137AB2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모델의 검증 성능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94A07A-BB10-478B-BF6D-90EBF3EEEFC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EfficientNet-B0가 Accuracy와 Macro-F1 모두 1위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BAD78F2-5C4D-4BC0-AF8D-DD50C55F4FD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613573-F5C2-4BE1-9AD4-E421EBAD934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36C769-3F4C-4BFA-92FF-5B1748112FC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704850" y="1619250"/>
          <a:ext cx="79057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F186A23-D41A-4357-AF27-4C8ED4BE629D}"/>
              </a:ext>
            </a:extLst>
          </p:cNvPr>
          <p:cNvSpPr>
            <a:spLocks noGrp="1"/>
          </p:cNvSpPr>
          <p:nvPr/>
        </p:nvSpPr>
        <p:spPr>
          <a:xfrm>
            <a:off x="9067800" y="2076450"/>
            <a:ext cx="20955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0.7400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FE4156-3721-4695-AFB9-52170BE0B199}"/>
              </a:ext>
            </a:extLst>
          </p:cNvPr>
          <p:cNvSpPr>
            <a:spLocks noGrp="1"/>
          </p:cNvSpPr>
          <p:nvPr/>
        </p:nvSpPr>
        <p:spPr>
          <a:xfrm>
            <a:off x="9067800" y="2705100"/>
            <a:ext cx="2095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E6C811-3C00-4ADD-9E1D-7785ED4F442B}"/>
              </a:ext>
            </a:extLst>
          </p:cNvPr>
          <p:cNvSpPr>
            <a:spLocks noGrp="1"/>
          </p:cNvSpPr>
          <p:nvPr/>
        </p:nvSpPr>
        <p:spPr>
          <a:xfrm>
            <a:off x="9067800" y="3562350"/>
            <a:ext cx="20955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0C30C9-8BFD-4FB6-ADA2-5A227AFF2729}"/>
              </a:ext>
            </a:extLst>
          </p:cNvPr>
          <p:cNvSpPr>
            <a:spLocks noGrp="1"/>
          </p:cNvSpPr>
          <p:nvPr/>
        </p:nvSpPr>
        <p:spPr>
          <a:xfrm>
            <a:off x="9067800" y="4191000"/>
            <a:ext cx="2095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D89FFD-772F-4DB2-A29C-6DE951C9A879}"/>
              </a:ext>
            </a:extLst>
          </p:cNvPr>
          <p:cNvSpPr>
            <a:spLocks noGrp="1"/>
          </p:cNvSpPr>
          <p:nvPr/>
        </p:nvSpPr>
        <p:spPr>
          <a:xfrm>
            <a:off x="9067800" y="5000625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EfficientNet-B0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DA393D-6976-4E6D-807E-05DA7CC703F1}"/>
              </a:ext>
            </a:extLst>
          </p:cNvPr>
          <p:cNvSpPr>
            <a:spLocks noGrp="1"/>
          </p:cNvSpPr>
          <p:nvPr/>
        </p:nvSpPr>
        <p:spPr>
          <a:xfrm>
            <a:off x="9067800" y="54292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best epoch 15</a:t>
            </a:r>
          </a:p>
        </p:txBody>
      </p:sp>
    </p:spTree>
    <p:extLst>
      <p:ext uri="{BB962C8B-B14F-4D97-AF65-F5344CB8AC3E}">
        <p14:creationId xmlns:p14="http://schemas.microsoft.com/office/powerpoint/2010/main" val="56862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ABF865-F395-4550-847C-386B42F261C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감정별 F1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3E51EE-7BCE-4871-A2CF-7B327D7A6873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기쁨·중립은 강하고 불안·상처는 공통 약점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CE2B66C-9199-49AB-940B-41952068217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D09E57-60D8-465E-ABE1-E7D0722840C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D98CBA-3A37-4E5A-B785-A5840FFDBED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647700" y="1600200"/>
          <a:ext cx="8477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B339676-9A8C-4B83-B913-54149E0D029E}"/>
              </a:ext>
            </a:extLst>
          </p:cNvPr>
          <p:cNvSpPr>
            <a:spLocks noGrp="1"/>
          </p:cNvSpPr>
          <p:nvPr/>
        </p:nvSpPr>
        <p:spPr>
          <a:xfrm>
            <a:off x="9525000" y="1943100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공통 약점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676474-8EF6-45F5-B6F6-02AD3B98B3B6}"/>
              </a:ext>
            </a:extLst>
          </p:cNvPr>
          <p:cNvSpPr>
            <a:spLocks noGrp="1"/>
          </p:cNvSpPr>
          <p:nvPr/>
        </p:nvSpPr>
        <p:spPr>
          <a:xfrm>
            <a:off x="9525000" y="253365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불안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B5B867-6E86-4330-976E-339BF66F900A}"/>
              </a:ext>
            </a:extLst>
          </p:cNvPr>
          <p:cNvSpPr>
            <a:spLocks noGrp="1"/>
          </p:cNvSpPr>
          <p:nvPr/>
        </p:nvSpPr>
        <p:spPr>
          <a:xfrm>
            <a:off x="9525000" y="297180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0.56~0.57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3880C7-1BD5-45D6-8DF0-B90C2C080C91}"/>
              </a:ext>
            </a:extLst>
          </p:cNvPr>
          <p:cNvSpPr>
            <a:spLocks noGrp="1"/>
          </p:cNvSpPr>
          <p:nvPr/>
        </p:nvSpPr>
        <p:spPr>
          <a:xfrm>
            <a:off x="9525000" y="369570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상처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027350-64D2-42B7-8F19-1B59B4ECCF36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0.50~0.54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AA5B61-9B55-4AED-82E7-B3C2F3E23E37}"/>
              </a:ext>
            </a:extLst>
          </p:cNvPr>
          <p:cNvSpPr>
            <a:spLocks noGrp="1"/>
          </p:cNvSpPr>
          <p:nvPr/>
        </p:nvSpPr>
        <p:spPr>
          <a:xfrm>
            <a:off x="9525000" y="4953000"/>
            <a:ext cx="1952625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향후 오분류 사례와 라벨 경계를 집중 분석</a:t>
            </a:r>
          </a:p>
        </p:txBody>
      </p:sp>
    </p:spTree>
    <p:extLst>
      <p:ext uri="{BB962C8B-B14F-4D97-AF65-F5344CB8AC3E}">
        <p14:creationId xmlns:p14="http://schemas.microsoft.com/office/powerpoint/2010/main" val="79853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5FBB835-6EE2-480E-B845-7998055E8A4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EfficientNet-B0 학습 분석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B80552-00E5-440A-B5C5-0B8D014EF832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best epoch 15 이후 검증 지표가 정체되어 epoch 18에서 종료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0FA11AB-247B-4CAD-95B8-BE969F49190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5AADEA-524A-4FCF-A4DD-38ED99DDE63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BEF87-EF9D-435E-A1B3-0A04151856C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69245"/>
            <a:ext cx="6858000" cy="419576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20000" y="1891433"/>
            <a:ext cx="3905250" cy="355138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064CAEA-A4A2-480B-BBCF-8F6FFE737F0F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학습 정확도는 계속 상승했지만 검증 성능은 약 0.74 부근에서 정체</a:t>
            </a:r>
          </a:p>
        </p:txBody>
      </p:sp>
    </p:spTree>
    <p:extLst>
      <p:ext uri="{BB962C8B-B14F-4D97-AF65-F5344CB8AC3E}">
        <p14:creationId xmlns:p14="http://schemas.microsoft.com/office/powerpoint/2010/main" val="16754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0B734E-3F52-44EA-858E-22A5AF4995E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최종 모델과 팀 전달 파일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F4A826-33B6-4AA1-8CE1-E2E805995D7B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웹캠 프로그램은 EfficientNet-B0 best.pt부터 적용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76DB4BB-46D6-4BD1-9A13-6C403F0685F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85E663-EA90-42B6-BDF5-E56B81BF07E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3B4686-D0F0-460D-8C01-1D674DA0EB2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73798E-7D87-4464-80DF-2A2FE7A22722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EfficientNet-B0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EF58CC-A7E1-405C-BA00-F5E3456F04AB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Accuracy 0.7400    Macro-F1 0.7357    Params 4.02M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0BA8CC-EFB3-448B-A140-0277E4AA4446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전달 경로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58FE6D-034E-41FC-8C45-BA465C0CB7B5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8667750" cy="876300"/>
          </a:xfrm>
          <a:prstGeom prst="roundRect">
            <a:avLst>
              <a:gd name="adj" fmla="val 13043"/>
            </a:avLst>
          </a:prstGeom>
          <a:solidFill>
            <a:srgbClr val="0B1526"/>
          </a:solidFill>
          <a:ln w="0">
            <a:noFill/>
          </a:ln>
        </p:spPr>
        <p:txBody>
          <a:bodyPr/>
          <a:lstStyle/>
          <a:p>
            <a:pPr algn="l"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models/GPU_efficientnet_b0_e50_p3_b32/</a:t>
            </a:r>
          </a:p>
          <a:p>
            <a:pPr algn="l"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efficientnet_b0/best.pt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522130-17C7-456F-AFA3-DA33F66BAB3F}"/>
              </a:ext>
            </a:extLst>
          </p:cNvPr>
          <p:cNvSpPr>
            <a:spLocks noGrp="1"/>
          </p:cNvSpPr>
          <p:nvPr/>
        </p:nvSpPr>
        <p:spPr>
          <a:xfrm>
            <a:off x="7524750" y="1790700"/>
            <a:ext cx="38100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이름과 가중치</a:t>
            </a:r>
          </a:p>
          <a:p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7개 클래스 순서</a:t>
            </a:r>
          </a:p>
          <a:p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입력 크기와 정규화 값</a:t>
            </a:r>
          </a:p>
          <a:p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검증 지표와 실행 환경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66CDC-2443-424B-B031-74AB60AC01ED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last.pt는 학습 재개용이며 최종 프로그램 전달 파일이 아니다.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7A4D66-4D12-4623-890E-8F5A0F809155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GitHub에서는 EfficientNet-B0 best.pt만 Git LFS로 공유</a:t>
            </a:r>
          </a:p>
        </p:txBody>
      </p:sp>
    </p:spTree>
    <p:extLst>
      <p:ext uri="{BB962C8B-B14F-4D97-AF65-F5344CB8AC3E}">
        <p14:creationId xmlns:p14="http://schemas.microsoft.com/office/powerpoint/2010/main" val="201998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7A7044-875B-405B-9468-5A5C1FC0998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결과의 한계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238EDC-C734-41BC-B0C8-E43EAC411549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배포 전 일반화와 실시간 성능을 추가 검증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F2C06E0-C9D8-4393-8842-A1F2DFB2E9A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6BF82A-2981-4155-B397-BC5FBFAA22B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B6C15C-98EF-4673-814B-C9329810BD3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B32EC8-0134-4BBF-ACA6-7F3FA2C636CA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확인된 한계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E2336F-A41E-473D-9590-B45CE8CEC3B3}"/>
              </a:ext>
            </a:extLst>
          </p:cNvPr>
          <p:cNvSpPr>
            <a:spLocks noGrp="1"/>
          </p:cNvSpPr>
          <p:nvPr/>
        </p:nvSpPr>
        <p:spPr>
          <a:xfrm>
            <a:off x="6534150" y="17335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추가 검증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8D82D4-3456-4C20-8FC0-3CF5C101159E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Training과 Validation의 동일 식별자 중복 가능성</a:t>
            </a:r>
          </a:p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20·30대에 집중된 연령 분포</a:t>
            </a:r>
          </a:p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 입력과 RGB 입력의 직접 비교 부재</a:t>
            </a:r>
          </a:p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MobileNetV2만 PyTorch 2.14, 나머지는 2.13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F0D364-E6AE-44DC-9A21-AFB3CCC0D511}"/>
              </a:ext>
            </a:extLst>
          </p:cNvPr>
          <p:cNvSpPr>
            <a:spLocks noGrp="1"/>
          </p:cNvSpPr>
          <p:nvPr/>
        </p:nvSpPr>
        <p:spPr>
          <a:xfrm>
            <a:off x="6515100" y="2381250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식별자 기반 group split 실험</a:t>
            </a:r>
          </a:p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새 인물과 다양한 조명에서 외부 검증</a:t>
            </a:r>
          </a:p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RGB ablation test</a:t>
            </a:r>
          </a:p>
          <a:p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동일 PyTorch lock에서 세 모델 재현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D34D44D8-AC29-4A97-9EC6-47DEC85D0E80}"/>
              </a:ext>
            </a:extLst>
          </p:cNvPr>
          <p:cNvSpPr>
            <a:spLocks noGrp="1"/>
          </p:cNvSpPr>
          <p:nvPr/>
        </p:nvSpPr>
        <p:spPr>
          <a:xfrm>
            <a:off x="5962650" y="1752600"/>
            <a:ext cx="0" cy="3409950"/>
          </a:xfrm>
          <a:prstGeom prst="line">
            <a:avLst/>
          </a:prstGeom>
          <a:ln w="19050">
            <a:solidFill>
              <a:srgbClr val="D9E0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6877F3-B2D7-4883-9BE7-AB618F8BE113}"/>
              </a:ext>
            </a:extLst>
          </p:cNvPr>
          <p:cNvSpPr>
            <a:spLocks noGrp="1"/>
          </p:cNvSpPr>
          <p:nvPr/>
        </p:nvSpPr>
        <p:spPr>
          <a:xfrm>
            <a:off x="876300" y="5381625"/>
            <a:ext cx="10382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현재 수치는 제공 Validation 기준이다. 완전히 새로운 사용자의 성능을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23390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0D5885-57A7-4213-A1F5-C2D9657D7E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 구조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A47B5E-1201-4926-9BBA-E7E076340DA4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모델 학습과 동일한 전처리를 실시간 프레임에도 적용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46FC623-6957-4C12-9971-8E2060639AC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DA1895-54BE-45A3-BD5C-E5A5EE94A22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D30565-27A9-407A-81A9-51C98F1155A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987A02-3568-42A6-9C98-AC2899698653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1619250" cy="819150"/>
          </a:xfrm>
          <a:prstGeom prst="roundRect">
            <a:avLst>
              <a:gd name="adj" fmla="val 13953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72A6B94-E2D2-43C6-A4BA-226311B63FB6}"/>
              </a:ext>
            </a:extLst>
          </p:cNvPr>
          <p:cNvSpPr>
            <a:spLocks noGrp="1"/>
          </p:cNvSpPr>
          <p:nvPr/>
        </p:nvSpPr>
        <p:spPr>
          <a:xfrm>
            <a:off x="2571750" y="20764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FF7D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ROI 자르기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31AC8B-BF6B-43F3-86F8-E73638CCC2AC}"/>
              </a:ext>
            </a:extLst>
          </p:cNvPr>
          <p:cNvSpPr>
            <a:spLocks noGrp="1"/>
          </p:cNvSpPr>
          <p:nvPr/>
        </p:nvSpPr>
        <p:spPr>
          <a:xfrm>
            <a:off x="4781550" y="2076450"/>
            <a:ext cx="2000250" cy="819150"/>
          </a:xfrm>
          <a:prstGeom prst="roundRect">
            <a:avLst>
              <a:gd name="adj" fmla="val 13953"/>
            </a:avLst>
          </a:prstGeom>
          <a:solidFill>
            <a:srgbClr val="FFF0EC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흑백·비율 유지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224×224 패딩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D3E1CE-8EC1-4BE4-8B50-476310FB62F7}"/>
              </a:ext>
            </a:extLst>
          </p:cNvPr>
          <p:cNvSpPr>
            <a:spLocks noGrp="1"/>
          </p:cNvSpPr>
          <p:nvPr/>
        </p:nvSpPr>
        <p:spPr>
          <a:xfrm>
            <a:off x="7181850" y="20764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8F8F5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EfficientNet-B0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best.pt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654BA85-C2F3-4A2F-8111-55B500E425A8}"/>
              </a:ext>
            </a:extLst>
          </p:cNvPr>
          <p:cNvSpPr>
            <a:spLocks noGrp="1"/>
          </p:cNvSpPr>
          <p:nvPr/>
        </p:nvSpPr>
        <p:spPr>
          <a:xfrm>
            <a:off x="9391650" y="20764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AF0FF"/>
          </a:solidFill>
          <a:ln w="9525">
            <a:solidFill>
              <a:srgbClr val="D9E0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</a:t>
            </a:r>
          </a:p>
          <a:p>
            <a:pPr algn="ctr"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화면 표시</a:t>
            </a:r>
          </a:p>
        </p:txBody>
      </p:sp>
      <p:cxnSp>
        <p:nvCxnSpPr>
          <p:cNvPr id="27" name="직선 화살표 연결선 26"/>
          <p:cNvCxnSpPr>
            <a:stCxn id="6" idx="3"/>
            <a:endCxn id="7" idx="1"/>
          </p:cNvCxnSpPr>
          <p:nvPr/>
        </p:nvCxnSpPr>
        <p:spPr>
          <a:xfrm>
            <a:off x="2171700" y="2486025"/>
            <a:ext cx="4000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28" name="직선 화살표 연결선 27"/>
          <p:cNvCxnSpPr>
            <a:stCxn id="7" idx="3"/>
            <a:endCxn id="8" idx="1"/>
          </p:cNvCxnSpPr>
          <p:nvPr/>
        </p:nvCxnSpPr>
        <p:spPr>
          <a:xfrm>
            <a:off x="4381500" y="2486025"/>
            <a:ext cx="4000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29" name="직선 화살표 연결선 28"/>
          <p:cNvCxnSpPr>
            <a:stCxn id="8" idx="3"/>
            <a:endCxn id="9" idx="1"/>
          </p:cNvCxnSpPr>
          <p:nvPr/>
        </p:nvCxnSpPr>
        <p:spPr>
          <a:xfrm>
            <a:off x="6781800" y="2486025"/>
            <a:ext cx="4000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30" name="직선 화살표 연결선 29"/>
          <p:cNvCxnSpPr>
            <a:stCxn id="9" idx="3"/>
            <a:endCxn id="10" idx="1"/>
          </p:cNvCxnSpPr>
          <p:nvPr/>
        </p:nvCxnSpPr>
        <p:spPr>
          <a:xfrm>
            <a:off x="8991600" y="2486025"/>
            <a:ext cx="4000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743750-09F0-4470-8D0C-F9ACBAFEF7AC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프로그램 구현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8934CB-8368-456A-85D6-20267580F8F2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체크포인트의 class_names 순서를 그대로 사용한다.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평균·표준편차와 RGB 채널 복제를 학습 코드와 동일하게 적용한다.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한 프레임의 흔들림을 줄이기 위해 최근 예측 평균 또는 임계값을 검토한다.</a:t>
            </a:r>
          </a:p>
          <a:p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정확도와 함께 FPS, 평균 지연 시간, GPU·CPU 사용량을 기록한다.</a:t>
            </a:r>
          </a:p>
        </p:txBody>
      </p:sp>
    </p:spTree>
    <p:extLst>
      <p:ext uri="{BB962C8B-B14F-4D97-AF65-F5344CB8AC3E}">
        <p14:creationId xmlns:p14="http://schemas.microsoft.com/office/powerpoint/2010/main" val="76893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F90BB8-A150-4EE4-9E33-C4752B2EF3D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 결과 추가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598B41-3811-4C64-8BCB-763C6162064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프로그램 구현 후 이 슬라이드의 회색 영역과 수치를 교체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5E5F972-2129-4523-931D-CCBF1BBFB68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B0EC52-72FF-48E4-9D15-1C9239283FF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CB404B-7159-425A-B0AE-B2793280E48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D7727D8-FCC9-48BF-AE1D-C879F9A72049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6762750" cy="3714750"/>
          </a:xfrm>
          <a:prstGeom prst="roundRect">
            <a:avLst>
              <a:gd name="adj" fmla="val 3590"/>
            </a:avLst>
          </a:prstGeom>
          <a:solidFill>
            <a:srgbClr val="E9EDF2"/>
          </a:solidFill>
          <a:ln w="19050">
            <a:solidFill>
              <a:srgbClr val="607086"/>
            </a:solidFill>
            <a:prstDash val="dash"/>
          </a:ln>
        </p:spPr>
        <p:txBody>
          <a:bodyPr/>
          <a:lstStyle/>
          <a:p>
            <a:pPr algn="ctr"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웹캠 실행 화면 캡처</a:t>
            </a:r>
          </a:p>
          <a:p>
            <a:endParaRPr sz="1950" b="1">
              <a:solidFill>
                <a:srgbClr val="607086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감정명과 확률 표시가 보이는 장면으로 교체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FF937-CBC7-4268-947D-7AADF4CB7E4F}"/>
              </a:ext>
            </a:extLst>
          </p:cNvPr>
          <p:cNvSpPr>
            <a:spLocks noGrp="1"/>
          </p:cNvSpPr>
          <p:nvPr/>
        </p:nvSpPr>
        <p:spPr>
          <a:xfrm>
            <a:off x="7905750" y="17145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기록할 지표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E27A28-A2F8-481D-9BD7-3CFC244AE1F1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7C6538-A7BD-4A55-8DEA-3892B8B90FE1}"/>
              </a:ext>
            </a:extLst>
          </p:cNvPr>
          <p:cNvSpPr>
            <a:spLocks noGrp="1"/>
          </p:cNvSpPr>
          <p:nvPr/>
        </p:nvSpPr>
        <p:spPr>
          <a:xfrm>
            <a:off x="7905750" y="28956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평균 FPS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14413C-087A-4363-B60A-BFDEB28EFD61}"/>
              </a:ext>
            </a:extLst>
          </p:cNvPr>
          <p:cNvSpPr>
            <a:spLocks noGrp="1"/>
          </p:cNvSpPr>
          <p:nvPr/>
        </p:nvSpPr>
        <p:spPr>
          <a:xfrm>
            <a:off x="7905750" y="348615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540788-F77C-4123-A380-B7CEBFFAE91F}"/>
              </a:ext>
            </a:extLst>
          </p:cNvPr>
          <p:cNvSpPr>
            <a:spLocks noGrp="1"/>
          </p:cNvSpPr>
          <p:nvPr/>
        </p:nvSpPr>
        <p:spPr>
          <a:xfrm>
            <a:off x="7905750" y="41148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프레임당 지연 시간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58B884-60D7-4EA7-AD59-5F2ADD327EB5}"/>
              </a:ext>
            </a:extLst>
          </p:cNvPr>
          <p:cNvSpPr>
            <a:spLocks noGrp="1"/>
          </p:cNvSpPr>
          <p:nvPr/>
        </p:nvSpPr>
        <p:spPr>
          <a:xfrm>
            <a:off x="7905750" y="4705350"/>
            <a:ext cx="31432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B10C42-1E93-448F-A214-83E394505338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CPU 또는 GPU 사용량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2BB2DF-400B-4080-9E9C-1EB8F841AD5A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권장: EfficientNet-B0와 MobileNetV2의 정확도·FPS</a:t>
            </a:r>
          </a:p>
        </p:txBody>
      </p:sp>
    </p:spTree>
    <p:extLst>
      <p:ext uri="{BB962C8B-B14F-4D97-AF65-F5344CB8AC3E}">
        <p14:creationId xmlns:p14="http://schemas.microsoft.com/office/powerpoint/2010/main" val="17348714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1819</Words>
  <Application>Microsoft Office PowerPoint</Application>
  <DocSecurity>0</DocSecurity>
  <PresentationFormat>와이드스크린</PresentationFormat>
  <Paragraphs>313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7</cp:revision>
  <dcterms:created xsi:type="dcterms:W3CDTF">2026-09-14T05:35:31Z</dcterms:created>
  <dcterms:modified xsi:type="dcterms:W3CDTF">2026-09-14T07:35:25Z</dcterms:modified>
</cp:coreProperties>
</file>