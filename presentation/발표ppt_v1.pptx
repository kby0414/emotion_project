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211d60befa4bb6" /><Relationship Type="http://schemas.openxmlformats.org/officeDocument/2006/relationships/extended-properties" Target="/docProps/app.xml" Id="Rc1bc0710c9584a18" /><Relationship Type="http://schemas.openxmlformats.org/officeDocument/2006/relationships/officeDocument" Target="/ppt/presentation.xml" Id="R290e3c239ed347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1c22ed1d974699"/>
  </p:sldMasterIdLst>
  <p:notesMasterIdLst>
    <p:notesMasterId xmlns:r="http://schemas.openxmlformats.org/officeDocument/2006/relationships" r:id="Rb8f3ebc31a264997"/>
  </p:notesMasterIdLst>
  <p:sldIdLst>
    <p:sldId xmlns:r="http://schemas.openxmlformats.org/officeDocument/2006/relationships" id="256" r:id="R8921b806dfe74a1a"/>
    <p:sldId xmlns:r="http://schemas.openxmlformats.org/officeDocument/2006/relationships" id="257" r:id="R22d9314bf1f14104"/>
    <p:sldId xmlns:r="http://schemas.openxmlformats.org/officeDocument/2006/relationships" id="258" r:id="R54965d92114a40fe"/>
    <p:sldId xmlns:r="http://schemas.openxmlformats.org/officeDocument/2006/relationships" id="259" r:id="Rda079b11a152449b"/>
    <p:sldId xmlns:r="http://schemas.openxmlformats.org/officeDocument/2006/relationships" id="260" r:id="Re9b68df296704590"/>
    <p:sldId xmlns:r="http://schemas.openxmlformats.org/officeDocument/2006/relationships" id="261" r:id="Rb649155fe20e4604"/>
    <p:sldId xmlns:r="http://schemas.openxmlformats.org/officeDocument/2006/relationships" id="262" r:id="R03ee499c481044fd"/>
    <p:sldId xmlns:r="http://schemas.openxmlformats.org/officeDocument/2006/relationships" id="263" r:id="Rdba0cce03ac94cde"/>
    <p:sldId xmlns:r="http://schemas.openxmlformats.org/officeDocument/2006/relationships" id="264" r:id="R893c818068744eb3"/>
    <p:sldId xmlns:r="http://schemas.openxmlformats.org/officeDocument/2006/relationships" id="265" r:id="Rf9cda4d2070347ec"/>
    <p:sldId xmlns:r="http://schemas.openxmlformats.org/officeDocument/2006/relationships" id="266" r:id="R40e3729af91a485d"/>
    <p:sldId xmlns:r="http://schemas.openxmlformats.org/officeDocument/2006/relationships" id="267" r:id="R41b2cc233d0041ac"/>
    <p:sldId xmlns:r="http://schemas.openxmlformats.org/officeDocument/2006/relationships" id="268" r:id="R03853b92ff0743b3"/>
    <p:sldId xmlns:r="http://schemas.openxmlformats.org/officeDocument/2006/relationships" id="269" r:id="R6ee0cbf7b1b74f92"/>
    <p:sldId xmlns:r="http://schemas.openxmlformats.org/officeDocument/2006/relationships" id="270" r:id="R00023643e895478d"/>
    <p:sldId xmlns:r="http://schemas.openxmlformats.org/officeDocument/2006/relationships" id="271" r:id="R99868cc77a2c4894"/>
    <p:sldId xmlns:r="http://schemas.openxmlformats.org/officeDocument/2006/relationships" id="272" r:id="R52e52436690a44de"/>
    <p:sldId xmlns:r="http://schemas.openxmlformats.org/officeDocument/2006/relationships" id="273" r:id="R93816974f60241ed"/>
    <p:sldId xmlns:r="http://schemas.openxmlformats.org/officeDocument/2006/relationships" id="274" r:id="Re9a6e54f018345a8"/>
    <p:sldId xmlns:r="http://schemas.openxmlformats.org/officeDocument/2006/relationships" id="275" r:id="Rc56fec8f11964d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4ddeac41d44b1c" /><Relationship Type="http://schemas.openxmlformats.org/officeDocument/2006/relationships/slideMaster" Target="/ppt/slideMasters/slideMaster1.xml" Id="R151c22ed1d974699" /><Relationship Type="http://schemas.openxmlformats.org/officeDocument/2006/relationships/notesMaster" Target="/ppt/notesMasters/notesMaster1.xml" Id="Rb8f3ebc31a264997" /><Relationship Type="http://schemas.openxmlformats.org/officeDocument/2006/relationships/presProps" Target="/ppt/presProps.xml" Id="R6c755680564f439a" /><Relationship Type="http://schemas.openxmlformats.org/officeDocument/2006/relationships/viewProps" Target="/ppt/viewProps.xml" Id="R2be95730237e4374" /><Relationship Type="http://schemas.openxmlformats.org/officeDocument/2006/relationships/tableStyles" Target="/ppt/tableStyles.xml" Id="R41f5551299f74546" /><Relationship Type="http://schemas.openxmlformats.org/officeDocument/2006/relationships/slide" Target="/ppt/slides/slide1.xml" Id="R8921b806dfe74a1a" /><Relationship Type="http://schemas.openxmlformats.org/officeDocument/2006/relationships/slide" Target="/ppt/slides/slide2.xml" Id="R22d9314bf1f14104" /><Relationship Type="http://schemas.openxmlformats.org/officeDocument/2006/relationships/slide" Target="/ppt/slides/slide3.xml" Id="R54965d92114a40fe" /><Relationship Type="http://schemas.openxmlformats.org/officeDocument/2006/relationships/slide" Target="/ppt/slides/slide4.xml" Id="Rda079b11a152449b" /><Relationship Type="http://schemas.openxmlformats.org/officeDocument/2006/relationships/slide" Target="/ppt/slides/slide5.xml" Id="Re9b68df296704590" /><Relationship Type="http://schemas.openxmlformats.org/officeDocument/2006/relationships/slide" Target="/ppt/slides/slide6.xml" Id="Rb649155fe20e4604" /><Relationship Type="http://schemas.openxmlformats.org/officeDocument/2006/relationships/slide" Target="/ppt/slides/slide7.xml" Id="R03ee499c481044fd" /><Relationship Type="http://schemas.openxmlformats.org/officeDocument/2006/relationships/slide" Target="/ppt/slides/slide8.xml" Id="Rdba0cce03ac94cde" /><Relationship Type="http://schemas.openxmlformats.org/officeDocument/2006/relationships/slide" Target="/ppt/slides/slide9.xml" Id="R893c818068744eb3" /><Relationship Type="http://schemas.openxmlformats.org/officeDocument/2006/relationships/slide" Target="/ppt/slides/slide10.xml" Id="Rf9cda4d2070347ec" /><Relationship Type="http://schemas.openxmlformats.org/officeDocument/2006/relationships/slide" Target="/ppt/slides/slide11.xml" Id="R40e3729af91a485d" /><Relationship Type="http://schemas.openxmlformats.org/officeDocument/2006/relationships/slide" Target="/ppt/slides/slide12.xml" Id="R41b2cc233d0041ac" /><Relationship Type="http://schemas.openxmlformats.org/officeDocument/2006/relationships/slide" Target="/ppt/slides/slide13.xml" Id="R03853b92ff0743b3" /><Relationship Type="http://schemas.openxmlformats.org/officeDocument/2006/relationships/slide" Target="/ppt/slides/slide14.xml" Id="R6ee0cbf7b1b74f92" /><Relationship Type="http://schemas.openxmlformats.org/officeDocument/2006/relationships/slide" Target="/ppt/slides/slide15.xml" Id="R00023643e895478d" /><Relationship Type="http://schemas.openxmlformats.org/officeDocument/2006/relationships/slide" Target="/ppt/slides/slide16.xml" Id="R99868cc77a2c4894" /><Relationship Type="http://schemas.openxmlformats.org/officeDocument/2006/relationships/slide" Target="/ppt/slides/slide17.xml" Id="R52e52436690a44de" /><Relationship Type="http://schemas.openxmlformats.org/officeDocument/2006/relationships/slide" Target="/ppt/slides/slide18.xml" Id="R93816974f60241ed" /><Relationship Type="http://schemas.openxmlformats.org/officeDocument/2006/relationships/slide" Target="/ppt/slides/slide19.xml" Id="Re9a6e54f018345a8" /><Relationship Type="http://schemas.openxmlformats.org/officeDocument/2006/relationships/slide" Target="/ppt/slides/slide20.xml" Id="Rc56fec8f11964d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00631dd36a49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bad4af76f241e7" /><Relationship Type="http://schemas.openxmlformats.org/officeDocument/2006/relationships/notesMaster" Target="/ppt/notesMasters/notesMaster1.xml" Id="Rfc542628a12648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4876f2940a4874" /><Relationship Type="http://schemas.openxmlformats.org/officeDocument/2006/relationships/notesMaster" Target="/ppt/notesMasters/notesMaster1.xml" Id="R2a1275e9efe14c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302a88ac73490e" /><Relationship Type="http://schemas.openxmlformats.org/officeDocument/2006/relationships/notesMaster" Target="/ppt/notesMasters/notesMaster1.xml" Id="R6c0bc92387c648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f9732afcf14dae" /><Relationship Type="http://schemas.openxmlformats.org/officeDocument/2006/relationships/notesMaster" Target="/ppt/notesMasters/notesMaster1.xml" Id="R9ef33aca812444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455317eb1c4662" /><Relationship Type="http://schemas.openxmlformats.org/officeDocument/2006/relationships/notesMaster" Target="/ppt/notesMasters/notesMaster1.xml" Id="Rc0f16d0b37674b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f947a169094c2e" /><Relationship Type="http://schemas.openxmlformats.org/officeDocument/2006/relationships/notesMaster" Target="/ppt/notesMasters/notesMaster1.xml" Id="R6afae2c9388b44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e34e5a42944f24" /><Relationship Type="http://schemas.openxmlformats.org/officeDocument/2006/relationships/notesMaster" Target="/ppt/notesMasters/notesMaster1.xml" Id="Rf3338a3cc12e4e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803014104f4a48" /><Relationship Type="http://schemas.openxmlformats.org/officeDocument/2006/relationships/notesMaster" Target="/ppt/notesMasters/notesMaster1.xml" Id="R194684d0880342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9257678afb461e" /><Relationship Type="http://schemas.openxmlformats.org/officeDocument/2006/relationships/notesMaster" Target="/ppt/notesMasters/notesMaster1.xml" Id="Rac772883c4f04e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2ae108d85445ae" /><Relationship Type="http://schemas.openxmlformats.org/officeDocument/2006/relationships/notesMaster" Target="/ppt/notesMasters/notesMaster1.xml" Id="Ra585e3c9805a41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a45715f7de4900" /><Relationship Type="http://schemas.openxmlformats.org/officeDocument/2006/relationships/notesMaster" Target="/ppt/notesMasters/notesMaster1.xml" Id="R48e35dfbc0614e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81517d90a24f93" /><Relationship Type="http://schemas.openxmlformats.org/officeDocument/2006/relationships/notesMaster" Target="/ppt/notesMasters/notesMaster1.xml" Id="R81cf4c0f5b7544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8c8bc574eb4c76" /><Relationship Type="http://schemas.openxmlformats.org/officeDocument/2006/relationships/notesMaster" Target="/ppt/notesMasters/notesMaster1.xml" Id="R125fc7ebca2c43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7130f241d642ff" /><Relationship Type="http://schemas.openxmlformats.org/officeDocument/2006/relationships/notesMaster" Target="/ppt/notesMasters/notesMaster1.xml" Id="Re96a91c84da84b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7e3c16d9b9449f" /><Relationship Type="http://schemas.openxmlformats.org/officeDocument/2006/relationships/notesMaster" Target="/ppt/notesMasters/notesMaster1.xml" Id="R03cd6ebd4f8d47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4ddace55894ca3" /><Relationship Type="http://schemas.openxmlformats.org/officeDocument/2006/relationships/notesMaster" Target="/ppt/notesMasters/notesMaster1.xml" Id="Ra7bfefda6bb144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e4c15922e142f8" /><Relationship Type="http://schemas.openxmlformats.org/officeDocument/2006/relationships/notesMaster" Target="/ppt/notesMasters/notesMaster1.xml" Id="R656eb8a76f6444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f567a21e404d25" /><Relationship Type="http://schemas.openxmlformats.org/officeDocument/2006/relationships/notesMaster" Target="/ppt/notesMasters/notesMaster1.xml" Id="R319e937fbbb845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be1085fc534d1d" /><Relationship Type="http://schemas.openxmlformats.org/officeDocument/2006/relationships/notesMaster" Target="/ppt/notesMasters/notesMaster1.xml" Id="R45d39756c6cf46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73bf9a06af475f" /><Relationship Type="http://schemas.openxmlformats.org/officeDocument/2006/relationships/notesMaster" Target="/ppt/notesMasters/notesMaster1.xml" Id="R2adc91705df24b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팀명 ‘김정오’는 김범영, 정준영, 오석의 이름에서 한 글자씩 따서 만들었습니다. 조선의 지리학자 김정호를 떠올리게 해 기억하기 쉽다는 점도 고려했습니다.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발표에서는 데이터 범위 결정과 품질 점검, 전처리 설계와 결과, PyTorch GPU 환경, 세 모델의 구조와 검증 결과를 순서대로 설명합니다. 마지막에는 체크포인트 전달과 OpenCV 웹캠 프로그램 적용 방향을 말씀드립니다.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오석 팀원은 OpenCV 기반 웹캠 실시간 프로그램 구현을 맡았습니다. 정준영 팀원은 주제 선정, 데이터셋 조사와 수집, 전처리를 진행했습니다. 김범영 팀원은 전처리 보조, 비교 모델 선정, PPT 제작과 발표를 맡았습니다.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시간과 연산 자원을 고려해 감정별 Training 4개 파트 중 2개만 사용했습니다. 전체 파트를 받은 뒤 70~80%를 무작위 삭제하는 방법보다 추가 선별 작업이 적고 범위가 명확한 방법을 선택했습니다. EfficientNet-B0가 현재 Validation 수치는 가장 높지만 단일 최종 모델로 고정하지 않습니다.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docs/01_project_overview.md | dataset/processed/preprocessing_summary.json | results/comparisons/all_three_models/comparison_table.csv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완료된 연구 단계와 예정된 프로그램 단계를 분리해서 설명합니다. 프로그램을 구현하면 뒤쪽 슬라이드만 갱신해도 전체 발표 흐름을 유지할 수 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docs/01_project_overview.md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가장 많은 분노와 가장 적은 상처의 차이는 620장입니다. 데이터 수만 보면 클래스 불균형이 매우 작습니다.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results/preprocessing_eda_report.md, 4.1 클래스 분포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라벨 193,589건에 대응 JPG가 없는 이유는 시간 제약에 따라 감정별 4개 파트 중 2개만 사용했기 때문입니다. 전처리 실패가 아닙니다. 한 사람이 여러 장의 유사한 이미지를 제공하므로, 공통 식별자 528개가 동일 인물이나 촬영 세션을 뜻한다면 현재 Validation 성능이 높게 측정됐을 수 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results/preprocessing_eda_report.md, 3장과 4.4장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244가 아니라 224를 선택한 이유, 강제 resize 대신 패딩한 이유, 흑백 선택의 장단점을 질문받을 수 있습니다. 표의 이유와 한계를 함께 설명합니다.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results/preprocessing_eda_report.md, 6. 전처리 설계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전처리된 이미지는 정사각형이지만 얼굴 비율은 유지됩니다. 남는 영역만 검정색으로 채웠습니다. 이 이미지는 프로젝트 Validation 데이터의 예시입니다.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사용자가 제공한 Validation 원본 | dataset/processed/images/Validation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손상 파일은 한글 경로 문제가 아니라 JPEG 스트림 손상이었습니다. 전체의 0.0058%로 매우 적어 복원하지 않고 제외했습니다.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dataset/processed/preprocessing_summary.json | results/preprocessing_eda_report.md, 5 및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nvidia-smi는 드라이버가 지원하는 CUDA를 보여줍니다. 실제 PyTorch 런타임은 torch.version.cuda로 확인하고 행렬 곱셈까지 실행했습니다.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scripts/setup_cuda126.ps1 | src/check_environment.py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ResNet18은 안정적인 기준선이며 파라미터 수는 11.18M입니다. MobileNetV2는 2.23M으로 가장 작아 경량성을 대표합니다. EfficientNet-B0는 4.02M이며 현재 Validation에서 가장 높은 Accuracy와 Macro-F1을 기록했습니다. 파라미터 수는 저장된 학습 결과의 실제 모델 기준입니다.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근거: results/comparisons/all_three_models/comparison_table.csv | results/experiments/*/run_summary.json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epoch는 최대값입니다. 실제 세 모델은 18~21 epoch에서 조기 종료됐고 최고 성능 시점은 best.pt로 보관했습니다.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src/train_models.py | results/experiments/*/run_summary.json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EfficientNet-B0가 현재 Validation의 Accuracy와 Macro-F1에서 가장 높았지만 세 모델의 차이는 크지 않습니다. 이 순위는 비교 결과로 제시하고, 프로그램에서는 세 모델을 모두 선택하거나 비교할 수 있게 구성합니다.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results/comparisons/all_three_models/comparison_table.csv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기쁨과 중립은 잘 구분되지만 불안과 상처는 세 모델 모두 어렵습니다. 모델 구조보다 데이터의 감정 경계와 표정 유사성이 영향을 줬을 가능성이 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results/experiments/*/run_summary.json | results/comparisons/all_three_models/per_class_f1.png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모델 중 EfficientNet-B0의 학습 결과를 분석 예시로 보여 줍니다. 학습과 검증의 간격, 조기 종료 시점, 상처 감정의 혼동 경향을 확인합니다. 이 슬라이드는 단일 최종 모델 선정을 뜻하지 않습니다.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results/comparisons/all_three_models/training_curves_GPU_efficientnet_b0_e50_p3_b32_efficientnet_b0.png | results/comparisons/all_three_models/confusion_matrix_GPU_efficientnet_b0_e50_p3_b32_efficientnet_b0.png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프로그램 담당자에게 ResNet18, MobileNetV2, EfficientNet-B0의 best.pt를 모두 전달합니다. 각 체크포인트의 model_name, class_names, image_size와 normalization을 읽어 같은 로더에서 모델별로 적용합니다.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README.md | models/GPU_resnet18_e50_p3_b32/resnet18/best.pt | models/GPU_mobilenet_v2_e50_p3_b32/mobilenet_v2/best.pt | models/GPU_efficientnet_b0_e50_p3_b32/efficientnet_b0/best.pt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결과는 시간 제약에 따라 선택한 Training 2개 파트와 제공 Validation을 기준으로 합니다. 같은 인물의 이미지가 두 분할에 포함되면 모델이 인물 특징을 이용해 정확도가 높게 측정될 수 있습니다. 다음 실험에서는 같은 인물이나 촬영 세션을 한 분할에만 배치하는 group split을 적용합니다.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docs/03_eda_and_preprocessing.md | docs/05_evaluation_and_visualization.md | results/preprocessing_eda_report.md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번의 전처리 결과를 선택한 모델 또는 세 모델에 전달합니다. 일반 모드는 실시간 속도를 위해 한 모델만 실행하고, 비교 모드는 같은 얼굴 ROI에 세 모델을 적용해 예측과 속도를 함께 표시합니다.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README.md | src/train_models.py | 세 모델의 best.pt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프로그램 구현 후 회색 영역을 세 모델 선택 UI와 실제 웹캠 화면으로 교체합니다. 오른쪽에는 ResNet18, MobileNetV2, EfficientNet-B0의 FPS와 지연 시간을 각각 입력합니다. 특정 모델을 최종 배포 모델로 고르는 결론은 넣지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d723a569a43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61c22a3a3b43a4" /><Relationship Type="http://schemas.openxmlformats.org/officeDocument/2006/relationships/slideLayout" Target="/ppt/slideLayouts/slideLayout1.xml" Id="Rb86f5dd933a14f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6f5dd933a14f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6b7b1b6b948d3" /><Relationship Type="http://schemas.openxmlformats.org/officeDocument/2006/relationships/notesSlide" Target="/ppt/notesSlides/notesSlide1.xml" Id="R9d7e17bc7c4c4f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eac38542c4373" /><Relationship Type="http://schemas.openxmlformats.org/officeDocument/2006/relationships/notesSlide" Target="/ppt/notesSlides/notesSlide2.xml" Id="R7f116cdf6a344b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c4bbdcf544dba" /><Relationship Type="http://schemas.openxmlformats.org/officeDocument/2006/relationships/notesSlide" Target="/ppt/notesSlides/notesSlide3.xml" Id="Rf95fbd88ca9145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81f13e8194bcf" /><Relationship Type="http://schemas.openxmlformats.org/officeDocument/2006/relationships/notesSlide" Target="/ppt/notesSlides/notesSlide4.xml" Id="R657634a1092744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c6f69578f418c" /><Relationship Type="http://schemas.openxmlformats.org/officeDocument/2006/relationships/notesSlide" Target="/ppt/notesSlides/notesSlide5.xml" Id="R8da19e2a02044f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418cd96d4403d" /><Relationship Type="http://schemas.openxmlformats.org/officeDocument/2006/relationships/chart" Target="/ppt/slides/charts/chart1.xml" Id="R028cbbd3e5084faa" /><Relationship Type="http://schemas.openxmlformats.org/officeDocument/2006/relationships/notesSlide" Target="/ppt/notesSlides/notesSlide6.xml" Id="Rde3d1b22a8c447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f0b2188e84a33" /><Relationship Type="http://schemas.openxmlformats.org/officeDocument/2006/relationships/notesSlide" Target="/ppt/notesSlides/notesSlide7.xml" Id="R3f9fed485d6347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21b3573c342c8" /><Relationship Type="http://schemas.openxmlformats.org/officeDocument/2006/relationships/notesSlide" Target="/ppt/notesSlides/notesSlide8.xml" Id="Rca66129ca39749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3e75dccff459e" /><Relationship Type="http://schemas.openxmlformats.org/officeDocument/2006/relationships/image" Target="/ppt/media/image.jpeg" Id="Rb270b4aab7da4600" /><Relationship Type="http://schemas.openxmlformats.org/officeDocument/2006/relationships/image" Target="/ppt/media/image.png" Id="Rc74e9bd753094194" /><Relationship Type="http://schemas.openxmlformats.org/officeDocument/2006/relationships/notesSlide" Target="/ppt/notesSlides/notesSlide9.xml" Id="Ra7cc1effe1a449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d9391568e4023" /><Relationship Type="http://schemas.openxmlformats.org/officeDocument/2006/relationships/notesSlide" Target="/ppt/notesSlides/notesSlide10.xml" Id="Rce19adb409fe4d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c32021e934c95" /><Relationship Type="http://schemas.openxmlformats.org/officeDocument/2006/relationships/notesSlide" Target="/ppt/notesSlides/notesSlide11.xml" Id="Rd5de555b3a9043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ff83c7f994d7e" /><Relationship Type="http://schemas.openxmlformats.org/officeDocument/2006/relationships/notesSlide" Target="/ppt/notesSlides/notesSlide12.xml" Id="Rdcacfd07448e4b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1955c78f94fc9" /><Relationship Type="http://schemas.openxmlformats.org/officeDocument/2006/relationships/notesSlide" Target="/ppt/notesSlides/notesSlide13.xml" Id="R50d13a079fd94c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c4af698324cff" /><Relationship Type="http://schemas.openxmlformats.org/officeDocument/2006/relationships/chart" Target="/ppt/slides/charts/chart2.xml" Id="R422e98a162804959" /><Relationship Type="http://schemas.openxmlformats.org/officeDocument/2006/relationships/notesSlide" Target="/ppt/notesSlides/notesSlide14.xml" Id="Rcfdbe464c31243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8fbd460984686" /><Relationship Type="http://schemas.openxmlformats.org/officeDocument/2006/relationships/chart" Target="/ppt/slides/charts/chart3.xml" Id="Ra64be4b598cb4359" /><Relationship Type="http://schemas.openxmlformats.org/officeDocument/2006/relationships/notesSlide" Target="/ppt/notesSlides/notesSlide15.xml" Id="Rf470c96c300d4b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046cf4e104253" /><Relationship Type="http://schemas.openxmlformats.org/officeDocument/2006/relationships/image" Target="/ppt/media/image2.png" Id="R09af0ef9341b4319" /><Relationship Type="http://schemas.openxmlformats.org/officeDocument/2006/relationships/image" Target="/ppt/media/image3.png" Id="Rfcf7b39c87284948" /><Relationship Type="http://schemas.openxmlformats.org/officeDocument/2006/relationships/notesSlide" Target="/ppt/notesSlides/notesSlide16.xml" Id="R7e526f431000442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e3f5897374f6f" /><Relationship Type="http://schemas.openxmlformats.org/officeDocument/2006/relationships/notesSlide" Target="/ppt/notesSlides/notesSlide17.xml" Id="Rcce8465ea95e4d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9723be7ba4e22" /><Relationship Type="http://schemas.openxmlformats.org/officeDocument/2006/relationships/notesSlide" Target="/ppt/notesSlides/notesSlide18.xml" Id="R7889fd02d2154c3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82158e79445cc" /><Relationship Type="http://schemas.openxmlformats.org/officeDocument/2006/relationships/notesSlide" Target="/ppt/notesSlides/notesSlide19.xml" Id="R4d3575eb632e4b5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76dc4f7a241d4" /><Relationship Type="http://schemas.openxmlformats.org/officeDocument/2006/relationships/notesSlide" Target="/ppt/notesSlides/notesSlide20.xml" Id="R517066755d1a4009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전체 비율</c:v>
          </c:tx>
          <c:spPr>
            <a:solidFill xmlns:a="http://schemas.openxmlformats.org/drawingml/2006/main">
              <a:srgbClr val="4666E8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50" b="1">
                    <a:solidFill>
                      <a:srgbClr val="0F172A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0.0000</c:formatCode>
              <c:ptCount val="7"/>
              <c:pt idx="0">
                <c:v>0.1432</c:v>
              </c:pt>
              <c:pt idx="1">
                <c:v>0.1434</c:v>
              </c:pt>
              <c:pt idx="2">
                <c:v>0.1435</c:v>
              </c:pt>
              <c:pt idx="3">
                <c:v>0.1431</c:v>
              </c:pt>
              <c:pt idx="4">
                <c:v>0.1413</c:v>
              </c:pt>
              <c:pt idx="5">
                <c:v>0.142</c:v>
              </c:pt>
              <c:pt idx="6">
                <c:v>0.1434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0.146"/>
          <c:min val="0.13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B"/>
              </a:solidFill>
            </a:ln>
          </c:spPr>
        </c:majorGridlines>
        <c:numFmt formatCode="0.00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0.002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4263EB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122033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EfficientNet-B0</c:v>
              </c:pt>
              <c:pt idx="1">
                <c:v>MobileNetV2</c:v>
              </c:pt>
              <c:pt idx="2">
                <c:v>ResNet18</c:v>
              </c:pt>
            </c:strLit>
          </c:cat>
          <c:val>
            <c:numLit>
              <c:formatCode>0.0%</c:formatCode>
              <c:ptCount val="3"/>
              <c:pt idx="0">
                <c:v>0.7399555</c:v>
              </c:pt>
              <c:pt idx="1">
                <c:v>0.7309183</c:v>
              </c:pt>
              <c:pt idx="2">
                <c:v>0.7275222</c:v>
              </c:pt>
            </c:numLit>
          </c:val>
        </c:ser>
        <c:ser>
          <c:idx val="1"/>
          <c:order val="1"/>
          <c:tx>
            <c:v>Macro-F1</c:v>
          </c:tx>
          <c:spPr>
            <a:solidFill xmlns:a="http://schemas.openxmlformats.org/drawingml/2006/main">
              <a:srgbClr val="14B8A6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122033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EfficientNet-B0</c:v>
              </c:pt>
              <c:pt idx="1">
                <c:v>MobileNetV2</c:v>
              </c:pt>
              <c:pt idx="2">
                <c:v>ResNet18</c:v>
              </c:pt>
            </c:strLit>
          </c:cat>
          <c:val>
            <c:numLit>
              <c:formatCode>0.0%</c:formatCode>
              <c:ptCount val="3"/>
              <c:pt idx="0">
                <c:v>0.7357475</c:v>
              </c:pt>
              <c:pt idx="1">
                <c:v>0.7295768</c:v>
              </c:pt>
              <c:pt idx="2">
                <c:v>0.7253373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E0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0.75"/>
          <c:min val="0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8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0.01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22033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EfficientNet-B0</c:v>
          </c:tx>
          <c:spPr>
            <a:solidFill xmlns:a="http://schemas.openxmlformats.org/drawingml/2006/main">
              <a:srgbClr val="4263EB"/>
            </a:solidFill>
          </c:spPr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0%</c:formatCode>
              <c:ptCount val="7"/>
              <c:pt idx="0">
                <c:v>0.95</c:v>
              </c:pt>
              <c:pt idx="1">
                <c:v>0.77</c:v>
              </c:pt>
              <c:pt idx="2">
                <c:v>0.77</c:v>
              </c:pt>
              <c:pt idx="3">
                <c:v>0.57</c:v>
              </c:pt>
              <c:pt idx="4">
                <c:v>0.54</c:v>
              </c:pt>
              <c:pt idx="5">
                <c:v>0.72</c:v>
              </c:pt>
              <c:pt idx="6">
                <c:v>0.83</c:v>
              </c:pt>
            </c:numLit>
          </c:val>
        </c:ser>
        <c:ser>
          <c:idx val="1"/>
          <c:order val="1"/>
          <c:tx>
            <c:v>MobileNetV2</c:v>
          </c:tx>
          <c:spPr>
            <a:solidFill xmlns:a="http://schemas.openxmlformats.org/drawingml/2006/main">
              <a:srgbClr val="14B8A6"/>
            </a:solidFill>
          </c:spPr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0%</c:formatCode>
              <c:ptCount val="7"/>
              <c:pt idx="0">
                <c:v>0.95</c:v>
              </c:pt>
              <c:pt idx="1">
                <c:v>0.76</c:v>
              </c:pt>
              <c:pt idx="2">
                <c:v>0.76</c:v>
              </c:pt>
              <c:pt idx="3">
                <c:v>0.56</c:v>
              </c:pt>
              <c:pt idx="4">
                <c:v>0.53</c:v>
              </c:pt>
              <c:pt idx="5">
                <c:v>0.71</c:v>
              </c:pt>
              <c:pt idx="6">
                <c:v>0.83</c:v>
              </c:pt>
            </c:numLit>
          </c:val>
        </c:ser>
        <c:ser>
          <c:idx val="2"/>
          <c:order val="2"/>
          <c:tx>
            <c:v>ResNet18</c:v>
          </c:tx>
          <c:spPr>
            <a:solidFill xmlns:a="http://schemas.openxmlformats.org/drawingml/2006/main">
              <a:srgbClr val="F4B740"/>
            </a:solidFill>
          </c:spPr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0%</c:formatCode>
              <c:ptCount val="7"/>
              <c:pt idx="0">
                <c:v>0.95</c:v>
              </c:pt>
              <c:pt idx="1">
                <c:v>0.76</c:v>
              </c:pt>
              <c:pt idx="2">
                <c:v>0.76</c:v>
              </c:pt>
              <c:pt idx="3">
                <c:v>0.57</c:v>
              </c:pt>
              <c:pt idx="4">
                <c:v>0.5</c:v>
              </c:pt>
              <c:pt idx="5">
                <c:v>0.71</c:v>
              </c:pt>
              <c:pt idx="6">
                <c:v>0.83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E0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8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0.1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22033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ACC6DC15-11EC-4F6C-85DA-09950FE8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한국인 얼굴 감정 인식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7A8D019-0968-414B-BFDA-84E572AD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0" i="0">
                <a:solidFill>
                  <a:srgbClr val="B8C7D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 i="0">
                <a:solidFill>
                  <a:srgbClr val="B8C7DA"/>
                </a:solidFill>
                <a:latin typeface="Malgun Gothic"/>
                <a:ea typeface="Malgun Gothic"/>
                <a:cs typeface="Malgun Gothic"/>
              </a:rPr>
              <a:t>데이터 전처리와 모델 비교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E4D4146-6AE8-4228-882D-6F6A3AAC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14B8A6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9D41D2C-A840-4F15-9093-5D90A0BE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C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오석, 정준영, 김범영</a:t>
            </a:r>
            <a:r>
              <a:rPr sz="165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 (김정오 팀)</a:t>
            </a:r>
            <a:endParaRPr sz="1650" b="0" i="0">
              <a:solidFill>
                <a:srgbClr val="DCE6F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A1DC95B-C7E8-431E-A5AF-1B1FD6DE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8FA2B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8FA2B9"/>
                </a:solidFill>
                <a:latin typeface="Malgun Gothic"/>
                <a:ea typeface="Malgun Gothic"/>
                <a:cs typeface="Malgun Gothic"/>
              </a:rPr>
              <a:t>팀 프로젝트 발표</a:t>
            </a:r>
          </a:p>
        </p:txBody>
      </p:sp>
    </p:spTree>
    <p:extLst>
      <p:ext uri="{BB962C8B-B14F-4D97-AF65-F5344CB8AC3E}">
        <p14:creationId xmlns:p14="http://schemas.microsoft.com/office/powerpoint/2010/main" val="227961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37A7044-875B-405B-9468-5A5C1FC0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6238EDC-C734-41BC-B0C8-E43EAC41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데이터 준비부터 세 모델 기반 웹캠 프로그램까지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F2C06E0-C9D8-4393-8842-A1F2DFB2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06BF82A-2981-4155-B397-BC5FBFAA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BB6C15C-98EF-4673-814B-C9329810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B5B32EC8-0134-4BBF-ACA6-7F3FA2C6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데이터 준비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4E2336F-A41E-473D-9590-B45CE8CE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33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모델 학습과 활용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98D82D4-3456-4C20-8FC0-3CF5C101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프로젝트 요약과 팀 역할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데이터 범위와 품질 점검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설계와 실행 결과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입력 이미지 변환 전후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18F0D364-E6AE-44DC-9A21-AFB3CCC0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GPU 학습 환경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 구조와 파라미터 수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검증 성능과 평가 한계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체크포인트와 웹캠 프로그램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D34D44D8-AC29-4A97-9EC6-47DEC85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52600"/>
            <a:ext cx="0" cy="34099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F66877F3-B2D7-4883-9BE7-AB618F8B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전처리 기준과 세 모델 비교 결과를 중심으로 설명하겠습니다.</a:t>
            </a:r>
          </a:p>
        </p:txBody>
      </p:sp>
    </p:spTree>
    <p:extLst>
      <p:ext uri="{BB962C8B-B14F-4D97-AF65-F5344CB8AC3E}">
        <p14:creationId xmlns:p14="http://schemas.microsoft.com/office/powerpoint/2010/main" val="223390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C0341155-58B6-4494-8488-490A4663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팀 구성과 역할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4143ED8-32DC-40F6-BC24-86BB4378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데이터 준비, 모델 실험, 실시간 프로그램을 분담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B521F64A-13F5-46AE-9DE2-3597996F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9BAB141-FAF9-4781-AF79-5A87C3E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AA93897-79F1-4AF6-8808-DEBBDEE8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AFC34494-0738-4EBF-980E-E5088F5C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22" y="17526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오석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560E00E-F5B6-4A99-8DEA-666D05E9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22" y="2381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실시간 프로그램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5DCA05AD-4CE9-440F-A6FC-834B342A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881" y="17526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정준영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26FAB5D-DE01-4555-8682-C7DA8EA3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881" y="2381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주제·데이터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DE7D9AD-0A46-4C23-84BC-B87C5C2C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040" y="17526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김범영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061B971-B19D-44AA-8EDB-F272661B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040" y="23812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모델·발표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3E9696B-15BA-40C7-BA80-B1890029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담당 업무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83DB723-2064-43B1-8CEC-705763C2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오석: OpenCV 기반 웹캠 실시간 프로그램 구현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정준영: 주제 선정, 데이터셋 조사·수집, 전처리 수행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김범영: 전처리 보조, 비교 모델 선정, PPT 제작과 발표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각 단계의 산출물을 공유해 모델과 프로그램의 입력 규격을 일치시켰다.</a:t>
            </a:r>
          </a:p>
        </p:txBody>
      </p:sp>
    </p:spTree>
    <p:extLst>
      <p:ext uri="{BB962C8B-B14F-4D97-AF65-F5344CB8AC3E}">
        <p14:creationId xmlns:p14="http://schemas.microsoft.com/office/powerpoint/2010/main" val="20656177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C0341155-58B6-4494-8488-490A4663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프로젝트 요약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4143ED8-32DC-40F6-BC24-86BB4378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현재 완료된 범위와 핵심 결론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B521F64A-13F5-46AE-9DE2-3597996F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9BAB141-FAF9-4781-AF79-5A87C3E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AA93897-79F1-4AF6-8808-DEBBDEE8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AFC34494-0738-4EBF-980E-E5088F5C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22" y="17526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275,688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560E00E-F5B6-4A99-8DEA-666D05E9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22" y="2381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전처리 완료 이미지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5DCA05AD-4CE9-440F-A6FC-834B342A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881" y="17526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83,308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26FAB5D-DE01-4555-8682-C7DA8EA3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881" y="2381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방향 보정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DE7D9AD-0A46-4C23-84BC-B87C5C2C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040" y="17526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0.7357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061B971-B19D-44AA-8EDB-F272661B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040" y="23812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최고 Validation Macro-F1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3E9696B-15BA-40C7-BA80-B1890029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현재 구현 방향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83DB723-2064-43B1-8CEC-705763C2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시간 제약에 따라 Training은 감정별 4개 파트 중 2개만 사용했다.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손상 JPEG 16장을 제외하고 224×224 흑백 PNG와 라벨 좌표를 만들었다.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 중 EfficientNet-B0가 Accuracy와 Macro-F1 모두 가장 높았다.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프로그램에서 세 모델을 선택하거나 같은 입력으로 비교한다.</a:t>
            </a:r>
          </a:p>
        </p:txBody>
      </p:sp>
    </p:spTree>
    <p:extLst>
      <p:ext uri="{BB962C8B-B14F-4D97-AF65-F5344CB8AC3E}">
        <p14:creationId xmlns:p14="http://schemas.microsoft.com/office/powerpoint/2010/main" val="2065617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56EC9D1B-61CE-45E9-95D1-84C2B405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전체 작업 과정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55754C8E-DEC0-4133-917B-B99D09D1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원본 수집부터 프로그램 적용 전 단계까지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0C69E740-15DE-4685-95FC-30B1A138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E28D6AE-4BCE-427F-A336-021E747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F4EDADE-7488-48BC-B473-B771C552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2E263B98-493B-4388-B918-5540798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원본 JPG·JSON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13EE08D5-3B78-4357-8575-CA3D88A8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EDA와 품질 점검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B37C1A81-B460-45AE-8B52-D565AFE0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이미지·라벨 전처리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312AAF76-CDFB-4873-9884-C41BB491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GPU 학습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11C64B3A-7C94-4AC7-A083-ADA647D7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비교·저장</a:t>
            </a:r>
          </a:p>
        </p:txBody>
      </p:sp>
      <p:cxnSp>
        <p:nvCxnSpPr>
          <p:cNvPr id="122" name="직선 화살표 연결선 33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38400" y="2543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23" name="직선 화살표 연결선 34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24400" y="2543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24" name="직선 화살표 연결선 35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10400" y="2543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25" name="직선 화살표 연결선 36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96400" y="2543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0B147B33-1228-4EE3-85ED-261131C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E1FDFBBC-366A-492E-B034-0CE7538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29050"/>
            <a:ext cx="1905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프레임 입력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A9910972-B6A4-45E6-8827-5F6E85B1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2905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얼굴 검출·224 전처리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9EB4CE5C-8841-451B-B1B6-50182D65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2905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선택·비교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98CB3CAB-A392-42E5-9C1F-DBA4B236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2905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감정·확률 표시</a:t>
            </a:r>
          </a:p>
        </p:txBody>
      </p:sp>
      <p:cxnSp>
        <p:nvCxnSpPr>
          <p:cNvPr id="131" name="직선 화살표 연결선 42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6291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32" name="직선 화살표 연결선 43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2009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33" name="직선 화살표 연결선 44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3916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C9332F34-5B57-4FC6-964F-2D308D67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현재 발표는 모델 비교와 저장까지 다루며, 뒤쪽 슬라이드는 프로그램 구현 결과를 추가할 수 있게 구성했다.</a:t>
            </a:r>
          </a:p>
        </p:txBody>
      </p:sp>
    </p:spTree>
    <p:extLst>
      <p:ext uri="{BB962C8B-B14F-4D97-AF65-F5344CB8AC3E}">
        <p14:creationId xmlns:p14="http://schemas.microsoft.com/office/powerpoint/2010/main" val="1028046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2629DBD7-D7D1-4A5C-A9F7-810EA6E6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데이터 규모와 클래스 균형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59256D3-9CD4-43D7-9FFF-ABF247C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전처리 성공 기준 275,688장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863E982B-8A56-4654-98BD-2681FACA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56B354D-F09C-4586-ADD4-D1D4197E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6DE2FDF-0520-4265-A6A1-305F643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A526025-02BF-4EC4-9292-01B2667C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223,570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FEDBDB13-E767-4200-AE6B-DA2CECF0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Training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409444F8-A4A9-476E-9292-2EF922F6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52,118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327152C-62FA-4541-8FE5-05C5DA4F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57201500-0CB1-4FBA-9555-33AAA667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클래스 비율 14.13~14.35%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ACAA6C0-8EBF-494C-A1D0-C765AB67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오버샘플링 필요성 낮음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8cbbd3e5084faa"/>
          </a:graphicData>
        </a:graphic>
      </p:graphicFrame>
    </p:spTree>
    <p:extLst>
      <p:ext uri="{BB962C8B-B14F-4D97-AF65-F5344CB8AC3E}">
        <p14:creationId xmlns:p14="http://schemas.microsoft.com/office/powerpoint/2010/main" val="17780583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48A02D74-FD0E-44A4-AAB3-14222DFF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데이터 범위와 품질 점검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2442A2E-86ED-49B1-85EC-7C74C577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데이터 범위 결정, 손상 파일, 방향 정보와 인물 중복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6234A63E-AEEC-4BDB-9FA1-E90BCA51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0F75341A-F506-4D9C-9EE5-617D3F24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0D6C382-CA08-49C3-B63B-8FCB3D87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0BADD82-5F6B-46FE-94F3-FB13E7BF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193,589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7285B3FB-3382-424B-BF35-20CFC9D9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선택하지 않은 파트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060DD8F-B910-48A5-9744-D9E61898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33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64E41917-893C-4376-8FBF-70DBDE7D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손상 JPEG 제외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2B1713AA-EFAC-44F6-853F-C3CA4082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4B74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4B740"/>
                </a:solidFill>
                <a:latin typeface="Malgun Gothic"/>
                <a:ea typeface="Malgun Gothic"/>
                <a:cs typeface="Malgun Gothic"/>
              </a:rPr>
              <a:t>528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FF9DD058-CB44-4143-A199-A9EF975A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분할 간 공통 식별자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D305C31B-3FC1-4D88-B725-E5239024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33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83,308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285B8614-D243-4758-9D12-B3E5C319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EXIF 방향 보정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A54A0C70-9DF9-405C-8B13-A453DF04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9EFBCAF-13B9-4996-AF39-414FB5E8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100"/>
              </a:spcAft>
              <a:buChar char="•"/>
              <a:def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시간 제약으로 감정별 Training 4개 파트 중 2개만 선택해 사용했다.</a:t>
            </a:r>
          </a:p>
          <a:p xmlns:a="http://schemas.openxmlformats.org/drawingml/2006/main">
            <a:pPr marL="228600" indent="-101600">
              <a:spcAft>
                <a:spcPts val="1100"/>
              </a:spcAft>
              <a:buChar char="•"/>
              <a:def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선택하지 않은 파트의 라벨 193,589건에는 대응 JPG가 없으며 전처리 실패가 아니다.</a:t>
            </a:r>
          </a:p>
          <a:p xmlns:a="http://schemas.openxmlformats.org/drawingml/2006/main">
            <a:pPr marL="228600" indent="-101600">
              <a:spcAft>
                <a:spcPts val="1100"/>
              </a:spcAft>
              <a:buChar char="•"/>
              <a:def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같은 인물의 유사 이미지가 두 분할에 섞이면 Validation 성능이 높아질 수 있다.</a:t>
            </a:r>
          </a:p>
        </p:txBody>
      </p:sp>
    </p:spTree>
    <p:extLst>
      <p:ext uri="{BB962C8B-B14F-4D97-AF65-F5344CB8AC3E}">
        <p14:creationId xmlns:p14="http://schemas.microsoft.com/office/powerpoint/2010/main" val="83158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E76DB245-714C-4ADF-9E3F-805CF742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설계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3D5274B-2384-4D72-AFA6-4A663C0B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표정 형태를 보존하면서 세 모델의 입력 규격을 통일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B462598A-8319-4D78-918A-66042D40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7AD307A-CE44-4310-ACDD-12447736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F0B08BC-5EEB-48A8-A20D-CCD90A28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5" name="표 12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190750"/>
                <a:gridCol w="4095750"/>
                <a:gridCol w="3162300"/>
              </a:tblGrid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크기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224×224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사전학습 모델 호환성과 계산량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미세 표정 축소 가능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방향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EXIF 픽셀 보정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옆·거꾸로 된 얼굴 방지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잘못된 태그는 별도 확인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1채널 흑백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형태·명암 집중, 저장량 감소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색상 정보 손실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비율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종횡비 유지+패딩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얼굴 눌림과 늘어남 방지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검정 여백 발생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재저장 손실 없이 입력 고정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크기 증가 가능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8331E27D-653F-471C-A001-8AA620B8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ImageNet 사전학습 모델 입력에서는 흑백 값을 RGB 세 채널에 동일하게 복제한다.</a:t>
            </a:r>
          </a:p>
        </p:txBody>
      </p:sp>
    </p:spTree>
    <p:extLst>
      <p:ext uri="{BB962C8B-B14F-4D97-AF65-F5344CB8AC3E}">
        <p14:creationId xmlns:p14="http://schemas.microsoft.com/office/powerpoint/2010/main" val="16561055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2A7F9B9-5053-46A9-B71F-B22786C9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이미지 변환 전후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3C3FC528-001C-4CAF-BB13-4E57046F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원본 비율을 유지하고 검정 패딩으로 224×224 통일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0D1A2A7B-C69A-4E7A-893B-8914BF98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C828ACE-5687-413A-B63D-01CDD537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327772C-48B5-4E76-9198-3C628F98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7024ADA-E37D-4C2F-B692-22043551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원본 JPG</a:t>
            </a:r>
          </a:p>
        </p:txBody>
      </p:sp>
      <p:pic>
        <p:nvPicPr>
          <p:cNvPr id="21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0b4aab7da4600"/>
          <a:stretch xmlns:a="http://schemas.openxmlformats.org/drawingml/2006/main"/>
        </p:blipFill>
        <p:spPr>
          <a:xfrm xmlns:a="http://schemas.openxmlformats.org/drawingml/2006/main">
            <a:off x="904875" y="1981200"/>
            <a:ext cx="45720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1417DE9E-0A25-4095-B266-ADAABD66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62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PNG</a:t>
            </a:r>
          </a:p>
        </p:txBody>
      </p:sp>
      <p:pic>
        <p:nvPicPr>
          <p:cNvPr id="23" name="그림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e9bd753094194"/>
          <a:stretch xmlns:a="http://schemas.openxmlformats.org/drawingml/2006/main"/>
        </p:blipFill>
        <p:spPr>
          <a:xfrm xmlns:a="http://schemas.openxmlformats.org/drawingml/2006/main">
            <a:off x="6915150" y="198120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01A6ACDA-3E66-48EA-AE8E-BD3C3767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고해상도 RGB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3C55ABD2-52FA-4E75-960F-03BF4179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19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224×224 · 흑백 · 방향 보정</a:t>
            </a:r>
          </a:p>
        </p:txBody>
      </p:sp>
    </p:spTree>
    <p:extLst>
      <p:ext uri="{BB962C8B-B14F-4D97-AF65-F5344CB8AC3E}">
        <p14:creationId xmlns:p14="http://schemas.microsoft.com/office/powerpoint/2010/main" val="1736462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3A9A6EB9-C8FC-4260-9FED-B01035C9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결과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A56C209-9156-4D38-B76C-E0AEF10E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중단 재실행과 오류 추적이 가능한 처리 구조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4E06A48A-0800-462A-A251-DEA0D185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920552C9-3A2D-4746-A62E-6857A2AD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E7D7903-F3FE-4CBF-8D03-481B080B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FF34967-0751-4E86-94AF-108A4552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275,688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894593B-B61D-43A2-B120-326AA9C5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성공 이미지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9E899BCC-1E74-4D42-ACB4-C410AB11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954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9EB62C6-09AB-496B-92EB-657769EB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손상 JPEG 제외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27CE578-DFC2-45BA-B19F-6ABD9831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954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827,064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98C6DBEB-59FF-44B4-BDA5-9080D431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241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변환 얼굴 박스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489E0539-3B2A-4255-8E8D-F02470E3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1:35:35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7594180-AB34-412B-8D80-82DC495E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전체 처리 시간</a:t>
            </a:r>
          </a:p>
        </p:txBody>
      </p:sp>
      <p:sp>
        <p:nvSpPr>
          <p:cNvPr id="14" name="직선 연결선 13">
            <a:extLst xmlns:a="http://schemas.openxmlformats.org/drawingml/2006/main">
              <a:ext uri="{FF2B5EF4-FFF2-40B4-BE49-F238E27FC236}">
                <a16:creationId xmlns:a16="http://schemas.microsoft.com/office/drawing/2014/main" id="{F6E24918-A80D-4084-A4D4-9FD89F4D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553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D9EF933-54B8-4348-9861-5923FA17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513.40 GiB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9236B35D-BF81-44BD-BA0F-E8DDD170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300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12.85 GiB</a:t>
            </a:r>
          </a:p>
        </p:txBody>
      </p:sp>
      <p:sp>
        <p:nvSpPr>
          <p:cNvPr id="17" name="직선 연결선 16">
            <a:extLst xmlns:a="http://schemas.openxmlformats.org/drawingml/2006/main">
              <a:ext uri="{FF2B5EF4-FFF2-40B4-BE49-F238E27FC236}">
                <a16:creationId xmlns:a16="http://schemas.microsoft.com/office/drawing/2014/main" id="{C1C81A80-7A66-48F3-81A5-DE910195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476250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258C6B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6F11D5F3-DAF4-48AE-8113-AC20A405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이미지 저장 용량 97.50% 감소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9A640374-746C-4DCD-9F6A-210895B6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완성된 PNG는 건너뛰어 재부팅 후 같은 명령으로 이어서 처리한다.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임시 파일을 완성한 뒤 최종 이름으로 교체해 중단된 파일을 구별한다.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실패 경로와 이유, split별 시간은 preprocessing_summary.json에 남긴다.</a:t>
            </a:r>
          </a:p>
        </p:txBody>
      </p:sp>
    </p:spTree>
    <p:extLst>
      <p:ext uri="{BB962C8B-B14F-4D97-AF65-F5344CB8AC3E}">
        <p14:creationId xmlns:p14="http://schemas.microsoft.com/office/powerpoint/2010/main" val="21248749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3AEBFC5C-7067-49AC-AE7F-7AA8A49C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GPU 환경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449B33D-34BC-465B-908E-684DB5E9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설치 확인보다 실제 CUDA 연산 검증을 우선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92395A23-324A-47B7-94AB-971AF8A4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FAA0BA0-6BA2-495A-B846-FE9B6F84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DA04EE2-9081-4743-96D7-651502FE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91CC2C01-1F65-4A5F-8818-1BA1E261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nvidia-smi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GPU·드라이버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7EC8A842-90B3-42D3-812C-36278F57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Python 3.12.10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가상환경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85FF0314-4530-4279-848A-456AC63E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52625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cu126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전용 wheel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02ADFEF6-C3E1-4E9F-9561-5D82697D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CUDA 행렬 연산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cxnSp>
        <p:nvCxnSpPr>
          <p:cNvPr id="73" name="직선 화살표 연결선 24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86050" y="2409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74" name="직선 화살표 연결선 25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43500" y="2409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75" name="직선 화살표 연결선 26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00950" y="2409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496229EC-A641-4770-BA7D-366CC236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TensorFlow 대신 PyTorch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38C82F4-29F1-4593-B75E-3F9EBE7E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382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torchvision의 세 모델을 같은 API와 학습 코드로 비교할 수 있다.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체크포인트, Macro-F1, AMP와 중단 재개를 직접 관리했다.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CUDA 사용 가능 시 모델과 배치를 자동으로 GPU에 이동한다.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B888CE7-9CD2-48E4-A54E-CF5E11FE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실험 GPU: NVIDIA GeForce RTX 4060</a:t>
            </a:r>
          </a:p>
        </p:txBody>
      </p:sp>
    </p:spTree>
    <p:extLst>
      <p:ext uri="{BB962C8B-B14F-4D97-AF65-F5344CB8AC3E}">
        <p14:creationId xmlns:p14="http://schemas.microsoft.com/office/powerpoint/2010/main" val="1352717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0B84B319-A1EB-4966-A4B4-C101A76D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비교 모델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802263B-4CB3-4287-954B-1D69A7F8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기준선, 경량성, 정확도 효율을 대표하는 구조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E04B2106-BECE-4181-A4BE-173B036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209EB79-31A6-4D47-9D44-A7A75BAF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923C646-2636-4016-B885-B8F18252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6" name="표 13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1432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000375"/>
                <a:gridCol w="3238500"/>
                <a:gridCol w="2733675"/>
              </a:tblGrid>
              <a:tr h="785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/ 파라미터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구조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강점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역할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ResNet18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11.18M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Residual connection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안정적이고 설명이 쉬움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CNN 기준선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MobileNetV2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2.23M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Depthwise conv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Inverted residual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파라미터와 연산량이 작음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경량 실행 모델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EfficientNet-B0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4.02M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MBConv·SE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Compound scaling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정확도와 효율의 균형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정확도 중심 모델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436692B-F16D-42A5-9742-1C4EB8DA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같은 데이터와 주요 학습 설정으로 세 구조의 성능과 크기를 비교했다.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31926C6-158D-447A-A278-D8D3DFC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모두 ImageNet 사전학습 가중치 사용</a:t>
            </a:r>
          </a:p>
        </p:txBody>
      </p:sp>
    </p:spTree>
    <p:extLst>
      <p:ext uri="{BB962C8B-B14F-4D97-AF65-F5344CB8AC3E}">
        <p14:creationId xmlns:p14="http://schemas.microsoft.com/office/powerpoint/2010/main" val="16227435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70A78F6F-95C4-4588-834F-C297F926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학습과 평가 설계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A8AF122-4CB8-46E5-91FD-9C0C0A42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검증 Macro-F1을 기준으로 최고 가중치 저장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221BA7E0-9CDA-45B2-85CB-10C8836B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9D5763FC-15B2-448D-9E00-34A79D0A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E8287B8-7FCC-4069-9494-DAB5BE8A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7A334CAA-8891-4EBD-984D-807A8363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Training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223,570장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1E229C35-5C15-4949-A473-E9DA1BC8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약한 증강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ImageNet 정규화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DE6BDE3B-F664-4399-AAA5-21ACB9FB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AdamW·AMP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Cosine scheduler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D4C2C95F-F146-43FF-8734-4C4B7BFA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52,118장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1C6B50C9-0B49-4226-B56A-9EBFCAC8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Macro-F1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best.pt 저장</a:t>
            </a:r>
          </a:p>
        </p:txBody>
      </p:sp>
      <p:cxnSp>
        <p:nvCxnSpPr>
          <p:cNvPr id="83" name="직선 화살표 연결선 26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38400" y="2514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84" name="직선 화살표 연결선 27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24400" y="2514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85" name="직선 화살표 연결선 28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10400" y="2514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86" name="직선 화살표 연결선 29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96400" y="2514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742E92D-40B4-4102-B14B-E8E12D88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공통 설정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74746310-60B2-4AE3-96FE-A615D19E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최대 50 epoch, batch 32, learning rate 0.0003, seed 42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label smoothing 0.1과 weight decay 0.0001로 과적합 완화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검증 Macro-F1이 3회 연속 개선되지 않으면 조기 종료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최고 epoch는 best.pt, 재개 상태는 last.pt에 분리 저장</a:t>
            </a:r>
          </a:p>
        </p:txBody>
      </p:sp>
    </p:spTree>
    <p:extLst>
      <p:ext uri="{BB962C8B-B14F-4D97-AF65-F5344CB8AC3E}">
        <p14:creationId xmlns:p14="http://schemas.microsoft.com/office/powerpoint/2010/main" val="13115856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BEB6577-5408-40A9-9BC3-445F137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모델의 검증 성능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C94A07A-BB10-478B-BF6D-90EBF3EE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현재 최고 수치는 EfficientNet-B0, 세 모델은 모두 프로그램에 탑재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FBAD78F2-5C4D-4BC0-AF8D-DD50C55F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5613573-F5C2-4BE1-9AD4-E421EBAD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236C769-3F4C-4BFA-92FF-5B174811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04850" y="1619250"/>
          <a:ext xmlns:a="http://schemas.openxmlformats.org/drawingml/2006/main" cx="7905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2e98a162804959"/>
          </a:graphicData>
        </a:graphic>
      </p:graphicFrame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F186A23-D41A-4357-AF27-4C8ED4BE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764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0.7400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5FE4156-3721-4695-AFB9-52170BE0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Accuracy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DEE6C811-3C00-4ADD-9E1D-7785ED4F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623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0.7357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DA0C30C9-8BFD-4FB6-ADA2-5A227AFF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91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Macro-F1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E5D89FFD-772F-4DB2-A29C-6DE951C9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006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EfficientNet-B0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64DA393D-6976-4E6D-807E-05DA7CC7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29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best epoch 15</a:t>
            </a:r>
          </a:p>
        </p:txBody>
      </p:sp>
    </p:spTree>
    <p:extLst>
      <p:ext uri="{BB962C8B-B14F-4D97-AF65-F5344CB8AC3E}">
        <p14:creationId xmlns:p14="http://schemas.microsoft.com/office/powerpoint/2010/main" val="5686267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3ABF865-F395-4550-847C-386B42F2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감정별 F1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C3E51EE-7BCE-4871-A2CF-7B327D7A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기쁨·중립은 강하고 불안·상처는 공통 약점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4CE2B66C-9199-49AB-940B-41952068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5D09E57-60D8-465E-ABE1-E7D07228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0D98CBA-3A37-4E5A-B785-A5840FFD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47700" y="1600200"/>
          <a:ext xmlns:a="http://schemas.openxmlformats.org/drawingml/2006/main" cx="8477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4be4b598cb4359"/>
          </a:graphicData>
        </a:graphic>
      </p:graphicFrame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B339676-9A8C-4B83-B913-54149E0D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공통 약점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1676474-8EF6-45F5-B6F6-02AD3B98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불안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DB5B867-6E86-4330-976E-339BF66F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F1 0.56~0.57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EA3880C7-1BD5-45D6-8DF0-B90C2C0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상처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67027350-64D2-42B7-8F19-1B59B4EC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33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F1 0.50~0.54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2BAA5B61-9B55-4AED-82E7-B3C2F3E2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0"/>
            <a:ext cx="1952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향후 오분류 사례와 라벨 경계를 집중 분석</a:t>
            </a:r>
          </a:p>
        </p:txBody>
      </p:sp>
    </p:spTree>
    <p:extLst>
      <p:ext uri="{BB962C8B-B14F-4D97-AF65-F5344CB8AC3E}">
        <p14:creationId xmlns:p14="http://schemas.microsoft.com/office/powerpoint/2010/main" val="7985342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45FBB835-6EE2-480E-B845-7998055E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학습 결과 분석 예시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8B80552-00E5-440A-B5C5-0B8D014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EfficientNet-B0의 학습곡선과 혼동행렬을 예시로 확인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10FA11AB-247B-4CAD-95B8-BE969F49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05AADEA-524A-4FCF-A4DD-38ED99DD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E3BEF87-EF9D-435E-A1B3-0A041518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pic>
        <p:nvPicPr>
          <p:cNvPr id="17" name="그림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f0ef9341b4319"/>
          <a:stretch xmlns:a="http://schemas.openxmlformats.org/drawingml/2006/main"/>
        </p:blipFill>
        <p:spPr>
          <a:xfrm xmlns:a="http://schemas.openxmlformats.org/drawingml/2006/main">
            <a:off x="552450" y="1569245"/>
            <a:ext cx="6858000" cy="4195760"/>
          </a:xfrm>
          <a:prstGeom xmlns:a="http://schemas.openxmlformats.org/drawingml/2006/main" prst="rect">
            <a:avLst/>
          </a:prstGeom>
        </p:spPr>
      </p:pic>
      <p:pic>
        <p:nvPicPr>
          <p:cNvPr id="18" name="그림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7b39c87284948"/>
          <a:stretch xmlns:a="http://schemas.openxmlformats.org/drawingml/2006/main"/>
        </p:blipFill>
        <p:spPr>
          <a:xfrm xmlns:a="http://schemas.openxmlformats.org/drawingml/2006/main">
            <a:off x="7620000" y="1891433"/>
            <a:ext cx="3905250" cy="3551384"/>
          </a:xfrm>
          <a:prstGeom xmlns:a="http://schemas.openxmlformats.org/drawingml/2006/main" prst="rect">
            <a:avLst/>
          </a:prstGeom>
        </p:spPr>
      </p:pic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A064CAEA-A4A2-480B-BBCF-8F6FFE7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학습 정확도는 계속 상승했지만 검증 성능은 약 0.74 부근에서 정체</a:t>
            </a:r>
          </a:p>
        </p:txBody>
      </p:sp>
    </p:spTree>
    <p:extLst>
      <p:ext uri="{BB962C8B-B14F-4D97-AF65-F5344CB8AC3E}">
        <p14:creationId xmlns:p14="http://schemas.microsoft.com/office/powerpoint/2010/main" val="1675458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8A0B734E-3F52-44EA-858E-22A5AF49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 체크포인트와 팀 전달 파일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6F4A826-33B6-4AA1-8CE1-E2E8059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웹캠 프로그램은 세 모델의 best.pt를 모두 사용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E76DB4BB-46D6-4BD1-9A13-6C403F06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185E663-EA90-42B6-BDF5-E56B81BF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23B4686-D0F0-460D-8C01-1D674DA0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DA73798E-7D87-4464-80DF-2A2FE7A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3개 모델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1EF58CC-A7E1-405C-BA00-F5E3456F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ResNet18    MobileNetV2    EfficientNet-B0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EB0BA8CC-EFB3-448B-A140-0277E4AA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경로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2058FE6D-034E-41FC-8C45-BA465C0C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667750" cy="11049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152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ResNet18  models/.../best.pt
MobileNetV2  models/.../best.pt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EfficientNet-B0  models/.../best.pt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F1522130-17C7-456F-AFA3-DA33F66B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이름과 가중치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7개 클래스 순서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입력 크기와 정규화 값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최고 검증 지표와 실행 환경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2866CDC-2443-424B-B031-74AB60AC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last.pt는 학습 재개용이며 프로그램은 세 모델의 best.pt를 사용한다.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477A4D66-4D12-4623-890E-8F5A0F80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세 모델의 best.pt를 Git LFS 또는 팀 공유 폴더로 전달</a:t>
            </a:r>
          </a:p>
        </p:txBody>
      </p:sp>
    </p:spTree>
    <p:extLst>
      <p:ext uri="{BB962C8B-B14F-4D97-AF65-F5344CB8AC3E}">
        <p14:creationId xmlns:p14="http://schemas.microsoft.com/office/powerpoint/2010/main" val="2019989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37A7044-875B-405B-9468-5A5C1FC0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현재 결과의 한계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6238EDC-C734-41BC-B0C8-E43EAC41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배포 전 일반화와 실시간 성능을 추가 검증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F2C06E0-C9D8-4393-8842-A1F2DFB2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06BF82A-2981-4155-B397-BC5FBFAA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BB6C15C-98EF-4673-814B-C9329810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B5B32EC8-0134-4BBF-ACA6-7F3FA2C6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확인된 한계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4E2336F-A41E-473D-9590-B45CE8CE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33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추가 검증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98D82D4-3456-4C20-8FC0-3CF5C101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같은 인물의 유사 이미지가 두 분할에 포함될 가능성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시간 제약으로 Training 4개 파트 중 2개만 사용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흑백 입력과 RGB 입력의 직접 비교 부재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MobileNetV2만 PyTorch 2.14, 나머지는 2.13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18F0D364-E6AE-44DC-9A21-AFB3CCC0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인물·촬영 세션 기준 group split 실험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사용한 2개 파트와 제외 범위를 명확히 보고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RGB ablation test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동일 PyTorch lock에서 세 모델 재현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D34D44D8-AC29-4A97-9EC6-47DEC85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52600"/>
            <a:ext cx="0" cy="34099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F66877F3-B2D7-4883-9BE7-AB618F8B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현재 수치는 제공 Validation 기준이다. 완전히 새로운 사용자의 성능을 보장하지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233907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000D5885-57A7-4213-A1F5-C2D9657D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프로그램 구조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AA47B5E-1201-4926-9BBA-E7E0763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세 모델 선택 실행과 비교 실행에 같은 전처리를 적용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B46FC623-6957-4C12-9971-8E206063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81DA1895-54BE-45A3-BD5C-E5A5EE94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7FD30565-27A9-407A-81A9-51C98F11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E3987A02-3568-42A6-9C98-AC289969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프레임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B72A6B94-E2D2-43C6-A4BA-226311B6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얼굴 검출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ROI 자르기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5C31AC8B-BF6B-43F3-86F8-E73638CC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764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흑백·비율 유지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224×224 패딩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C2D3E1CE-8EC1-4BE4-8B50-476310FB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7645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선택·비교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3개 best.pt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1654BA85-C2F3-4A2F-8111-55B500E4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7645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감정·확률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화면 표시</a:t>
            </a:r>
          </a:p>
        </p:txBody>
      </p:sp>
      <p:cxnSp>
        <p:nvCxnSpPr>
          <p:cNvPr id="83" name="직선 화살표 연결선 26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7170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84" name="직선 화살표 연결선 27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8150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85" name="직선 화살표 연결선 28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78180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86" name="직선 화살표 연결선 29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99160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B3743750-09F0-4470-8D0C-F9ACBAFE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프로그램 구현 기준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768934CB-8368-456A-85D6-20267580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체크포인트의 class_names 순서를 그대로 사용한다.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ImageNet 평균·표준편차와 RGB 채널 복제를 학습 코드와 동일하게 적용한다.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일반 모드는 선택한 모델만 실행하고 비교 모드는 세 모델 결과를 함께 표시한다.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모델별 감정·신뢰도와 FPS, 평균 지연 시간, GPU·CPU 사용량을 기록한다.</a:t>
            </a:r>
          </a:p>
        </p:txBody>
      </p:sp>
    </p:spTree>
    <p:extLst>
      <p:ext uri="{BB962C8B-B14F-4D97-AF65-F5344CB8AC3E}">
        <p14:creationId xmlns:p14="http://schemas.microsoft.com/office/powerpoint/2010/main" val="7689325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FF90BB8-A150-4EE4-9E33-C4752B2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 웹캠 비교 결과 추가 페이지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B598B41-3811-4C64-8BCB-763C6162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프로그램 구현 후 모델별 화면과 실시간 수치로 교체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95E5F972-2129-4523-931D-CCBF1BBF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3B0EC52-72FF-48E4-9D15-1C923928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4CB404B-7159-425A-B0AE-B2793280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ED7727D8-FCC9-48BF-AE1D-C879F9A7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67627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19050">
            <a:solidFill>
              <a:srgbClr val="607086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세 모델 선택 UI와 예측 결과 화면</a:t>
            </a:r>
          </a:p>
          <a:p xmlns:a="http://schemas.openxmlformats.org/drawingml/2006/main">
            <a:endParaRPr sz="1950" b="1">
              <a:solidFill>
                <a:srgbClr val="607086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buNone/>
              <a:def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감정명·신뢰도와 모델 이름이 보이는 장면으로 교체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24FF937-CBC7-4268-947D-7AADF4CB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모델별 기록 영역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BE27A28-A2F8-481D-9BD7-3CFC244A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AF7C6538-A7BD-4A55-8DEA-3892B8B9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ResNet18 FPS·지연 시간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4914413C-087A-4363-B60A-BFDEB28E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9B540788-F77C-4123-A380-B7CEBFFA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MobileNetV2 FPS·지연 시간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D58B884-60D7-4EA7-AD59-5F2ADD32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EAB10C42-1E93-448F-A214-83E39450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34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EfficientNet-B0 FPS·지연 시간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CC2BB2DF-400B-4080-9E9C-1EB8F841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비교 항목: 세 모델의 감정 예측, 신뢰도, FPS와 지연 시간</a:t>
            </a:r>
          </a:p>
        </p:txBody>
      </p:sp>
    </p:spTree>
    <p:extLst>
      <p:ext uri="{BB962C8B-B14F-4D97-AF65-F5344CB8AC3E}">
        <p14:creationId xmlns:p14="http://schemas.microsoft.com/office/powerpoint/2010/main" val="1734871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2026-09-15T02:09:19.4830000Z</dcterms:created>
  <dcterms:modified xsi:type="dcterms:W3CDTF">2026-09-15T02:09:19.4830000Z</dcterms:modified>
</coreProperties>
</file>