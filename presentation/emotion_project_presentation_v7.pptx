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2.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0660b4a9dd4a5c" /><Relationship Type="http://schemas.openxmlformats.org/officeDocument/2006/relationships/extended-properties" Target="/docProps/app.xml" Id="R45792756cb854280" /><Relationship Type="http://schemas.openxmlformats.org/officeDocument/2006/relationships/officeDocument" Target="/ppt/presentation.xml" Id="R922239af44954eee" /></Relationships>
</file>

<file path=ppt/presentation.xml><?xml version="1.0" encoding="utf-8"?>
<p:presentation xmlns:p="http://schemas.openxmlformats.org/presentationml/2006/main">
  <p:sldMasterIdLst>
    <p:sldMasterId xmlns:r="http://schemas.openxmlformats.org/officeDocument/2006/relationships" id="2147483648" r:id="R42aecfc6d2774325"/>
  </p:sldMasterIdLst>
  <p:notesMasterIdLst>
    <p:notesMasterId xmlns:r="http://schemas.openxmlformats.org/officeDocument/2006/relationships" r:id="R8445af5d7be74879"/>
  </p:notesMasterIdLst>
  <p:sldIdLst>
    <p:sldId xmlns:r="http://schemas.openxmlformats.org/officeDocument/2006/relationships" id="256" r:id="R88315646c9ab40af"/>
    <p:sldId xmlns:r="http://schemas.openxmlformats.org/officeDocument/2006/relationships" id="257" r:id="R178bc8b929fb4933"/>
    <p:sldId xmlns:r="http://schemas.openxmlformats.org/officeDocument/2006/relationships" id="258" r:id="R95a66a2c23e8418a"/>
    <p:sldId xmlns:r="http://schemas.openxmlformats.org/officeDocument/2006/relationships" id="259" r:id="R28913137a94944ca"/>
    <p:sldId xmlns:r="http://schemas.openxmlformats.org/officeDocument/2006/relationships" id="260" r:id="R3f85deda278b444d"/>
    <p:sldId xmlns:r="http://schemas.openxmlformats.org/officeDocument/2006/relationships" id="261" r:id="Ra9340f00415a4cfd"/>
    <p:sldId xmlns:r="http://schemas.openxmlformats.org/officeDocument/2006/relationships" id="262" r:id="Ra395f031430d48a4"/>
    <p:sldId xmlns:r="http://schemas.openxmlformats.org/officeDocument/2006/relationships" id="263" r:id="Re03a5a19378f490b"/>
    <p:sldId xmlns:r="http://schemas.openxmlformats.org/officeDocument/2006/relationships" id="264" r:id="Rfcd68ff0d8464442"/>
    <p:sldId xmlns:r="http://schemas.openxmlformats.org/officeDocument/2006/relationships" id="265" r:id="Rf1e9e485908d465b"/>
    <p:sldId xmlns:r="http://schemas.openxmlformats.org/officeDocument/2006/relationships" id="266" r:id="R763a12ae840248e2"/>
    <p:sldId xmlns:r="http://schemas.openxmlformats.org/officeDocument/2006/relationships" id="267" r:id="Rf67f680158bd45bd"/>
    <p:sldId xmlns:r="http://schemas.openxmlformats.org/officeDocument/2006/relationships" id="268" r:id="R502a3b1d74c34244"/>
    <p:sldId xmlns:r="http://schemas.openxmlformats.org/officeDocument/2006/relationships" id="269" r:id="R6124f61061c148b0"/>
    <p:sldId xmlns:r="http://schemas.openxmlformats.org/officeDocument/2006/relationships" id="270" r:id="R94556a3d2d084482"/>
    <p:sldId xmlns:r="http://schemas.openxmlformats.org/officeDocument/2006/relationships" id="271" r:id="Rc6045c0d00a54726"/>
    <p:sldId xmlns:r="http://schemas.openxmlformats.org/officeDocument/2006/relationships" id="272" r:id="Rcccfc994123f4d7d"/>
    <p:sldId xmlns:r="http://schemas.openxmlformats.org/officeDocument/2006/relationships" id="273" r:id="Rd4e740526cfe49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41c9adf8397490a" /><Relationship Type="http://schemas.openxmlformats.org/officeDocument/2006/relationships/slideMaster" Target="/ppt/slideMasters/slideMaster1.xml" Id="R42aecfc6d2774325" /><Relationship Type="http://schemas.openxmlformats.org/officeDocument/2006/relationships/notesMaster" Target="/ppt/notesMasters/notesMaster1.xml" Id="R8445af5d7be74879" /><Relationship Type="http://schemas.openxmlformats.org/officeDocument/2006/relationships/presProps" Target="/ppt/presProps.xml" Id="Rfaf8958ae059425a" /><Relationship Type="http://schemas.openxmlformats.org/officeDocument/2006/relationships/viewProps" Target="/ppt/viewProps.xml" Id="R4bdb0923d6ec41a8" /><Relationship Type="http://schemas.openxmlformats.org/officeDocument/2006/relationships/tableStyles" Target="/ppt/tableStyles.xml" Id="R6972d8c3a39f4589" /><Relationship Type="http://schemas.openxmlformats.org/officeDocument/2006/relationships/slide" Target="/ppt/slides/slide1.xml" Id="R88315646c9ab40af" /><Relationship Type="http://schemas.openxmlformats.org/officeDocument/2006/relationships/slide" Target="/ppt/slides/slide2.xml" Id="R178bc8b929fb4933" /><Relationship Type="http://schemas.openxmlformats.org/officeDocument/2006/relationships/slide" Target="/ppt/slides/slide3.xml" Id="R95a66a2c23e8418a" /><Relationship Type="http://schemas.openxmlformats.org/officeDocument/2006/relationships/slide" Target="/ppt/slides/slide4.xml" Id="R28913137a94944ca" /><Relationship Type="http://schemas.openxmlformats.org/officeDocument/2006/relationships/slide" Target="/ppt/slides/slide5.xml" Id="R3f85deda278b444d" /><Relationship Type="http://schemas.openxmlformats.org/officeDocument/2006/relationships/slide" Target="/ppt/slides/slide6.xml" Id="Ra9340f00415a4cfd" /><Relationship Type="http://schemas.openxmlformats.org/officeDocument/2006/relationships/slide" Target="/ppt/slides/slide7.xml" Id="Ra395f031430d48a4" /><Relationship Type="http://schemas.openxmlformats.org/officeDocument/2006/relationships/slide" Target="/ppt/slides/slide8.xml" Id="Re03a5a19378f490b" /><Relationship Type="http://schemas.openxmlformats.org/officeDocument/2006/relationships/slide" Target="/ppt/slides/slide9.xml" Id="Rfcd68ff0d8464442" /><Relationship Type="http://schemas.openxmlformats.org/officeDocument/2006/relationships/slide" Target="/ppt/slides/slide10.xml" Id="Rf1e9e485908d465b" /><Relationship Type="http://schemas.openxmlformats.org/officeDocument/2006/relationships/slide" Target="/ppt/slides/slide11.xml" Id="R763a12ae840248e2" /><Relationship Type="http://schemas.openxmlformats.org/officeDocument/2006/relationships/slide" Target="/ppt/slides/slide12.xml" Id="Rf67f680158bd45bd" /><Relationship Type="http://schemas.openxmlformats.org/officeDocument/2006/relationships/slide" Target="/ppt/slides/slide13.xml" Id="R502a3b1d74c34244" /><Relationship Type="http://schemas.openxmlformats.org/officeDocument/2006/relationships/slide" Target="/ppt/slides/slide14.xml" Id="R6124f61061c148b0" /><Relationship Type="http://schemas.openxmlformats.org/officeDocument/2006/relationships/slide" Target="/ppt/slides/slide15.xml" Id="R94556a3d2d084482" /><Relationship Type="http://schemas.openxmlformats.org/officeDocument/2006/relationships/slide" Target="/ppt/slides/slide16.xml" Id="Rc6045c0d00a54726" /><Relationship Type="http://schemas.openxmlformats.org/officeDocument/2006/relationships/slide" Target="/ppt/slides/slide17.xml" Id="Rcccfc994123f4d7d" /><Relationship Type="http://schemas.openxmlformats.org/officeDocument/2006/relationships/slide" Target="/ppt/slides/slide18.xml" Id="Rd4e740526cfe49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dd4ea865def48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f7f1193d844d29" /><Relationship Type="http://schemas.openxmlformats.org/officeDocument/2006/relationships/notesMaster" Target="/ppt/notesMasters/notesMaster1.xml" Id="R19b99d4b716442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e1396814264b2f" /><Relationship Type="http://schemas.openxmlformats.org/officeDocument/2006/relationships/notesMaster" Target="/ppt/notesMasters/notesMaster1.xml" Id="Rf3a2320f2429416f"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ec2265aee3460c" /><Relationship Type="http://schemas.openxmlformats.org/officeDocument/2006/relationships/notesMaster" Target="/ppt/notesMasters/notesMaster1.xml" Id="R615bf08ebe564f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f9746fea134263" /><Relationship Type="http://schemas.openxmlformats.org/officeDocument/2006/relationships/notesMaster" Target="/ppt/notesMasters/notesMaster1.xml" Id="R0c8a7dace97b49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aa6413740540f7" /><Relationship Type="http://schemas.openxmlformats.org/officeDocument/2006/relationships/notesMaster" Target="/ppt/notesMasters/notesMaster1.xml" Id="R5d9f580cb56d47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2bc3b8e2b9420d" /><Relationship Type="http://schemas.openxmlformats.org/officeDocument/2006/relationships/notesMaster" Target="/ppt/notesMasters/notesMaster1.xml" Id="R06f7964d35a748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34460215e943c6" /><Relationship Type="http://schemas.openxmlformats.org/officeDocument/2006/relationships/notesMaster" Target="/ppt/notesMasters/notesMaster1.xml" Id="Rddb1ed73248543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83edc8d60c4b89" /><Relationship Type="http://schemas.openxmlformats.org/officeDocument/2006/relationships/notesMaster" Target="/ppt/notesMasters/notesMaster1.xml" Id="Rffcf8bcb31ba4c0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f849b7322c4a49" /><Relationship Type="http://schemas.openxmlformats.org/officeDocument/2006/relationships/notesMaster" Target="/ppt/notesMasters/notesMaster1.xml" Id="R497811657b16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637472356b4d00" /><Relationship Type="http://schemas.openxmlformats.org/officeDocument/2006/relationships/notesMaster" Target="/ppt/notesMasters/notesMaster1.xml" Id="R5c22978a58584d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2b84e6d1e74792" /><Relationship Type="http://schemas.openxmlformats.org/officeDocument/2006/relationships/notesMaster" Target="/ppt/notesMasters/notesMaster1.xml" Id="Raa01dee58c7d4a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51883a177246ac" /><Relationship Type="http://schemas.openxmlformats.org/officeDocument/2006/relationships/notesMaster" Target="/ppt/notesMasters/notesMaster1.xml" Id="R818cdecfdf1a4d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e368c5ffaef4876" /><Relationship Type="http://schemas.openxmlformats.org/officeDocument/2006/relationships/notesMaster" Target="/ppt/notesMasters/notesMaster1.xml" Id="R4ffb047f3c404ed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360c396de8c4773" /><Relationship Type="http://schemas.openxmlformats.org/officeDocument/2006/relationships/notesMaster" Target="/ppt/notesMasters/notesMaster1.xml" Id="Rcca4d652ad6a4aa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68fc801768d4071" /><Relationship Type="http://schemas.openxmlformats.org/officeDocument/2006/relationships/notesMaster" Target="/ppt/notesMasters/notesMaster1.xml" Id="R59895cbc75b7426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fc5416613ec41df" /><Relationship Type="http://schemas.openxmlformats.org/officeDocument/2006/relationships/notesMaster" Target="/ppt/notesMasters/notesMaster1.xml" Id="R8c2650e190f642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3ecc3000b3a4e36" /><Relationship Type="http://schemas.openxmlformats.org/officeDocument/2006/relationships/notesMaster" Target="/ppt/notesMasters/notesMaster1.xml" Id="Rda530c11bc1c401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09e785335b34e63" /><Relationship Type="http://schemas.openxmlformats.org/officeDocument/2006/relationships/notesMaster" Target="/ppt/notesMasters/notesMaster1.xml" Id="Rb9077c197c864e7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범위는 데이터 품질 점검, 전처리, GPU 학습 환경, 세 모델 비교입니다. 마지막에는 웹캠 프로그램으로 확장할 계획을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전처리와 모델 비교 결과를 요약합니다. EfficientNet-B0가 현재 Validation 수치는 가장 높지만 단일 최종 모델로 고정하지 않습니다. ResNet18, MobileNetV2, EfficientNet-B0를 모두 프로그램에 탑재해 선택 실행과 비교 실행을 지원합니다.</a:t>
            </a:r>
          </a:p>
          <a:p xmlns:a="http://schemas.openxmlformats.org/drawingml/2006/main">
            <a:r>
              <a:t/>
            </a:r>
            <a:endParaRPr/>
          </a:p>
          <a:p xmlns:a="http://schemas.openxmlformats.org/drawingml/2006/main">
            <a:r>
              <a:t>근거: dataset/processed/preprocessing_summary.json | results/comparisons/all_three_models/comparison_table.csv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완료된 연구 단계와 예정된 프로그램 단계를 분리해서 설명합니다. 프로그램을 구현하면 뒤쪽 슬라이드만 갱신해도 전체 발표 흐름을 유지할 수 있습니다.</a:t>
            </a:r>
          </a:p>
          <a:p xmlns:a="http://schemas.openxmlformats.org/drawingml/2006/main">
            <a:endParaRPr/>
          </a:p>
          <a:p xmlns:a="http://schemas.openxmlformats.org/drawingml/2006/main">
            <a:r>
              <a:t>근거: docs/01_project_overview.md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a:t>
            </a:r>
            <a:r>
              <a:t> </a:t>
            </a:r>
            <a:r>
              <a:t>많은</a:t>
            </a:r>
            <a:r>
              <a:t> </a:t>
            </a:r>
            <a:r>
              <a:t>분노와</a:t>
            </a:r>
            <a:r>
              <a:t> </a:t>
            </a:r>
            <a:r>
              <a:t>가장</a:t>
            </a:r>
            <a:r>
              <a:t> </a:t>
            </a:r>
            <a:r>
              <a:t>적은</a:t>
            </a:r>
            <a:r>
              <a:t> </a:t>
            </a:r>
            <a:r>
              <a:t>상처의</a:t>
            </a:r>
            <a:r>
              <a:t> </a:t>
            </a:r>
            <a:r>
              <a:t>차이는</a:t>
            </a:r>
            <a:r>
              <a:t> 620장입니다. </a:t>
            </a:r>
            <a:r>
              <a:t>데이터</a:t>
            </a:r>
            <a:r>
              <a:t> </a:t>
            </a:r>
            <a:r>
              <a:t>수만</a:t>
            </a:r>
            <a:r>
              <a:t> </a:t>
            </a:r>
            <a:r>
              <a:t>보면</a:t>
            </a:r>
            <a:r>
              <a:t> </a:t>
            </a:r>
            <a:r>
              <a:t>클래스</a:t>
            </a:r>
            <a:r>
              <a:t> </a:t>
            </a:r>
            <a:r>
              <a:t>불균형이</a:t>
            </a:r>
            <a:r>
              <a:t> </a:t>
            </a:r>
            <a:r>
              <a:t>매우</a:t>
            </a:r>
            <a:r>
              <a:t> </a:t>
            </a:r>
            <a:r>
              <a:t>작습니다</a:t>
            </a:r>
            <a:r>
              <a:t>.</a:t>
            </a:r>
          </a:p>
          <a:p xmlns:a="http://schemas.openxmlformats.org/drawingml/2006/main">
            <a:endParaRPr/>
          </a:p>
          <a:p xmlns:a="http://schemas.openxmlformats.org/drawingml/2006/main">
            <a:r>
              <a:t>근거</a:t>
            </a:r>
            <a:r>
              <a:t>: results/preprocessing_eda_report.md, 4.1 </a:t>
            </a:r>
            <a:r>
              <a:t>클래스</a:t>
            </a:r>
            <a:r>
              <a:t> </a:t>
            </a:r>
            <a:r>
              <a:t>분포</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클래스 균형과 별도로 데이터 정합성과 평가 분할을 확인했습니다. 원천 이미지 미보유 193,589건은 전처리 실패와 구분하고, 손상 JPEG 16장과 EXIF 방향 보정 83,308장을 처리 결과로 제시합니다. 공통 식별자 528개는 group split 추가 검증이 필요한 근거입니다.</a:t>
            </a:r>
          </a:p>
          <a:p xmlns:a="http://schemas.openxmlformats.org/drawingml/2006/main">
            <a:r>
              <a:t/>
            </a:r>
            <a:endParaRPr/>
          </a:p>
          <a:p xmlns:a="http://schemas.openxmlformats.org/drawingml/2006/main">
            <a:r>
              <a:t>근거: results/preprocessing_eda_report.md, 3장, 4.4장, 5장</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244가 아니라 224를 선택한 이유, 강제 resize 대신 패딩한 이유, 흑백 선택의 장단점을 질문받을 수 있습니다. 표의 이유와 한계를 함께 설명합니다.</a:t>
            </a:r>
          </a:p>
          <a:p xmlns:a="http://schemas.openxmlformats.org/drawingml/2006/main">
            <a:endParaRPr/>
          </a:p>
          <a:p xmlns:a="http://schemas.openxmlformats.org/drawingml/2006/main">
            <a:r>
              <a:t>근거: results/preprocessing_eda_report.md, 6. 전처리 설계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전처리된 이미지는 정사각형이지만 얼굴 비율은 유지됩니다. 남는 영역만 검정색으로 채웠습니다. 이 이미지는 프로젝트 Validation 데이터의 예시입니다.</a:t>
            </a:r>
          </a:p>
          <a:p xmlns:a="http://schemas.openxmlformats.org/drawingml/2006/main">
            <a:endParaRPr/>
          </a:p>
          <a:p xmlns:a="http://schemas.openxmlformats.org/drawingml/2006/main">
            <a:r>
              <a:t>근거: 사용자가 제공한 Validation 원본 | dataset/processed/images/Validation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손상 파일은 한글 경로 문제가 아니라 JPEG 스트림 손상이었습니다. 전체의 0.0058%로 매우 적어 복원하지 않고 제외했습니다.</a:t>
            </a:r>
          </a:p>
          <a:p xmlns:a="http://schemas.openxmlformats.org/drawingml/2006/main">
            <a:endParaRPr/>
          </a:p>
          <a:p xmlns:a="http://schemas.openxmlformats.org/drawingml/2006/main">
            <a:r>
              <a:t>근거: dataset/processed/preprocessing_summary.json | results/preprocessing_eda_report.md, 5 및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nvidia-smi는 드라이버가 지원하는 CUDA를 보여줍니다. 실제 PyTorch 런타임은 torch.version.cuda로 확인하고 행렬 곱셈까지 실행했습니다.</a:t>
            </a:r>
          </a:p>
          <a:p xmlns:a="http://schemas.openxmlformats.org/drawingml/2006/main">
            <a:endParaRPr/>
          </a:p>
          <a:p xmlns:a="http://schemas.openxmlformats.org/drawingml/2006/main">
            <a:r>
              <a:t>근거: scripts/setup_cuda126.ps1 | src/check_environment.py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ResNet18은 기준선, MobileNetV2는 경량성, EfficientNet-B0는 정확도와 효율의 균형을 대표합니다.</a:t>
            </a:r>
          </a:p>
          <a:p xmlns:a="http://schemas.openxmlformats.org/drawingml/2006/main">
            <a:endParaRPr/>
          </a:p>
          <a:p xmlns:a="http://schemas.openxmlformats.org/drawingml/2006/main">
            <a:r>
              <a:t>근거: src/train_models.py | docs/04_model_training_and_selection.md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 epoch는 최대값입니다. 실제 세 모델은 18~21 epoch에서 조기 종료됐고 최고 성능 시점은 best.pt로 보관했습니다.</a:t>
            </a:r>
          </a:p>
          <a:p xmlns:a="http://schemas.openxmlformats.org/drawingml/2006/main">
            <a:endParaRPr/>
          </a:p>
          <a:p xmlns:a="http://schemas.openxmlformats.org/drawingml/2006/main">
            <a:r>
              <a:t>근거: src/train_models.py | results/experiments/*/run_summary.json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EfficientNet-B0가 현재 Validation의 Accuracy와 Macro-F1에서 가장 높았지만 세 모델의 차이는 크지 않습니다. 이 순위는 비교 결과로 제시하고, 프로그램에서는 세 모델을 모두 선택하거나 비교할 수 있게 구성합니다.</a:t>
            </a:r>
          </a:p>
          <a:p xmlns:a="http://schemas.openxmlformats.org/drawingml/2006/main">
            <a:r>
              <a:t/>
            </a:r>
            <a:endParaRPr/>
          </a:p>
          <a:p xmlns:a="http://schemas.openxmlformats.org/drawingml/2006/main">
            <a:r>
              <a:t>근거: results/comparisons/all_three_models/comparison_table.csv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기쁨과 중립은 잘 구분되지만 불안과 상처는 세 모델 모두 어렵습니다. 모델 구조보다 데이터의 감정 경계와 표정 유사성이 영향을 줬을 가능성이 있습니다.</a:t>
            </a:r>
          </a:p>
          <a:p xmlns:a="http://schemas.openxmlformats.org/drawingml/2006/main">
            <a:endParaRPr/>
          </a:p>
          <a:p xmlns:a="http://schemas.openxmlformats.org/drawingml/2006/main">
            <a:r>
              <a:t>근거: results/experiments/*/run_summary.json | results/comparisons/all_three_models/per_class_f1.png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모델 중 EfficientNet-B0의 학습 결과를 분석 예시로 보여 줍니다. 학습과 검증의 간격, 조기 종료 시점, 상처 감정의 혼동 경향을 확인합니다. 이 슬라이드는 단일 최종 모델 선정을 뜻하지 않습니다.</a:t>
            </a:r>
          </a:p>
          <a:p xmlns:a="http://schemas.openxmlformats.org/drawingml/2006/main">
            <a:r>
              <a:t/>
            </a:r>
            <a:endParaRPr/>
          </a:p>
          <a:p xmlns:a="http://schemas.openxmlformats.org/drawingml/2006/main">
            <a:r>
              <a:t>근거: results/comparisons/all_three_models/training_curves_GPU_efficientnet_b0_e50_p3_b32_efficientnet_b0.png | results/comparisons/all_three_models/confusion_matrix_GPU_efficientnet_b0_e50_p3_b32_efficientnet_b0.png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프로그램 담당자에게 ResNet18, MobileNetV2, EfficientNet-B0의 best.pt를 모두 전달합니다. 각 체크포인트의 model_name, class_names, image_size와 normalization을 읽어 같은 로더에서 모델별로 적용합니다.</a:t>
            </a:r>
          </a:p>
          <a:p xmlns:a="http://schemas.openxmlformats.org/drawingml/2006/main">
            <a:r>
              <a:t/>
            </a:r>
            <a:endParaRPr/>
          </a:p>
          <a:p xmlns:a="http://schemas.openxmlformats.org/drawingml/2006/main">
            <a:r>
              <a:t>근거: README.md | models/GPU_resnet18_e50_p3_b32/resnet18/best.pt | models/GPU_mobilenet_v2_e50_p3_b32/mobilenet_v2/best.pt | models/GPU_efficientnet_b0_e50_p3_b32/efficientnet_b0/best.pt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한계를 숨기지 않고 다음 실험으로 연결합니다. 특히 PyTorch 버전 차이는 비교 조건의 작은 차이이므로 동일 lock 재현이 가장 엄밀합니다.</a:t>
            </a:r>
          </a:p>
          <a:p xmlns:a="http://schemas.openxmlformats.org/drawingml/2006/main">
            <a:endParaRPr/>
          </a:p>
          <a:p xmlns:a="http://schemas.openxmlformats.org/drawingml/2006/main">
            <a:r>
              <a:t>근거: docs/02_environment_and_gpu.md | results/preprocessing_eda_report.md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번의 전처리 결과를 선택한 모델 또는 세 모델에 전달합니다. 일반 모드는 실시간 속도를 위해 한 모델만 실행하고, 비교 모드는 같은 얼굴 ROI에 세 모델을 적용해 예측과 속도를 함께 표시합니다.</a:t>
            </a:r>
          </a:p>
          <a:p xmlns:a="http://schemas.openxmlformats.org/drawingml/2006/main">
            <a:r>
              <a:t/>
            </a:r>
            <a:endParaRPr/>
          </a:p>
          <a:p xmlns:a="http://schemas.openxmlformats.org/drawingml/2006/main">
            <a:r>
              <a:t>근거: README.md | src/train_models.py | 세 모델의 best.pt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프로그램 구현 후 회색 영역을 세 모델 선택 UI와 실제 웹캠 화면으로 교체합니다. 오른쪽에는 ResNet18, MobileNetV2, EfficientNet-B0의 FPS와 지연 시간을 각각 입력합니다. 특정 모델을 최종 배포 모델로 고르는 결론은 넣지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8d6a35704340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4871a90280435f" /><Relationship Type="http://schemas.openxmlformats.org/officeDocument/2006/relationships/slideLayout" Target="/ppt/slideLayouts/slideLayout1.xml" Id="R626fc88bf3a242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6fc88bf3a242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39c485046f843ea" /><Relationship Type="http://schemas.openxmlformats.org/officeDocument/2006/relationships/notesSlide" Target="/ppt/notesSlides/notesSlide1.xml" Id="Rb57f53490a5d45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8aa35a3010841bf" /><Relationship Type="http://schemas.openxmlformats.org/officeDocument/2006/relationships/notesSlide" Target="/ppt/notesSlides/notesSlide2.xml" Id="Rccd84aff1e214e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ec9527fc87a45f1" /><Relationship Type="http://schemas.openxmlformats.org/officeDocument/2006/relationships/notesSlide" Target="/ppt/notesSlides/notesSlide3.xml" Id="Rca987b8022e04e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c2f06a98d64c7d" /><Relationship Type="http://schemas.openxmlformats.org/officeDocument/2006/relationships/chart" Target="/ppt/slides/charts/chart1.xml" Id="R63eed598e7f746de" /><Relationship Type="http://schemas.openxmlformats.org/officeDocument/2006/relationships/notesSlide" Target="/ppt/notesSlides/notesSlide4.xml" Id="Rbcfbc3a1318c48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859f155bf404de9" /><Relationship Type="http://schemas.openxmlformats.org/officeDocument/2006/relationships/notesSlide" Target="/ppt/notesSlides/notesSlide5.xml" Id="Rf13a01a7329d40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7751780870486c" /><Relationship Type="http://schemas.openxmlformats.org/officeDocument/2006/relationships/notesSlide" Target="/ppt/notesSlides/notesSlide6.xml" Id="R13a133adf95a4c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e2b6467f1d4ba1" /><Relationship Type="http://schemas.openxmlformats.org/officeDocument/2006/relationships/image" Target="/ppt/media/image.jpeg" Id="R1d17b62441fa45f4" /><Relationship Type="http://schemas.openxmlformats.org/officeDocument/2006/relationships/image" Target="/ppt/media/image.png" Id="R0442415ef91344ce" /><Relationship Type="http://schemas.openxmlformats.org/officeDocument/2006/relationships/notesSlide" Target="/ppt/notesSlides/notesSlide7.xml" Id="R3249808b8ec84bb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2eb55387c042ee" /><Relationship Type="http://schemas.openxmlformats.org/officeDocument/2006/relationships/notesSlide" Target="/ppt/notesSlides/notesSlide8.xml" Id="Rf973a59efb3043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6e7ec745ab5473d" /><Relationship Type="http://schemas.openxmlformats.org/officeDocument/2006/relationships/notesSlide" Target="/ppt/notesSlides/notesSlide9.xml" Id="Rfe6f9470c87543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69a87bebb44478" /><Relationship Type="http://schemas.openxmlformats.org/officeDocument/2006/relationships/notesSlide" Target="/ppt/notesSlides/notesSlide10.xml" Id="Recb7075662424f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8ecb4fba1c41b8" /><Relationship Type="http://schemas.openxmlformats.org/officeDocument/2006/relationships/notesSlide" Target="/ppt/notesSlides/notesSlide11.xml" Id="R2da3ea6c037c4d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64b20b73af4ea5" /><Relationship Type="http://schemas.openxmlformats.org/officeDocument/2006/relationships/chart" Target="/ppt/slides/charts/chart2.xml" Id="R0264fb47bb8841ac" /><Relationship Type="http://schemas.openxmlformats.org/officeDocument/2006/relationships/notesSlide" Target="/ppt/notesSlides/notesSlide12.xml" Id="R88c20b82bed744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1668d9373074345" /><Relationship Type="http://schemas.openxmlformats.org/officeDocument/2006/relationships/chart" Target="/ppt/slides/charts/chart3.xml" Id="Rbe3d6f92eeba41cb" /><Relationship Type="http://schemas.openxmlformats.org/officeDocument/2006/relationships/notesSlide" Target="/ppt/notesSlides/notesSlide13.xml" Id="Rcca5f1b6f56847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4c12de5e5e44433" /><Relationship Type="http://schemas.openxmlformats.org/officeDocument/2006/relationships/image" Target="/ppt/media/image2.png" Id="R0376fa12b35640c5" /><Relationship Type="http://schemas.openxmlformats.org/officeDocument/2006/relationships/image" Target="/ppt/media/image3.png" Id="R7c92a0d9253d4c34" /><Relationship Type="http://schemas.openxmlformats.org/officeDocument/2006/relationships/notesSlide" Target="/ppt/notesSlides/notesSlide14.xml" Id="Rba0e4d89f00647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99de17495274494" /><Relationship Type="http://schemas.openxmlformats.org/officeDocument/2006/relationships/notesSlide" Target="/ppt/notesSlides/notesSlide15.xml" Id="R4284bb95f9e2433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3604ecfe7214e12" /><Relationship Type="http://schemas.openxmlformats.org/officeDocument/2006/relationships/notesSlide" Target="/ppt/notesSlides/notesSlide16.xml" Id="R88aa97bc509a4e0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f393d3521a14b27" /><Relationship Type="http://schemas.openxmlformats.org/officeDocument/2006/relationships/notesSlide" Target="/ppt/notesSlides/notesSlide17.xml" Id="R4fb9a12afe66463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be4e592b774004" /><Relationship Type="http://schemas.openxmlformats.org/officeDocument/2006/relationships/notesSlide" Target="/ppt/notesSlides/notesSlide18.xml" Id="R8ac215b8c9b84529" /></Relationships>
</file>

<file path=ppt/slides/charts/chart1.xml><?xml version="1.0" encoding="utf-8"?>
<c:chartSpace xmlns:c="http://schemas.openxmlformats.org/drawingml/2006/chart">
  <c:lang val="en-US"/>
  <c:chart>
    <c:plotArea>
      <c:barChart>
        <c:barDir val="col"/>
        <c:grouping val="clustered"/>
        <c:varyColors val="0"/>
        <c:ser>
          <c:idx val="0"/>
          <c:order val="0"/>
          <c:tx>
            <c:v>전체 비율</c:v>
          </c:tx>
          <c:spPr>
            <a:solidFill xmlns:a="http://schemas.openxmlformats.org/drawingml/2006/main">
              <a:srgbClr val="4666E8"/>
            </a:solidFill>
          </c:spPr>
          <c:cat>
            <c:strLit>
              <c:ptCount val="7"/>
              <c:pt idx="0">
                <c:v>기쁨</c:v>
              </c:pt>
              <c:pt idx="1">
                <c:v>당황</c:v>
              </c:pt>
              <c:pt idx="2">
                <c:v>분노</c:v>
              </c:pt>
              <c:pt idx="3">
                <c:v>불안</c:v>
              </c:pt>
              <c:pt idx="4">
                <c:v>상처</c:v>
              </c:pt>
              <c:pt idx="5">
                <c:v>슬픔</c:v>
              </c:pt>
              <c:pt idx="6">
                <c:v>중립</c:v>
              </c:pt>
            </c:strLit>
          </c:cat>
          <c:val>
            <c:numLit>
              <c:formatCode>0.0000</c:formatCode>
              <c:ptCount val="7"/>
              <c:pt idx="0">
                <c:v>0.1432</c:v>
              </c:pt>
              <c:pt idx="1">
                <c:v>0.1434</c:v>
              </c:pt>
              <c:pt idx="2">
                <c:v>0.1435</c:v>
              </c:pt>
              <c:pt idx="3">
                <c:v>0.1431</c:v>
              </c:pt>
              <c:pt idx="4">
                <c:v>0.1413</c:v>
              </c:pt>
              <c:pt idx="5">
                <c:v>0.142</c:v>
              </c:pt>
              <c:pt idx="6">
                <c:v>0.1434</c:v>
              </c:pt>
            </c:numLit>
          </c:val>
        </c:ser>
        <c:dLbls>
          <c:txPr>
            <a:bodyPr xmlns:a="http://schemas.openxmlformats.org/drawingml/2006/main" anchorCtr="1"/>
            <a:lstStyle xmlns:a="http://schemas.openxmlformats.org/drawingml/2006/main"/>
            <a:p xmlns:a="http://schemas.openxmlformats.org/drawingml/2006/main">
              <a:pPr>
                <a:defRPr sz="1050" b="1">
                  <a:solidFill>
                    <a:srgbClr val="0F172A"/>
                  </a:solidFill>
                  <a:latin typeface="Malgun Gothic"/>
                  <a:ea typeface="Malgun Gothic"/>
                  <a:cs typeface="Malgun Gothic"/>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350">
                <a:solidFill>
                  <a:srgbClr val="334155"/>
                </a:solidFill>
                <a:latin typeface="Malgun Gothic"/>
                <a:ea typeface="Malgun Gothic"/>
                <a:cs typeface="Malgun Gothic"/>
              </a:defRPr>
            </a:pPr>
          </a:p>
        </c:txPr>
        <c:crossAx val="48672768"/>
      </c:catAx>
      <c:valAx>
        <c:axId val="48672768"/>
        <c:scaling>
          <c:orientation val="minMax"/>
          <c:max val="0.146"/>
          <c:min val="0.138"/>
        </c:scaling>
        <c:delete val="0"/>
        <c:axPos val="l"/>
        <c:majorGridlines>
          <c:spPr>
            <a:ln xmlns:a="http://schemas.openxmlformats.org/drawingml/2006/main" w="9525">
              <a:solidFill>
                <a:srgbClr val="DCE3EB"/>
              </a:solidFill>
            </a:ln>
          </c:spPr>
        </c:majorGridlines>
        <c:numFmt formatCode="0.000"/>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050">
                <a:solidFill>
                  <a:srgbClr val="64748B"/>
                </a:solidFill>
                <a:latin typeface="Malgun Gothic"/>
                <a:ea typeface="Malgun Gothic"/>
                <a:cs typeface="Malgun Gothic"/>
              </a:defRPr>
            </a:pPr>
          </a:p>
        </c:txPr>
        <c:crossAx val="48650112"/>
        <c:crossBetween val="between"/>
        <c:majorUnit val="0.002"/>
      </c:valAx>
      <c:spPr>
        <a:ln xmlns:a="http://schemas.openxmlformats.org/drawingml/2006/main" w="0">
          <a:noFill/>
        </a:ln>
      </c:spPr>
    </c:plotArea>
    <c:plotVisOnly val="1"/>
  </c:chart>
  <c:spPr>
    <a:ln xmlns:a="http://schemas.openxmlformats.org/drawingml/2006/main" w="0">
      <a:noFill/>
    </a:ln>
  </c:spPr>
</c:chartSpace>
</file>

<file path=ppt/slides/charts/chart2.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Accuracy</c:v>
          </c:tx>
          <c:spPr>
            <a:solidFill xmlns:a="http://schemas.openxmlformats.org/drawingml/2006/main">
              <a:srgbClr val="4263EB"/>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22033"/>
                    </a:solidFill>
                    <a:latin typeface="Malgun Gothic"/>
                    <a:ea typeface="Malgun Gothic"/>
                    <a:cs typeface="Malgun Gothic"/>
                  </a:defRPr>
                </a:pPr>
              </a:p>
            </c:txPr>
            <c:dLblPos val="outEnd"/>
            <c:showLegendKey val="0"/>
            <c:showVal val="1"/>
            <c:showCatName val="0"/>
            <c:showSerName val="0"/>
            <c:showPercent val="0"/>
            <c:showBubbleSize val="0"/>
            <c:showLeaderLines val="0"/>
          </c:dLbls>
          <c:cat>
            <c:strLit>
              <c:ptCount val="3"/>
              <c:pt idx="0">
                <c:v>EfficientNet-B0</c:v>
              </c:pt>
              <c:pt idx="1">
                <c:v>MobileNetV2</c:v>
              </c:pt>
              <c:pt idx="2">
                <c:v>ResNet18</c:v>
              </c:pt>
            </c:strLit>
          </c:cat>
          <c:val>
            <c:numLit>
              <c:formatCode>0.0%</c:formatCode>
              <c:ptCount val="3"/>
              <c:pt idx="0">
                <c:v>0.7399555</c:v>
              </c:pt>
              <c:pt idx="1">
                <c:v>0.7309183</c:v>
              </c:pt>
              <c:pt idx="2">
                <c:v>0.7275222</c:v>
              </c:pt>
            </c:numLit>
          </c:val>
        </c:ser>
        <c:ser>
          <c:idx val="1"/>
          <c:order val="1"/>
          <c:tx>
            <c:v>Macro-F1</c:v>
          </c:tx>
          <c:spPr>
            <a:solidFill xmlns:a="http://schemas.openxmlformats.org/drawingml/2006/main">
              <a:srgbClr val="14B8A6"/>
            </a:solidFill>
          </c:spP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1125" b="1">
                    <a:solidFill>
                      <a:srgbClr val="122033"/>
                    </a:solidFill>
                    <a:latin typeface="Malgun Gothic"/>
                    <a:ea typeface="Malgun Gothic"/>
                    <a:cs typeface="Malgun Gothic"/>
                  </a:defRPr>
                </a:pPr>
              </a:p>
            </c:txPr>
            <c:dLblPos val="outEnd"/>
            <c:showLegendKey val="0"/>
            <c:showVal val="1"/>
            <c:showCatName val="0"/>
            <c:showSerName val="0"/>
            <c:showPercent val="0"/>
            <c:showBubbleSize val="0"/>
            <c:showLeaderLines val="0"/>
          </c:dLbls>
          <c:cat>
            <c:strLit>
              <c:ptCount val="3"/>
              <c:pt idx="0">
                <c:v>EfficientNet-B0</c:v>
              </c:pt>
              <c:pt idx="1">
                <c:v>MobileNetV2</c:v>
              </c:pt>
              <c:pt idx="2">
                <c:v>ResNet18</c:v>
              </c:pt>
            </c:strLit>
          </c:cat>
          <c:val>
            <c:numLit>
              <c:formatCode>0.0%</c:formatCode>
              <c:ptCount val="3"/>
              <c:pt idx="0">
                <c:v>0.7357475</c:v>
              </c:pt>
              <c:pt idx="1">
                <c:v>0.7295768</c:v>
              </c:pt>
              <c:pt idx="2">
                <c:v>0.7253373</c:v>
              </c:pt>
            </c:numLit>
          </c:val>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9E0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22033"/>
                </a:solidFill>
                <a:latin typeface="Malgun Gothic"/>
                <a:ea typeface="Malgun Gothic"/>
                <a:cs typeface="Malgun Gothic"/>
              </a:defRPr>
            </a:pPr>
          </a:p>
        </c:txPr>
        <c:crossAx val="48672768"/>
        <c:crosses val="autoZero"/>
        <c:lblOffset val="100"/>
      </c:catAx>
      <c:valAx>
        <c:axId val="48672768"/>
        <c:scaling>
          <c:orientation val="minMax"/>
          <c:max val="0.75"/>
          <c:min val="0.7"/>
        </c:scaling>
        <c:delete val="0"/>
        <c:axPos val="l"/>
        <c:majorGridlines>
          <c:spPr>
            <a:ln xmlns:a="http://schemas.openxmlformats.org/drawingml/2006/main" w="9525">
              <a:solidFill>
                <a:srgbClr val="D9E0E8"/>
              </a:solidFill>
              <a:prstDash val="solid"/>
            </a:ln>
          </c:spPr>
        </c:majorGridlines>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07086"/>
                </a:solidFill>
                <a:latin typeface="Malgun Gothic"/>
                <a:ea typeface="Malgun Gothic"/>
                <a:cs typeface="Malgun Gothic"/>
              </a:defRPr>
            </a:pPr>
          </a:p>
        </c:txPr>
        <c:crossAx val="48650112"/>
        <c:crosses val="autoZero"/>
        <c:crossBetween val="between"/>
        <c:majorUnit val="0.0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22033"/>
              </a:solidFill>
              <a:latin typeface="Malgun Gothic"/>
              <a:ea typeface="Malgun Gothic"/>
              <a:cs typeface="Malgun Gothic"/>
            </a:defRPr>
          </a:pPr>
        </a:p>
      </c:txPr>
    </c:legend>
    <c:plotVisOnly val="1"/>
  </c:chart>
  <c:spPr>
    <a:noFill xmlns:a="http://schemas.openxmlformats.org/drawingml/2006/main"/>
    <a:ln xmlns:a="http://schemas.openxmlformats.org/drawingml/2006/main" w="0">
      <a:noFill/>
    </a:ln>
  </c:spPr>
</c:chartSpace>
</file>

<file path=ppt/slides/charts/chart3.xml><?xml version="1.0" encoding="utf-8"?>
<c:chartSpace xmlns:c="http://schemas.openxmlformats.org/drawingml/2006/chart">
  <c:lang val="en-US"/>
  <c:roundedCorners val="1"/>
  <c:style val="2"/>
  <c:chart>
    <c:autoTitleDeleted val="1"/>
    <c:plotArea>
      <c:barChart>
        <c:barDir val="col"/>
        <c:grouping val="clustered"/>
        <c:varyColors val="0"/>
        <c:ser>
          <c:idx val="0"/>
          <c:order val="0"/>
          <c:tx>
            <c:v>EfficientNet-B0</c:v>
          </c:tx>
          <c:spPr>
            <a:solidFill xmlns:a="http://schemas.openxmlformats.org/drawingml/2006/main">
              <a:srgbClr val="4263EB"/>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0.77</c:v>
              </c:pt>
              <c:pt idx="2">
                <c:v>0.77</c:v>
              </c:pt>
              <c:pt idx="3">
                <c:v>0.57</c:v>
              </c:pt>
              <c:pt idx="4">
                <c:v>0.54</c:v>
              </c:pt>
              <c:pt idx="5">
                <c:v>0.72</c:v>
              </c:pt>
              <c:pt idx="6">
                <c:v>0.83</c:v>
              </c:pt>
            </c:numLit>
          </c:val>
        </c:ser>
        <c:ser>
          <c:idx val="1"/>
          <c:order val="1"/>
          <c:tx>
            <c:v>MobileNetV2</c:v>
          </c:tx>
          <c:spPr>
            <a:solidFill xmlns:a="http://schemas.openxmlformats.org/drawingml/2006/main">
              <a:srgbClr val="14B8A6"/>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c:v>
              </c:pt>
              <c:pt idx="4">
                <c:v>0.53</c:v>
              </c:pt>
              <c:pt idx="5">
                <c:v>0.71</c:v>
              </c:pt>
              <c:pt idx="6">
                <c:v>0.83</c:v>
              </c:pt>
            </c:numLit>
          </c:val>
        </c:ser>
        <c:ser>
          <c:idx val="2"/>
          <c:order val="2"/>
          <c:tx>
            <c:v>ResNet18</c:v>
          </c:tx>
          <c:spPr>
            <a:solidFill xmlns:a="http://schemas.openxmlformats.org/drawingml/2006/main">
              <a:srgbClr val="F4B740"/>
            </a:solidFill>
          </c:spPr>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0.57</c:v>
              </c:pt>
              <c:pt idx="4">
                <c:v>0.5</c:v>
              </c:pt>
              <c:pt idx="5">
                <c:v>0.71</c:v>
              </c:pt>
              <c:pt idx="6">
                <c:v>0.83</c:v>
              </c:pt>
            </c:numLit>
          </c:val>
        </c:ser>
        <c:dLbls>
          <c:showLegendKey val="0"/>
          <c:showVal val="0"/>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9E0E8"/>
            </a:solidFill>
            <a:prstDash val="solid"/>
          </a:ln>
        </c:spPr>
        <c:txPr>
          <a:bodyPr xmlns:a="http://schemas.openxmlformats.org/drawingml/2006/main" anchorCtr="1"/>
          <a:lstStyle xmlns:a="http://schemas.openxmlformats.org/drawingml/2006/main"/>
          <a:p xmlns:a="http://schemas.openxmlformats.org/drawingml/2006/main">
            <a:pPr>
              <a:defRPr sz="1125">
                <a:solidFill>
                  <a:srgbClr val="122033"/>
                </a:solidFill>
                <a:latin typeface="Malgun Gothic"/>
                <a:ea typeface="Malgun Gothic"/>
                <a:cs typeface="Malgun Gothic"/>
              </a:defRPr>
            </a:pPr>
          </a:p>
        </c:txPr>
        <c:crossAx val="48672768"/>
        <c:crosses val="autoZero"/>
        <c:lblOffset val="100"/>
      </c:catAx>
      <c:valAx>
        <c:axId val="48672768"/>
        <c:scaling>
          <c:orientation val="minMax"/>
          <c:max val="1"/>
          <c:min val="0.4"/>
        </c:scaling>
        <c:delete val="0"/>
        <c:axPos val="l"/>
        <c:majorGridlines>
          <c:spPr>
            <a:ln xmlns:a="http://schemas.openxmlformats.org/drawingml/2006/main" w="9525">
              <a:solidFill>
                <a:srgbClr val="D9E0E8"/>
              </a:solidFill>
              <a:prstDash val="solid"/>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07086"/>
                </a:solidFill>
                <a:latin typeface="Malgun Gothic"/>
                <a:ea typeface="Malgun Gothic"/>
                <a:cs typeface="Malgun Gothic"/>
              </a:defRPr>
            </a:pPr>
          </a:p>
        </c:txPr>
        <c:crossAx val="48650112"/>
        <c:crosses val="autoZero"/>
        <c:crossBetween val="between"/>
        <c:majorUnit val="0.1"/>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00">
              <a:solidFill>
                <a:srgbClr val="122033"/>
              </a:solidFill>
              <a:latin typeface="Malgun Gothic"/>
              <a:ea typeface="Malgun Gothic"/>
              <a:cs typeface="Malgun Gothic"/>
            </a:defRPr>
          </a:pPr>
        </a:p>
      </c:txPr>
    </c:legend>
    <c:plotVisOnly val="1"/>
  </c:chart>
  <c:spPr>
    <a:noFill xmlns:a="http://schemas.openxmlformats.org/drawingml/2006/main"/>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0B1526"/>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ACC6DC15-11EC-4F6C-85DA-09950FE87912}"/>
              </a:ext>
            </a:extLst>
          </p:cNvPr>
          <p:cNvSpPr>
            <a:spLocks xmlns:a="http://schemas.openxmlformats.org/drawingml/2006/main" noGrp="1"/>
          </p:cNvSpPr>
          <p:nvPr/>
        </p:nvSpPr>
        <p:spPr>
          <a:xfrm xmlns:a="http://schemas.openxmlformats.org/drawingml/2006/main">
            <a:off x="742950" y="1352550"/>
            <a:ext cx="8096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4650" b="1" i="0">
                <a:solidFill>
                  <a:srgbClr val="FFFFFF"/>
                </a:solidFill>
                <a:latin typeface="Malgun Gothic"/>
                <a:ea typeface="Malgun Gothic"/>
                <a:cs typeface="Malgun Gothic"/>
              </a:defRPr>
            </a:pPr>
            <a:r>
              <a:rPr sz="4650" b="1" i="0">
                <a:solidFill>
                  <a:srgbClr val="FFFFFF"/>
                </a:solidFill>
                <a:latin typeface="Malgun Gothic"/>
                <a:ea typeface="Malgun Gothic"/>
                <a:cs typeface="Malgun Gothic"/>
              </a:rPr>
              <a:t>한국인 얼굴 감정 인식</a:t>
            </a:r>
          </a:p>
        </p:txBody>
      </p:sp>
      <p:sp>
        <p:nvSpPr>
          <p:cNvPr id="2" name="직사각형 1">
            <a:extLst xmlns:a="http://schemas.openxmlformats.org/drawingml/2006/main">
              <a:ext uri="{FF2B5EF4-FFF2-40B4-BE49-F238E27FC236}">
                <a16:creationId xmlns:a16="http://schemas.microsoft.com/office/drawing/2014/main" id="{B7A8D019-0968-414B-BFDA-84E572ADEEB2}"/>
              </a:ext>
            </a:extLst>
          </p:cNvPr>
          <p:cNvSpPr>
            <a:spLocks xmlns:a="http://schemas.openxmlformats.org/drawingml/2006/main" noGrp="1"/>
          </p:cNvSpPr>
          <p:nvPr/>
        </p:nvSpPr>
        <p:spPr>
          <a:xfrm xmlns:a="http://schemas.openxmlformats.org/drawingml/2006/main">
            <a:off x="762000" y="228600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850" b="0" i="0">
                <a:solidFill>
                  <a:srgbClr val="B8C7DA"/>
                </a:solidFill>
                <a:latin typeface="Malgun Gothic"/>
                <a:ea typeface="Malgun Gothic"/>
                <a:cs typeface="Malgun Gothic"/>
              </a:defRPr>
            </a:pPr>
            <a:r>
              <a:rPr sz="2850" b="0" i="0">
                <a:solidFill>
                  <a:srgbClr val="B8C7DA"/>
                </a:solidFill>
                <a:latin typeface="Malgun Gothic"/>
                <a:ea typeface="Malgun Gothic"/>
                <a:cs typeface="Malgun Gothic"/>
              </a:rPr>
              <a:t>데이터 전처리와 모델 비교</a:t>
            </a:r>
          </a:p>
        </p:txBody>
      </p:sp>
      <p:sp>
        <p:nvSpPr>
          <p:cNvPr id="3" name="직선 연결선 2">
            <a:extLst xmlns:a="http://schemas.openxmlformats.org/drawingml/2006/main">
              <a:ext uri="{FF2B5EF4-FFF2-40B4-BE49-F238E27FC236}">
                <a16:creationId xmlns:a16="http://schemas.microsoft.com/office/drawing/2014/main" id="{DE4D4146-6AE8-4228-882D-6F6A3AAC9EFA}"/>
              </a:ext>
            </a:extLst>
          </p:cNvPr>
          <p:cNvSpPr>
            <a:spLocks xmlns:a="http://schemas.openxmlformats.org/drawingml/2006/main" noGrp="1"/>
          </p:cNvSpPr>
          <p:nvPr/>
        </p:nvSpPr>
        <p:spPr>
          <a:xfrm xmlns:a="http://schemas.openxmlformats.org/drawingml/2006/main">
            <a:off x="762000" y="3181350"/>
            <a:ext cx="2381250" cy="0"/>
          </a:xfrm>
          <a:prstGeom xmlns:a="http://schemas.openxmlformats.org/drawingml/2006/main" prst="line">
            <a:avLst/>
          </a:prstGeom>
          <a:ln xmlns:a="http://schemas.openxmlformats.org/drawingml/2006/main" w="57150">
            <a:solidFill>
              <a:srgbClr val="14B8A6"/>
            </a:solidFill>
            <a:prstDash val="solid"/>
          </a:ln>
        </p:spPr>
      </p:sp>
      <p:sp>
        <p:nvSpPr>
          <p:cNvPr id="4" name="직사각형 3">
            <a:extLst xmlns:a="http://schemas.openxmlformats.org/drawingml/2006/main">
              <a:ext uri="{FF2B5EF4-FFF2-40B4-BE49-F238E27FC236}">
                <a16:creationId xmlns:a16="http://schemas.microsoft.com/office/drawing/2014/main" id="{C9D41D2C-A840-4F15-9093-5D90A0BE6194}"/>
              </a:ext>
            </a:extLst>
          </p:cNvPr>
          <p:cNvSpPr>
            <a:spLocks xmlns:a="http://schemas.openxmlformats.org/drawingml/2006/main" noGrp="1"/>
          </p:cNvSpPr>
          <p:nvPr/>
        </p:nvSpPr>
        <p:spPr>
          <a:xfrm xmlns:a="http://schemas.openxmlformats.org/drawingml/2006/main">
            <a:off x="762000" y="3476625"/>
            <a:ext cx="866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0" i="0">
                <a:solidFill>
                  <a:srgbClr val="DCE6F2"/>
                </a:solidFill>
                <a:latin typeface="Malgun Gothic"/>
                <a:ea typeface="Malgun Gothic"/>
                <a:cs typeface="Malgun Gothic"/>
              </a:defRPr>
            </a:pPr>
            <a:r>
              <a:rPr sz="1650" b="0" i="0">
                <a:solidFill>
                  <a:srgbClr val="DCE6F2"/>
                </a:solidFill>
                <a:latin typeface="Malgun Gothic"/>
                <a:ea typeface="Malgun Gothic"/>
                <a:cs typeface="Malgun Gothic"/>
              </a:rPr>
              <a:t>오석</a:t>
            </a:r>
            <a:r>
              <a:rPr sz="1650" b="0" i="0">
                <a:solidFill>
                  <a:srgbClr val="DCE6F2"/>
                </a:solidFill>
                <a:latin typeface="Malgun Gothic"/>
                <a:ea typeface="Malgun Gothic"/>
                <a:cs typeface="Malgun Gothic"/>
              </a:rPr>
              <a:t>, </a:t>
            </a:r>
            <a:r>
              <a:rPr sz="1650" b="0" i="0">
                <a:solidFill>
                  <a:srgbClr val="DCE6F2"/>
                </a:solidFill>
                <a:latin typeface="Malgun Gothic"/>
                <a:ea typeface="Malgun Gothic"/>
                <a:cs typeface="Malgun Gothic"/>
              </a:rPr>
              <a:t>정준영</a:t>
            </a:r>
            <a:r>
              <a:rPr sz="1650" b="0" i="0">
                <a:solidFill>
                  <a:srgbClr val="DCE6F2"/>
                </a:solidFill>
                <a:latin typeface="Malgun Gothic"/>
                <a:ea typeface="Malgun Gothic"/>
                <a:cs typeface="Malgun Gothic"/>
              </a:rPr>
              <a:t>, </a:t>
            </a:r>
            <a:r>
              <a:rPr sz="1650" b="0" i="0">
                <a:solidFill>
                  <a:srgbClr val="DCE6F2"/>
                </a:solidFill>
                <a:latin typeface="Malgun Gothic"/>
                <a:ea typeface="Malgun Gothic"/>
                <a:cs typeface="Malgun Gothic"/>
              </a:rPr>
              <a:t>김범영</a:t>
            </a:r>
            <a:r>
              <a:rPr sz="1650">
                <a:solidFill>
                  <a:srgbClr val="DCE6F2"/>
                </a:solidFill>
                <a:latin typeface="Malgun Gothic"/>
                <a:ea typeface="Malgun Gothic"/>
                <a:cs typeface="Malgun Gothic"/>
              </a:rPr>
              <a:t> </a:t>
            </a:r>
            <a:r>
              <a:rPr sz="1650">
                <a:solidFill>
                  <a:srgbClr val="DCE6F2"/>
                </a:solidFill>
                <a:latin typeface="Malgun Gothic"/>
                <a:ea typeface="Malgun Gothic"/>
                <a:cs typeface="Malgun Gothic"/>
              </a:rPr>
              <a:t>(</a:t>
            </a:r>
            <a:r>
              <a:rPr sz="1650">
                <a:solidFill>
                  <a:srgbClr val="DCE6F2"/>
                </a:solidFill>
                <a:latin typeface="Malgun Gothic"/>
                <a:ea typeface="Malgun Gothic"/>
                <a:cs typeface="Malgun Gothic"/>
              </a:rPr>
              <a:t>김정오</a:t>
            </a:r>
            <a:r>
              <a:rPr sz="1650">
                <a:solidFill>
                  <a:srgbClr val="DCE6F2"/>
                </a:solidFill>
                <a:latin typeface="Malgun Gothic"/>
                <a:ea typeface="Malgun Gothic"/>
                <a:cs typeface="Malgun Gothic"/>
              </a:rPr>
              <a:t> 팀</a:t>
            </a:r>
            <a:r>
              <a:rPr sz="1650">
                <a:solidFill>
                  <a:srgbClr val="DCE6F2"/>
                </a:solidFill>
                <a:latin typeface="Malgun Gothic"/>
                <a:ea typeface="Malgun Gothic"/>
                <a:cs typeface="Malgun Gothic"/>
              </a:rPr>
              <a:t>)</a:t>
            </a:r>
            <a:endParaRPr sz="1650" b="0" i="0">
              <a:solidFill>
                <a:srgbClr val="DCE6F2"/>
              </a:solidFill>
              <a:latin typeface="Malgun Gothic"/>
              <a:ea typeface="Malgun Gothic"/>
              <a:cs typeface="Malgun Gothic"/>
            </a:endParaRPr>
          </a:p>
        </p:txBody>
      </p:sp>
      <p:sp>
        <p:nvSpPr>
          <p:cNvPr id="5" name="직사각형 4">
            <a:extLst xmlns:a="http://schemas.openxmlformats.org/drawingml/2006/main">
              <a:ext uri="{FF2B5EF4-FFF2-40B4-BE49-F238E27FC236}">
                <a16:creationId xmlns:a16="http://schemas.microsoft.com/office/drawing/2014/main" id="{CA1DC95B-C7E8-431E-A5AF-1B1FD6DE6391}"/>
              </a:ext>
            </a:extLst>
          </p:cNvPr>
          <p:cNvSpPr>
            <a:spLocks xmlns:a="http://schemas.openxmlformats.org/drawingml/2006/main" noGrp="1"/>
          </p:cNvSpPr>
          <p:nvPr/>
        </p:nvSpPr>
        <p:spPr>
          <a:xfrm xmlns:a="http://schemas.openxmlformats.org/drawingml/2006/main">
            <a:off x="762000" y="57721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8FA2B9"/>
                </a:solidFill>
                <a:latin typeface="Malgun Gothic"/>
                <a:ea typeface="Malgun Gothic"/>
                <a:cs typeface="Malgun Gothic"/>
              </a:defRPr>
            </a:pPr>
            <a:r>
              <a:rPr sz="1350" b="0" i="0">
                <a:solidFill>
                  <a:srgbClr val="8FA2B9"/>
                </a:solidFill>
                <a:latin typeface="Malgun Gothic"/>
                <a:ea typeface="Malgun Gothic"/>
                <a:cs typeface="Malgun Gothic"/>
              </a:rPr>
              <a:t>팀 </a:t>
            </a:r>
            <a:r>
              <a:rPr sz="1350" b="0" i="0">
                <a:solidFill>
                  <a:srgbClr val="8FA2B9"/>
                </a:solidFill>
                <a:latin typeface="Malgun Gothic"/>
                <a:ea typeface="Malgun Gothic"/>
                <a:cs typeface="Malgun Gothic"/>
              </a:rPr>
              <a:t>프로젝트</a:t>
            </a:r>
            <a:r>
              <a:rPr sz="1350" b="0" i="0">
                <a:solidFill>
                  <a:srgbClr val="8FA2B9"/>
                </a:solidFill>
                <a:latin typeface="Malgun Gothic"/>
                <a:ea typeface="Malgun Gothic"/>
                <a:cs typeface="Malgun Gothic"/>
              </a:rPr>
              <a:t> </a:t>
            </a:r>
            <a:r>
              <a:rPr sz="1350" b="0" i="0">
                <a:solidFill>
                  <a:srgbClr val="8FA2B9"/>
                </a:solidFill>
                <a:latin typeface="Malgun Gothic"/>
                <a:ea typeface="Malgun Gothic"/>
                <a:cs typeface="Malgun Gothic"/>
              </a:rPr>
              <a:t>발표</a:t>
            </a:r>
            <a:endParaRPr sz="1350" b="0" i="0">
              <a:solidFill>
                <a:srgbClr val="8FA2B9"/>
              </a:solidFill>
              <a:latin typeface="Malgun Gothic"/>
              <a:ea typeface="Malgun Gothic"/>
              <a:cs typeface="Malgun Gothic"/>
            </a:endParaRPr>
          </a:p>
        </p:txBody>
      </p:sp>
    </p:spTree>
    <p:extLst>
      <p:ext uri="{BB962C8B-B14F-4D97-AF65-F5344CB8AC3E}">
        <p14:creationId xmlns:p14="http://schemas.microsoft.com/office/powerpoint/2010/main" val="227961498"/>
      </p:ext>
    </p:extLst>
  </p:cSld>
</p:sld>
</file>

<file path=ppt/slides/slide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C0341155-58B6-4494-8488-490A4663A74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프로젝트 요약</a:t>
            </a:r>
          </a:p>
        </p:txBody>
      </p:sp>
      <p:sp>
        <p:nvSpPr>
          <p:cNvPr id="2" name="직사각형 1">
            <a:extLst xmlns:a="http://schemas.openxmlformats.org/drawingml/2006/main">
              <a:ext uri="{FF2B5EF4-FFF2-40B4-BE49-F238E27FC236}">
                <a16:creationId xmlns:a16="http://schemas.microsoft.com/office/drawing/2014/main" id="{F4143ED8-32DC-40F6-BC24-86BB43786179}"/>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완료된 범위와 핵심 결론</a:t>
            </a:r>
          </a:p>
        </p:txBody>
      </p:sp>
      <p:sp>
        <p:nvSpPr>
          <p:cNvPr id="3" name="직선 연결선 2">
            <a:extLst xmlns:a="http://schemas.openxmlformats.org/drawingml/2006/main">
              <a:ext uri="{FF2B5EF4-FFF2-40B4-BE49-F238E27FC236}">
                <a16:creationId xmlns:a16="http://schemas.microsoft.com/office/drawing/2014/main" id="{B521F64A-13F5-46AE-9DE2-3597996FE41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C9BAB141-FAF9-4781-AF79-5A87C3EC7BAE}"/>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CAA93897-79F1-4AF6-8808-DEBBDEE88FFD}"/>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02</a:t>
            </a:r>
          </a:p>
        </p:txBody>
      </p:sp>
      <p:sp>
        <p:nvSpPr>
          <p:cNvPr id="6" name="직사각형 5">
            <a:extLst xmlns:a="http://schemas.openxmlformats.org/drawingml/2006/main">
              <a:ext uri="{FF2B5EF4-FFF2-40B4-BE49-F238E27FC236}">
                <a16:creationId xmlns:a16="http://schemas.microsoft.com/office/drawing/2014/main" id="{AFC34494-0738-4EBF-980E-E5088F5C2C56}"/>
              </a:ext>
            </a:extLst>
          </p:cNvPr>
          <p:cNvSpPr>
            <a:spLocks xmlns:a="http://schemas.openxmlformats.org/drawingml/2006/main" noGrp="1"/>
          </p:cNvSpPr>
          <p:nvPr/>
        </p:nvSpPr>
        <p:spPr>
          <a:xfrm xmlns:a="http://schemas.openxmlformats.org/drawingml/2006/main">
            <a:off x="1753722" y="17526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xmlns:a="http://schemas.openxmlformats.org/drawingml/2006/main">
              <a:ext uri="{FF2B5EF4-FFF2-40B4-BE49-F238E27FC236}">
                <a16:creationId xmlns:a16="http://schemas.microsoft.com/office/drawing/2014/main" id="{B560E00E-F5B6-4A99-8DEA-666D05E96C32}"/>
              </a:ext>
            </a:extLst>
          </p:cNvPr>
          <p:cNvSpPr>
            <a:spLocks xmlns:a="http://schemas.openxmlformats.org/drawingml/2006/main" noGrp="1"/>
          </p:cNvSpPr>
          <p:nvPr/>
        </p:nvSpPr>
        <p:spPr>
          <a:xfrm xmlns:a="http://schemas.openxmlformats.org/drawingml/2006/main">
            <a:off x="1753722" y="2381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전처리 완료 이미지</a:t>
            </a:r>
          </a:p>
        </p:txBody>
      </p:sp>
      <p:sp>
        <p:nvSpPr>
          <p:cNvPr id="8" name="직사각형 7">
            <a:extLst xmlns:a="http://schemas.openxmlformats.org/drawingml/2006/main">
              <a:ext uri="{FF2B5EF4-FFF2-40B4-BE49-F238E27FC236}">
                <a16:creationId xmlns:a16="http://schemas.microsoft.com/office/drawing/2014/main" id="{5DCA05AD-4CE9-440F-A6FC-834B342A443C}"/>
              </a:ext>
            </a:extLst>
          </p:cNvPr>
          <p:cNvSpPr>
            <a:spLocks xmlns:a="http://schemas.openxmlformats.org/drawingml/2006/main" noGrp="1"/>
          </p:cNvSpPr>
          <p:nvPr/>
        </p:nvSpPr>
        <p:spPr>
          <a:xfrm xmlns:a="http://schemas.openxmlformats.org/drawingml/2006/main">
            <a:off x="4951881" y="17526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83,308</a:t>
            </a:r>
          </a:p>
        </p:txBody>
      </p:sp>
      <p:sp>
        <p:nvSpPr>
          <p:cNvPr id="9" name="직사각형 8">
            <a:extLst xmlns:a="http://schemas.openxmlformats.org/drawingml/2006/main">
              <a:ext uri="{FF2B5EF4-FFF2-40B4-BE49-F238E27FC236}">
                <a16:creationId xmlns:a16="http://schemas.microsoft.com/office/drawing/2014/main" id="{726FAB5D-DE01-4555-8682-C7DA8EA329C1}"/>
              </a:ext>
            </a:extLst>
          </p:cNvPr>
          <p:cNvSpPr>
            <a:spLocks xmlns:a="http://schemas.openxmlformats.org/drawingml/2006/main" noGrp="1"/>
          </p:cNvSpPr>
          <p:nvPr/>
        </p:nvSpPr>
        <p:spPr>
          <a:xfrm xmlns:a="http://schemas.openxmlformats.org/drawingml/2006/main">
            <a:off x="4951881" y="23812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방향</a:t>
            </a:r>
            <a:r>
              <a:rPr sz="1500" b="0" i="0">
                <a:solidFill>
                  <a:srgbClr val="607086"/>
                </a:solidFill>
                <a:latin typeface="Malgun Gothic"/>
                <a:ea typeface="Malgun Gothic"/>
                <a:cs typeface="Malgun Gothic"/>
              </a:rPr>
              <a:t> </a:t>
            </a:r>
            <a:r>
              <a:rPr sz="1500" b="0" i="0">
                <a:solidFill>
                  <a:srgbClr val="607086"/>
                </a:solidFill>
                <a:latin typeface="Malgun Gothic"/>
                <a:ea typeface="Malgun Gothic"/>
                <a:cs typeface="Malgun Gothic"/>
              </a:rPr>
              <a:t>보정</a:t>
            </a:r>
            <a:endParaRPr sz="1500" b="0" i="0">
              <a:solidFill>
                <a:srgbClr val="607086"/>
              </a:solidFill>
              <a:latin typeface="Malgun Gothic"/>
              <a:ea typeface="Malgun Gothic"/>
              <a:cs typeface="Malgun Gothic"/>
            </a:endParaRPr>
          </a:p>
        </p:txBody>
      </p:sp>
      <p:sp>
        <p:nvSpPr>
          <p:cNvPr id="10" name="직사각형 9">
            <a:extLst xmlns:a="http://schemas.openxmlformats.org/drawingml/2006/main">
              <a:ext uri="{FF2B5EF4-FFF2-40B4-BE49-F238E27FC236}">
                <a16:creationId xmlns:a16="http://schemas.microsoft.com/office/drawing/2014/main" id="{5DE7D9AD-0A46-4C23-84BC-B87C5C2C798D}"/>
              </a:ext>
            </a:extLst>
          </p:cNvPr>
          <p:cNvSpPr>
            <a:spLocks xmlns:a="http://schemas.openxmlformats.org/drawingml/2006/main" noGrp="1"/>
          </p:cNvSpPr>
          <p:nvPr/>
        </p:nvSpPr>
        <p:spPr>
          <a:xfrm xmlns:a="http://schemas.openxmlformats.org/drawingml/2006/main">
            <a:off x="8150040" y="1752600"/>
            <a:ext cx="266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0.7357</a:t>
            </a:r>
          </a:p>
        </p:txBody>
      </p:sp>
      <p:sp>
        <p:nvSpPr>
          <p:cNvPr id="11" name="직사각형 10">
            <a:extLst xmlns:a="http://schemas.openxmlformats.org/drawingml/2006/main">
              <a:ext uri="{FF2B5EF4-FFF2-40B4-BE49-F238E27FC236}">
                <a16:creationId xmlns:a16="http://schemas.microsoft.com/office/drawing/2014/main" id="{A061B971-B19D-44AA-8EDB-F272661BC07C}"/>
              </a:ext>
            </a:extLst>
          </p:cNvPr>
          <p:cNvSpPr>
            <a:spLocks xmlns:a="http://schemas.openxmlformats.org/drawingml/2006/main" noGrp="1"/>
          </p:cNvSpPr>
          <p:nvPr/>
        </p:nvSpPr>
        <p:spPr>
          <a:xfrm xmlns:a="http://schemas.openxmlformats.org/drawingml/2006/main">
            <a:off x="8150040" y="2381250"/>
            <a:ext cx="266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최고 Validation Macro-F1</a:t>
            </a:r>
          </a:p>
        </p:txBody>
      </p:sp>
      <p:sp>
        <p:nvSpPr>
          <p:cNvPr id="14" name="직사각형 13">
            <a:extLst xmlns:a="http://schemas.openxmlformats.org/drawingml/2006/main">
              <a:ext uri="{FF2B5EF4-FFF2-40B4-BE49-F238E27FC236}">
                <a16:creationId xmlns:a16="http://schemas.microsoft.com/office/drawing/2014/main" id="{13E9696B-15BA-40C7-BA80-B1890029C04C}"/>
              </a:ext>
            </a:extLst>
          </p:cNvPr>
          <p:cNvSpPr>
            <a:spLocks xmlns:a="http://schemas.openxmlformats.org/drawingml/2006/main" noGrp="1"/>
          </p:cNvSpPr>
          <p:nvPr/>
        </p:nvSpPr>
        <p:spPr>
          <a:xfrm xmlns:a="http://schemas.openxmlformats.org/drawingml/2006/main">
            <a:off x="723900" y="35814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현재 구현 방향</a:t>
            </a:r>
          </a:p>
        </p:txBody>
      </p:sp>
      <p:sp>
        <p:nvSpPr>
          <p:cNvPr id="15" name="직사각형 14">
            <a:extLst xmlns:a="http://schemas.openxmlformats.org/drawingml/2006/main">
              <a:ext uri="{FF2B5EF4-FFF2-40B4-BE49-F238E27FC236}">
                <a16:creationId xmlns:a16="http://schemas.microsoft.com/office/drawing/2014/main" id="{283DB723-2064-43B1-8CEC-705763C27878}"/>
              </a:ext>
            </a:extLst>
          </p:cNvPr>
          <p:cNvSpPr>
            <a:spLocks xmlns:a="http://schemas.openxmlformats.org/drawingml/2006/main" noGrp="1"/>
          </p:cNvSpPr>
          <p:nvPr/>
        </p:nvSpPr>
        <p:spPr>
          <a:xfrm xmlns:a="http://schemas.openxmlformats.org/drawingml/2006/main">
            <a:off x="704850" y="4057650"/>
            <a:ext cx="10287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손상 JPEG 16장을 근거와 함께 제외하고 원본은 보존했다.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224×224 흑백 PNG로 입력 규격을 통일하고 라벨 좌표도 함께 변환했다.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세 모델 중 EfficientNet-B0가 Accuracy와 Macro-F1 모두 가장 높았다.</a:t>
            </a:r>
          </a:p>
          <a:p xmlns:a="http://schemas.openxmlformats.org/drawingml/2006/main">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웹캠 프로그램에서 세 모델을 선택 실행하고 비교 모드에서 예측과 지연 시간을 함께 표시한다.</a:t>
            </a:r>
          </a:p>
        </p:txBody>
      </p:sp>
    </p:spTree>
    <p:extLst>
      <p:ext uri="{BB962C8B-B14F-4D97-AF65-F5344CB8AC3E}">
        <p14:creationId xmlns:p14="http://schemas.microsoft.com/office/powerpoint/2010/main" val="2065617716"/>
      </p:ext>
    </p:extLst>
  </p:cSld>
</p:sld>
</file>

<file path=ppt/slides/slide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4" name="직사각형 23">
            <a:extLst xmlns:a="http://schemas.openxmlformats.org/drawingml/2006/main">
              <a:ext uri="{FF2B5EF4-FFF2-40B4-BE49-F238E27FC236}">
                <a16:creationId xmlns:a16="http://schemas.microsoft.com/office/drawing/2014/main" id="{56EC9D1B-61CE-45E9-95D1-84C2B4058312}"/>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전체 작업 과정</a:t>
            </a:r>
          </a:p>
        </p:txBody>
      </p:sp>
      <p:sp>
        <p:nvSpPr>
          <p:cNvPr id="2" name="직사각형 1">
            <a:extLst xmlns:a="http://schemas.openxmlformats.org/drawingml/2006/main">
              <a:ext uri="{FF2B5EF4-FFF2-40B4-BE49-F238E27FC236}">
                <a16:creationId xmlns:a16="http://schemas.microsoft.com/office/drawing/2014/main" id="{55754C8E-DEC0-4133-917B-B99D09D10151}"/>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수집부터 프로그램 적용 전 단계까지</a:t>
            </a:r>
          </a:p>
        </p:txBody>
      </p:sp>
      <p:sp>
        <p:nvSpPr>
          <p:cNvPr id="3" name="직선 연결선 2">
            <a:extLst xmlns:a="http://schemas.openxmlformats.org/drawingml/2006/main">
              <a:ext uri="{FF2B5EF4-FFF2-40B4-BE49-F238E27FC236}">
                <a16:creationId xmlns:a16="http://schemas.microsoft.com/office/drawing/2014/main" id="{0C69E740-15DE-4685-95FC-30B1A138C6ED}"/>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5E28D6AE-4BCE-427F-A336-021E747A6089}"/>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F4EDADE-7488-48BC-B473-B771C55253FF}"/>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03</a:t>
            </a:r>
          </a:p>
        </p:txBody>
      </p:sp>
      <p:sp>
        <p:nvSpPr>
          <p:cNvPr id="6" name="사각형: 둥근 모서리 5">
            <a:extLst xmlns:a="http://schemas.openxmlformats.org/drawingml/2006/main">
              <a:ext uri="{FF2B5EF4-FFF2-40B4-BE49-F238E27FC236}">
                <a16:creationId xmlns:a16="http://schemas.microsoft.com/office/drawing/2014/main" id="{2E263B98-493B-4388-B918-55407982B4DB}"/>
              </a:ext>
            </a:extLst>
          </p:cNvPr>
          <p:cNvSpPr>
            <a:spLocks xmlns:a="http://schemas.openxmlformats.org/drawingml/2006/main" noGrp="1"/>
          </p:cNvSpPr>
          <p:nvPr/>
        </p:nvSpPr>
        <p:spPr>
          <a:xfrm xmlns:a="http://schemas.openxmlformats.org/drawingml/2006/main">
            <a:off x="609600" y="2095500"/>
            <a:ext cx="1828800" cy="895350"/>
          </a:xfrm>
          <a:prstGeom xmlns:a="http://schemas.openxmlformats.org/drawingml/2006/main" prst="roundRect">
            <a:avLst>
              <a:gd name="adj" fmla="val 12766"/>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원본 JPG·JSON</a:t>
            </a:r>
          </a:p>
        </p:txBody>
      </p:sp>
      <p:sp>
        <p:nvSpPr>
          <p:cNvPr id="7" name="사각형: 둥근 모서리 6">
            <a:extLst xmlns:a="http://schemas.openxmlformats.org/drawingml/2006/main">
              <a:ext uri="{FF2B5EF4-FFF2-40B4-BE49-F238E27FC236}">
                <a16:creationId xmlns:a16="http://schemas.microsoft.com/office/drawing/2014/main" id="{13EE08D5-3B78-4357-8575-CA3D88A827E3}"/>
              </a:ext>
            </a:extLst>
          </p:cNvPr>
          <p:cNvSpPr>
            <a:spLocks xmlns:a="http://schemas.openxmlformats.org/drawingml/2006/main" noGrp="1"/>
          </p:cNvSpPr>
          <p:nvPr/>
        </p:nvSpPr>
        <p:spPr>
          <a:xfrm xmlns:a="http://schemas.openxmlformats.org/drawingml/2006/main">
            <a:off x="2895600" y="2095500"/>
            <a:ext cx="1828800" cy="895350"/>
          </a:xfrm>
          <a:prstGeom xmlns:a="http://schemas.openxmlformats.org/drawingml/2006/main" prst="roundRect">
            <a:avLst>
              <a:gd name="adj" fmla="val 12766"/>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EDA와 품질 점검</a:t>
            </a:r>
          </a:p>
        </p:txBody>
      </p:sp>
      <p:sp>
        <p:nvSpPr>
          <p:cNvPr id="8" name="사각형: 둥근 모서리 7">
            <a:extLst xmlns:a="http://schemas.openxmlformats.org/drawingml/2006/main">
              <a:ext uri="{FF2B5EF4-FFF2-40B4-BE49-F238E27FC236}">
                <a16:creationId xmlns:a16="http://schemas.microsoft.com/office/drawing/2014/main" id="{B37C1A81-B460-45AE-8B52-D565AFE016B0}"/>
              </a:ext>
            </a:extLst>
          </p:cNvPr>
          <p:cNvSpPr>
            <a:spLocks xmlns:a="http://schemas.openxmlformats.org/drawingml/2006/main" noGrp="1"/>
          </p:cNvSpPr>
          <p:nvPr/>
        </p:nvSpPr>
        <p:spPr>
          <a:xfrm xmlns:a="http://schemas.openxmlformats.org/drawingml/2006/main">
            <a:off x="5181600" y="2095500"/>
            <a:ext cx="1828800" cy="895350"/>
          </a:xfrm>
          <a:prstGeom xmlns:a="http://schemas.openxmlformats.org/drawingml/2006/main" prst="roundRect">
            <a:avLst>
              <a:gd name="adj" fmla="val 12766"/>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이미지·라벨</a:t>
            </a:r>
            <a:r>
              <a:rPr sz="1400" b="1">
                <a:solidFill>
                  <a:srgbClr val="122033"/>
                </a:solidFill>
                <a:latin typeface="Malgun Gothic"/>
                <a:ea typeface="Malgun Gothic"/>
                <a:cs typeface="Malgun Gothic"/>
              </a:rPr>
              <a:t> </a:t>
            </a:r>
            <a:r>
              <a:rPr sz="1400" b="1">
                <a:solidFill>
                  <a:srgbClr val="122033"/>
                </a:solidFill>
                <a:latin typeface="Malgun Gothic"/>
                <a:ea typeface="Malgun Gothic"/>
                <a:cs typeface="Malgun Gothic"/>
              </a:rPr>
              <a:t>전처리</a:t>
            </a:r>
            <a:endParaRPr sz="1400" b="1">
              <a:solidFill>
                <a:srgbClr val="122033"/>
              </a:solidFill>
              <a:latin typeface="Malgun Gothic"/>
              <a:ea typeface="Malgun Gothic"/>
              <a:cs typeface="Malgun Gothic"/>
            </a:endParaRPr>
          </a:p>
        </p:txBody>
      </p:sp>
      <p:sp>
        <p:nvSpPr>
          <p:cNvPr id="9" name="사각형: 둥근 모서리 8">
            <a:extLst xmlns:a="http://schemas.openxmlformats.org/drawingml/2006/main">
              <a:ext uri="{FF2B5EF4-FFF2-40B4-BE49-F238E27FC236}">
                <a16:creationId xmlns:a16="http://schemas.microsoft.com/office/drawing/2014/main" id="{312AAF76-CDFB-4873-9884-C41BB49111E3}"/>
              </a:ext>
            </a:extLst>
          </p:cNvPr>
          <p:cNvSpPr>
            <a:spLocks xmlns:a="http://schemas.openxmlformats.org/drawingml/2006/main" noGrp="1"/>
          </p:cNvSpPr>
          <p:nvPr/>
        </p:nvSpPr>
        <p:spPr>
          <a:xfrm xmlns:a="http://schemas.openxmlformats.org/drawingml/2006/main">
            <a:off x="7467600" y="2095500"/>
            <a:ext cx="1828800" cy="895350"/>
          </a:xfrm>
          <a:prstGeom xmlns:a="http://schemas.openxmlformats.org/drawingml/2006/main" prst="roundRect">
            <a:avLst>
              <a:gd name="adj" fmla="val 12766"/>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PyTorch GPU 학습</a:t>
            </a:r>
          </a:p>
        </p:txBody>
      </p:sp>
      <p:sp>
        <p:nvSpPr>
          <p:cNvPr id="10" name="사각형: 둥근 모서리 9">
            <a:extLst xmlns:a="http://schemas.openxmlformats.org/drawingml/2006/main">
              <a:ext uri="{FF2B5EF4-FFF2-40B4-BE49-F238E27FC236}">
                <a16:creationId xmlns:a16="http://schemas.microsoft.com/office/drawing/2014/main" id="{11C64B3A-7C94-4AC7-A083-ADA647D7772C}"/>
              </a:ext>
            </a:extLst>
          </p:cNvPr>
          <p:cNvSpPr>
            <a:spLocks xmlns:a="http://schemas.openxmlformats.org/drawingml/2006/main" noGrp="1"/>
          </p:cNvSpPr>
          <p:nvPr/>
        </p:nvSpPr>
        <p:spPr>
          <a:xfrm xmlns:a="http://schemas.openxmlformats.org/drawingml/2006/main">
            <a:off x="9753600" y="2095500"/>
            <a:ext cx="1828800" cy="895350"/>
          </a:xfrm>
          <a:prstGeom xmlns:a="http://schemas.openxmlformats.org/drawingml/2006/main" prst="roundRect">
            <a:avLst>
              <a:gd name="adj" fmla="val 12766"/>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비교·저장</a:t>
            </a:r>
          </a:p>
        </p:txBody>
      </p:sp>
      <p:cxnSp>
        <p:nvCxnSpPr>
          <p:cNvPr id="78" name="직선 화살표 연결선 33"/>
          <p:cNvCxnSpPr>
            <a:stCxn xmlns:a="http://schemas.openxmlformats.org/drawingml/2006/main" id="6" idx="3"/>
            <a:endCxn xmlns:a="http://schemas.openxmlformats.org/drawingml/2006/main" id="7" idx="1"/>
          </p:cNvCxnSpPr>
          <p:nvPr/>
        </p:nvCxnSpPr>
        <p:spPr>
          <a:xfrm xmlns:a="http://schemas.openxmlformats.org/drawingml/2006/main">
            <a:off x="2438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79" name="직선 화살표 연결선 34"/>
          <p:cNvCxnSpPr>
            <a:stCxn xmlns:a="http://schemas.openxmlformats.org/drawingml/2006/main" id="7" idx="3"/>
            <a:endCxn xmlns:a="http://schemas.openxmlformats.org/drawingml/2006/main" id="8" idx="1"/>
          </p:cNvCxnSpPr>
          <p:nvPr/>
        </p:nvCxnSpPr>
        <p:spPr>
          <a:xfrm xmlns:a="http://schemas.openxmlformats.org/drawingml/2006/main">
            <a:off x="4724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80" name="직선 화살표 연결선 35"/>
          <p:cNvCxnSpPr>
            <a:stCxn xmlns:a="http://schemas.openxmlformats.org/drawingml/2006/main" id="8" idx="3"/>
            <a:endCxn xmlns:a="http://schemas.openxmlformats.org/drawingml/2006/main" id="9" idx="1"/>
          </p:cNvCxnSpPr>
          <p:nvPr/>
        </p:nvCxnSpPr>
        <p:spPr>
          <a:xfrm xmlns:a="http://schemas.openxmlformats.org/drawingml/2006/main">
            <a:off x="7010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81" name="직선 화살표 연결선 36"/>
          <p:cNvCxnSpPr>
            <a:stCxn xmlns:a="http://schemas.openxmlformats.org/drawingml/2006/main" id="9" idx="3"/>
            <a:endCxn xmlns:a="http://schemas.openxmlformats.org/drawingml/2006/main" id="10" idx="1"/>
          </p:cNvCxnSpPr>
          <p:nvPr/>
        </p:nvCxnSpPr>
        <p:spPr>
          <a:xfrm xmlns:a="http://schemas.openxmlformats.org/drawingml/2006/main">
            <a:off x="9296400" y="254317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0B147B33-1228-4EE3-85ED-261131C71783}"/>
              </a:ext>
            </a:extLst>
          </p:cNvPr>
          <p:cNvSpPr>
            <a:spLocks xmlns:a="http://schemas.openxmlformats.org/drawingml/2006/main" noGrp="1"/>
          </p:cNvSpPr>
          <p:nvPr/>
        </p:nvSpPr>
        <p:spPr>
          <a:xfrm xmlns:a="http://schemas.openxmlformats.org/drawingml/2006/main">
            <a:off x="628650" y="39243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F97356"/>
                </a:solidFill>
                <a:latin typeface="Malgun Gothic"/>
                <a:ea typeface="Malgun Gothic"/>
                <a:cs typeface="Malgun Gothic"/>
              </a:defRPr>
            </a:pPr>
            <a:r>
              <a:rPr sz="2100" b="1" i="0">
                <a:solidFill>
                  <a:srgbClr val="F97356"/>
                </a:solidFill>
                <a:latin typeface="Malgun Gothic"/>
                <a:ea typeface="Malgun Gothic"/>
                <a:cs typeface="Malgun Gothic"/>
              </a:rPr>
              <a:t>다음 단계</a:t>
            </a:r>
          </a:p>
        </p:txBody>
      </p:sp>
      <p:sp>
        <p:nvSpPr>
          <p:cNvPr id="16" name="사각형: 둥근 모서리 15">
            <a:extLst xmlns:a="http://schemas.openxmlformats.org/drawingml/2006/main">
              <a:ext uri="{FF2B5EF4-FFF2-40B4-BE49-F238E27FC236}">
                <a16:creationId xmlns:a16="http://schemas.microsoft.com/office/drawing/2014/main" id="{E1FDFBBC-366A-492E-B034-0CE7538E22D8}"/>
              </a:ext>
            </a:extLst>
          </p:cNvPr>
          <p:cNvSpPr>
            <a:spLocks xmlns:a="http://schemas.openxmlformats.org/drawingml/2006/main" noGrp="1"/>
          </p:cNvSpPr>
          <p:nvPr/>
        </p:nvSpPr>
        <p:spPr>
          <a:xfrm xmlns:a="http://schemas.openxmlformats.org/drawingml/2006/main">
            <a:off x="2724150" y="3829050"/>
            <a:ext cx="1905000" cy="723900"/>
          </a:xfrm>
          <a:prstGeom xmlns:a="http://schemas.openxmlformats.org/drawingml/2006/main" prst="roundRect">
            <a:avLst>
              <a:gd name="adj" fmla="val 15789"/>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웹캠 프레임 입력</a:t>
            </a:r>
          </a:p>
        </p:txBody>
      </p:sp>
      <p:sp>
        <p:nvSpPr>
          <p:cNvPr id="17" name="사각형: 둥근 모서리 16">
            <a:extLst xmlns:a="http://schemas.openxmlformats.org/drawingml/2006/main">
              <a:ext uri="{FF2B5EF4-FFF2-40B4-BE49-F238E27FC236}">
                <a16:creationId xmlns:a16="http://schemas.microsoft.com/office/drawing/2014/main" id="{A9910972-B6A4-45E6-8827-5F6E85B139D8}"/>
              </a:ext>
            </a:extLst>
          </p:cNvPr>
          <p:cNvSpPr>
            <a:spLocks xmlns:a="http://schemas.openxmlformats.org/drawingml/2006/main" noGrp="1"/>
          </p:cNvSpPr>
          <p:nvPr/>
        </p:nvSpPr>
        <p:spPr>
          <a:xfrm xmlns:a="http://schemas.openxmlformats.org/drawingml/2006/main">
            <a:off x="5105400" y="3829050"/>
            <a:ext cx="2095500" cy="723900"/>
          </a:xfrm>
          <a:prstGeom xmlns:a="http://schemas.openxmlformats.org/drawingml/2006/main" prst="roundRect">
            <a:avLst>
              <a:gd name="adj" fmla="val 15789"/>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얼굴 검출·224 전처리</a:t>
            </a:r>
          </a:p>
        </p:txBody>
      </p:sp>
      <p:sp>
        <p:nvSpPr>
          <p:cNvPr id="18" name="사각형: 둥근 모서리 17">
            <a:extLst xmlns:a="http://schemas.openxmlformats.org/drawingml/2006/main">
              <a:ext uri="{FF2B5EF4-FFF2-40B4-BE49-F238E27FC236}">
                <a16:creationId xmlns:a16="http://schemas.microsoft.com/office/drawing/2014/main" id="{9EB4CE5C-8841-451B-B1B6-50182D653E81}"/>
              </a:ext>
            </a:extLst>
          </p:cNvPr>
          <p:cNvSpPr>
            <a:spLocks xmlns:a="http://schemas.openxmlformats.org/drawingml/2006/main" noGrp="1"/>
          </p:cNvSpPr>
          <p:nvPr/>
        </p:nvSpPr>
        <p:spPr>
          <a:xfrm xmlns:a="http://schemas.openxmlformats.org/drawingml/2006/main">
            <a:off x="7677150" y="3829050"/>
            <a:ext cx="1714500" cy="723900"/>
          </a:xfrm>
          <a:prstGeom xmlns:a="http://schemas.openxmlformats.org/drawingml/2006/main" prst="roundRect">
            <a:avLst>
              <a:gd name="adj" fmla="val 15789"/>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선택·비교</a:t>
            </a:r>
          </a:p>
        </p:txBody>
      </p:sp>
      <p:sp>
        <p:nvSpPr>
          <p:cNvPr id="19" name="사각형: 둥근 모서리 18">
            <a:extLst xmlns:a="http://schemas.openxmlformats.org/drawingml/2006/main">
              <a:ext uri="{FF2B5EF4-FFF2-40B4-BE49-F238E27FC236}">
                <a16:creationId xmlns:a16="http://schemas.microsoft.com/office/drawing/2014/main" id="{98CB3CAB-A392-42E5-9C1F-DBA4B2362EE6}"/>
              </a:ext>
            </a:extLst>
          </p:cNvPr>
          <p:cNvSpPr>
            <a:spLocks xmlns:a="http://schemas.openxmlformats.org/drawingml/2006/main" noGrp="1"/>
          </p:cNvSpPr>
          <p:nvPr/>
        </p:nvSpPr>
        <p:spPr>
          <a:xfrm xmlns:a="http://schemas.openxmlformats.org/drawingml/2006/main">
            <a:off x="9867900" y="3829050"/>
            <a:ext cx="1714500" cy="723900"/>
          </a:xfrm>
          <a:prstGeom xmlns:a="http://schemas.openxmlformats.org/drawingml/2006/main" prst="roundRect">
            <a:avLst>
              <a:gd name="adj" fmla="val 15789"/>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감정·확률 표시</a:t>
            </a:r>
          </a:p>
        </p:txBody>
      </p:sp>
      <p:cxnSp>
        <p:nvCxnSpPr>
          <p:cNvPr id="87" name="직선 화살표 연결선 42"/>
          <p:cNvCxnSpPr>
            <a:stCxn xmlns:a="http://schemas.openxmlformats.org/drawingml/2006/main" id="16" idx="3"/>
            <a:endCxn xmlns:a="http://schemas.openxmlformats.org/drawingml/2006/main" id="17" idx="1"/>
          </p:cNvCxnSpPr>
          <p:nvPr/>
        </p:nvCxnSpPr>
        <p:spPr>
          <a:xfrm xmlns:a="http://schemas.openxmlformats.org/drawingml/2006/main">
            <a:off x="462915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88" name="직선 화살표 연결선 43"/>
          <p:cNvCxnSpPr>
            <a:stCxn xmlns:a="http://schemas.openxmlformats.org/drawingml/2006/main" id="17" idx="3"/>
            <a:endCxn xmlns:a="http://schemas.openxmlformats.org/drawingml/2006/main" id="18" idx="1"/>
          </p:cNvCxnSpPr>
          <p:nvPr/>
        </p:nvCxnSpPr>
        <p:spPr>
          <a:xfrm xmlns:a="http://schemas.openxmlformats.org/drawingml/2006/main">
            <a:off x="720090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89" name="직선 화살표 연결선 44"/>
          <p:cNvCxnSpPr>
            <a:stCxn xmlns:a="http://schemas.openxmlformats.org/drawingml/2006/main" id="18" idx="3"/>
            <a:endCxn xmlns:a="http://schemas.openxmlformats.org/drawingml/2006/main" id="19" idx="1"/>
          </p:cNvCxnSpPr>
          <p:nvPr/>
        </p:nvCxnSpPr>
        <p:spPr>
          <a:xfrm xmlns:a="http://schemas.openxmlformats.org/drawingml/2006/main">
            <a:off x="9391650" y="41910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23" name="직사각형 22">
            <a:extLst xmlns:a="http://schemas.openxmlformats.org/drawingml/2006/main">
              <a:ext uri="{FF2B5EF4-FFF2-40B4-BE49-F238E27FC236}">
                <a16:creationId xmlns:a16="http://schemas.microsoft.com/office/drawing/2014/main" id="{C9332F34-5B57-4FC6-964F-2D308D67DA14}"/>
              </a:ext>
            </a:extLst>
          </p:cNvPr>
          <p:cNvSpPr>
            <a:spLocks xmlns:a="http://schemas.openxmlformats.org/drawingml/2006/main" noGrp="1"/>
          </p:cNvSpPr>
          <p:nvPr/>
        </p:nvSpPr>
        <p:spPr>
          <a:xfrm xmlns:a="http://schemas.openxmlformats.org/drawingml/2006/main">
            <a:off x="628650" y="51911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725" b="0" i="0">
                <a:solidFill>
                  <a:srgbClr val="607086"/>
                </a:solidFill>
                <a:latin typeface="Malgun Gothic"/>
                <a:ea typeface="Malgun Gothic"/>
                <a:cs typeface="Malgun Gothic"/>
              </a:defRPr>
            </a:pPr>
            <a:r>
              <a:rPr sz="1725" b="0" i="0">
                <a:solidFill>
                  <a:srgbClr val="607086"/>
                </a:solidFill>
                <a:latin typeface="Malgun Gothic"/>
                <a:ea typeface="Malgun Gothic"/>
                <a:cs typeface="Malgun Gothic"/>
              </a:rPr>
              <a:t>현재</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발표는</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모델</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비교와</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저장까지</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다루며</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뒤쪽</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슬라이드는</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프로그램</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구현</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결과를</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추가할</a:t>
            </a:r>
            <a:r>
              <a:rPr sz="1725" b="0" i="0">
                <a:solidFill>
                  <a:srgbClr val="607086"/>
                </a:solidFill>
                <a:latin typeface="Malgun Gothic"/>
                <a:ea typeface="Malgun Gothic"/>
                <a:cs typeface="Malgun Gothic"/>
              </a:rPr>
              <a:t> 수 </a:t>
            </a:r>
            <a:r>
              <a:rPr sz="1725" b="0" i="0">
                <a:solidFill>
                  <a:srgbClr val="607086"/>
                </a:solidFill>
                <a:latin typeface="Malgun Gothic"/>
                <a:ea typeface="Malgun Gothic"/>
                <a:cs typeface="Malgun Gothic"/>
              </a:rPr>
              <a:t>있게</a:t>
            </a:r>
            <a:r>
              <a:rPr sz="1725" b="0" i="0">
                <a:solidFill>
                  <a:srgbClr val="607086"/>
                </a:solidFill>
                <a:latin typeface="Malgun Gothic"/>
                <a:ea typeface="Malgun Gothic"/>
                <a:cs typeface="Malgun Gothic"/>
              </a:rPr>
              <a:t> </a:t>
            </a:r>
            <a:r>
              <a:rPr sz="1725" b="0" i="0">
                <a:solidFill>
                  <a:srgbClr val="607086"/>
                </a:solidFill>
                <a:latin typeface="Malgun Gothic"/>
                <a:ea typeface="Malgun Gothic"/>
                <a:cs typeface="Malgun Gothic"/>
              </a:rPr>
              <a:t>구성했다</a:t>
            </a:r>
            <a:r>
              <a:rPr sz="1725" b="0" i="0">
                <a:solidFill>
                  <a:srgbClr val="607086"/>
                </a:solidFill>
                <a:latin typeface="Malgun Gothic"/>
                <a:ea typeface="Malgun Gothic"/>
                <a:cs typeface="Malgun Gothic"/>
              </a:rPr>
              <a:t>.</a:t>
            </a:r>
          </a:p>
        </p:txBody>
      </p:sp>
    </p:spTree>
    <p:extLst>
      <p:ext uri="{BB962C8B-B14F-4D97-AF65-F5344CB8AC3E}">
        <p14:creationId xmlns:p14="http://schemas.microsoft.com/office/powerpoint/2010/main" val="1028046231"/>
      </p:ext>
    </p:extLst>
  </p:cSld>
</p:sld>
</file>

<file path=ppt/slides/slide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2629DBD7-D7D1-4A5C-A9F7-810EA6E6B73E}"/>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규모와 클래스 균형</a:t>
            </a:r>
          </a:p>
        </p:txBody>
      </p:sp>
      <p:sp>
        <p:nvSpPr>
          <p:cNvPr id="2" name="직사각형 1">
            <a:extLst xmlns:a="http://schemas.openxmlformats.org/drawingml/2006/main">
              <a:ext uri="{FF2B5EF4-FFF2-40B4-BE49-F238E27FC236}">
                <a16:creationId xmlns:a16="http://schemas.microsoft.com/office/drawing/2014/main" id="{B59256D3-9CD4-43D7-9FFF-ABF247C112B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전처리 성공 기준 275,688장</a:t>
            </a:r>
          </a:p>
        </p:txBody>
      </p:sp>
      <p:sp>
        <p:nvSpPr>
          <p:cNvPr id="3" name="직선 연결선 2">
            <a:extLst xmlns:a="http://schemas.openxmlformats.org/drawingml/2006/main">
              <a:ext uri="{FF2B5EF4-FFF2-40B4-BE49-F238E27FC236}">
                <a16:creationId xmlns:a16="http://schemas.microsoft.com/office/drawing/2014/main" id="{863E982B-8A56-4654-98BD-2681FACA8446}"/>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56B354D-F09C-4586-ADD4-D1D4197EE9AA}"/>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6DE2FDF-0520-4265-A6A1-305F643CC7F8}"/>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04</a:t>
            </a:r>
          </a:p>
        </p:txBody>
      </p:sp>
      <p:sp>
        <p:nvSpPr>
          <p:cNvPr id="7" name="직사각형 6">
            <a:extLst xmlns:a="http://schemas.openxmlformats.org/drawingml/2006/main">
              <a:ext uri="{FF2B5EF4-FFF2-40B4-BE49-F238E27FC236}">
                <a16:creationId xmlns:a16="http://schemas.microsoft.com/office/drawing/2014/main" id="{5A526025-02BF-4EC4-9292-01B2667C529E}"/>
              </a:ext>
            </a:extLst>
          </p:cNvPr>
          <p:cNvSpPr>
            <a:spLocks xmlns:a="http://schemas.openxmlformats.org/drawingml/2006/main" noGrp="1"/>
          </p:cNvSpPr>
          <p:nvPr/>
        </p:nvSpPr>
        <p:spPr>
          <a:xfrm xmlns:a="http://schemas.openxmlformats.org/drawingml/2006/main">
            <a:off x="8572500" y="20002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223,570</a:t>
            </a:r>
          </a:p>
        </p:txBody>
      </p:sp>
      <p:sp>
        <p:nvSpPr>
          <p:cNvPr id="8" name="직사각형 7">
            <a:extLst xmlns:a="http://schemas.openxmlformats.org/drawingml/2006/main">
              <a:ext uri="{FF2B5EF4-FFF2-40B4-BE49-F238E27FC236}">
                <a16:creationId xmlns:a16="http://schemas.microsoft.com/office/drawing/2014/main" id="{FEDBDB13-E767-4200-AE6B-DA2CECF06D46}"/>
              </a:ext>
            </a:extLst>
          </p:cNvPr>
          <p:cNvSpPr>
            <a:spLocks xmlns:a="http://schemas.openxmlformats.org/drawingml/2006/main" noGrp="1"/>
          </p:cNvSpPr>
          <p:nvPr/>
        </p:nvSpPr>
        <p:spPr>
          <a:xfrm xmlns:a="http://schemas.openxmlformats.org/drawingml/2006/main">
            <a:off x="8572500" y="26289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a:t>
            </a:r>
          </a:p>
        </p:txBody>
      </p:sp>
      <p:sp>
        <p:nvSpPr>
          <p:cNvPr id="9" name="직사각형 8">
            <a:extLst xmlns:a="http://schemas.openxmlformats.org/drawingml/2006/main">
              <a:ext uri="{FF2B5EF4-FFF2-40B4-BE49-F238E27FC236}">
                <a16:creationId xmlns:a16="http://schemas.microsoft.com/office/drawing/2014/main" id="{409444F8-A4A9-476E-9292-2EF922F66BF5}"/>
              </a:ext>
            </a:extLst>
          </p:cNvPr>
          <p:cNvSpPr>
            <a:spLocks xmlns:a="http://schemas.openxmlformats.org/drawingml/2006/main" noGrp="1"/>
          </p:cNvSpPr>
          <p:nvPr/>
        </p:nvSpPr>
        <p:spPr>
          <a:xfrm xmlns:a="http://schemas.openxmlformats.org/drawingml/2006/main">
            <a:off x="8572500" y="342900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52,118</a:t>
            </a:r>
          </a:p>
        </p:txBody>
      </p:sp>
      <p:sp>
        <p:nvSpPr>
          <p:cNvPr id="10" name="직사각형 9">
            <a:extLst xmlns:a="http://schemas.openxmlformats.org/drawingml/2006/main">
              <a:ext uri="{FF2B5EF4-FFF2-40B4-BE49-F238E27FC236}">
                <a16:creationId xmlns:a16="http://schemas.microsoft.com/office/drawing/2014/main" id="{5327152C-62FA-4541-8FE5-05C5DA4F9733}"/>
              </a:ext>
            </a:extLst>
          </p:cNvPr>
          <p:cNvSpPr>
            <a:spLocks xmlns:a="http://schemas.openxmlformats.org/drawingml/2006/main" noGrp="1"/>
          </p:cNvSpPr>
          <p:nvPr/>
        </p:nvSpPr>
        <p:spPr>
          <a:xfrm xmlns:a="http://schemas.openxmlformats.org/drawingml/2006/main">
            <a:off x="8572500" y="405765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Validation</a:t>
            </a:r>
          </a:p>
        </p:txBody>
      </p:sp>
      <p:sp>
        <p:nvSpPr>
          <p:cNvPr id="11" name="직사각형 10">
            <a:extLst xmlns:a="http://schemas.openxmlformats.org/drawingml/2006/main">
              <a:ext uri="{FF2B5EF4-FFF2-40B4-BE49-F238E27FC236}">
                <a16:creationId xmlns:a16="http://schemas.microsoft.com/office/drawing/2014/main" id="{57201500-0CB1-4FBA-9555-33AAA667F7DD}"/>
              </a:ext>
            </a:extLst>
          </p:cNvPr>
          <p:cNvSpPr>
            <a:spLocks xmlns:a="http://schemas.openxmlformats.org/drawingml/2006/main" noGrp="1"/>
          </p:cNvSpPr>
          <p:nvPr/>
        </p:nvSpPr>
        <p:spPr>
          <a:xfrm xmlns:a="http://schemas.openxmlformats.org/drawingml/2006/main">
            <a:off x="8572500" y="4953000"/>
            <a:ext cx="285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클래스</a:t>
            </a:r>
            <a:r>
              <a:rPr sz="1650" b="1" i="0">
                <a:solidFill>
                  <a:srgbClr val="122033"/>
                </a:solidFill>
                <a:latin typeface="Malgun Gothic"/>
                <a:ea typeface="Malgun Gothic"/>
                <a:cs typeface="Malgun Gothic"/>
              </a:rPr>
              <a:t> </a:t>
            </a:r>
            <a:r>
              <a:rPr sz="1650" b="1" i="0">
                <a:solidFill>
                  <a:srgbClr val="122033"/>
                </a:solidFill>
                <a:latin typeface="Malgun Gothic"/>
                <a:ea typeface="Malgun Gothic"/>
                <a:cs typeface="Malgun Gothic"/>
              </a:rPr>
              <a:t>비율</a:t>
            </a:r>
            <a:r>
              <a:rPr sz="1650" b="1" i="0">
                <a:solidFill>
                  <a:srgbClr val="122033"/>
                </a:solidFill>
                <a:latin typeface="Malgun Gothic"/>
                <a:ea typeface="Malgun Gothic"/>
                <a:cs typeface="Malgun Gothic"/>
              </a:rPr>
              <a:t> 14.13~14.35%</a:t>
            </a:r>
          </a:p>
        </p:txBody>
      </p:sp>
      <p:sp>
        <p:nvSpPr>
          <p:cNvPr id="12" name="직사각형 11">
            <a:extLst xmlns:a="http://schemas.openxmlformats.org/drawingml/2006/main">
              <a:ext uri="{FF2B5EF4-FFF2-40B4-BE49-F238E27FC236}">
                <a16:creationId xmlns:a16="http://schemas.microsoft.com/office/drawing/2014/main" id="{1ACAA6C0-8EBF-494C-A1D0-C765AB67E309}"/>
              </a:ext>
            </a:extLst>
          </p:cNvPr>
          <p:cNvSpPr>
            <a:spLocks xmlns:a="http://schemas.openxmlformats.org/drawingml/2006/main" noGrp="1"/>
          </p:cNvSpPr>
          <p:nvPr/>
        </p:nvSpPr>
        <p:spPr>
          <a:xfrm xmlns:a="http://schemas.openxmlformats.org/drawingml/2006/main">
            <a:off x="8572500" y="54102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오버샘플링 필요성 낮음</a:t>
            </a:r>
          </a:p>
        </p:txBody>
      </p:sp>
      <p:graphicFrame>
        <p:nvGraphicFramePr>
          <p:cNvPr id="26" name="Chart"/>
          <p:cNvGraphicFramePr/>
          <p:nvPr/>
        </p:nvGraphicFramePr>
        <p:xfrm>
          <a:off xmlns:a="http://schemas.openxmlformats.org/drawingml/2006/main" x="609600" y="1619250"/>
          <a:ext xmlns:a="http://schemas.openxmlformats.org/drawingml/2006/main" cx="7524750" cy="4000500"/>
        </p:xfrm>
        <a:graphic xmlns:a="http://schemas.openxmlformats.org/drawingml/2006/main">
          <a:graphicData uri="http://schemas.openxmlformats.org/drawingml/2006/chart">
            <c:chart xmlns:r="http://schemas.openxmlformats.org/officeDocument/2006/relationships" xmlns:c="http://schemas.openxmlformats.org/drawingml/2006/chart" r:id="R63eed598e7f746de"/>
          </a:graphicData>
        </a:graphic>
      </p:graphicFrame>
    </p:spTree>
    <p:extLst>
      <p:ext uri="{BB962C8B-B14F-4D97-AF65-F5344CB8AC3E}">
        <p14:creationId xmlns:p14="http://schemas.microsoft.com/office/powerpoint/2010/main" val="1778058334"/>
      </p:ext>
    </p:extLst>
  </p:cSld>
</p:sld>
</file>

<file path=ppt/slides/slide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48A02D74-FD0E-44A4-AAB3-14222DFF8F4E}"/>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EDA에서 확인한 품질 문제</a:t>
            </a:r>
          </a:p>
        </p:txBody>
      </p:sp>
      <p:sp>
        <p:nvSpPr>
          <p:cNvPr id="2" name="직사각형 1">
            <a:extLst xmlns:a="http://schemas.openxmlformats.org/drawingml/2006/main">
              <a:ext uri="{FF2B5EF4-FFF2-40B4-BE49-F238E27FC236}">
                <a16:creationId xmlns:a16="http://schemas.microsoft.com/office/drawing/2014/main" id="{22442A2E-86ED-49B1-85EC-7C74C57793D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정합성, 손상 파일, 방향 정보와 분할 중복</a:t>
            </a:r>
          </a:p>
        </p:txBody>
      </p:sp>
      <p:sp>
        <p:nvSpPr>
          <p:cNvPr id="3" name="직선 연결선 2">
            <a:extLst xmlns:a="http://schemas.openxmlformats.org/drawingml/2006/main">
              <a:ext uri="{FF2B5EF4-FFF2-40B4-BE49-F238E27FC236}">
                <a16:creationId xmlns:a16="http://schemas.microsoft.com/office/drawing/2014/main" id="{6234A63E-AEEC-4BDB-9FA1-E90BCA51DD5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0F75341A-F506-4D9C-9EE5-617D3F24E3A1}"/>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0D6C382-CA08-49C3-B63B-8FCB3D87FD9C}"/>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05</a:t>
            </a:r>
          </a:p>
        </p:txBody>
      </p:sp>
      <p:sp>
        <p:nvSpPr>
          <p:cNvPr id="6" name="직사각형 5">
            <a:extLst xmlns:a="http://schemas.openxmlformats.org/drawingml/2006/main">
              <a:ext uri="{FF2B5EF4-FFF2-40B4-BE49-F238E27FC236}">
                <a16:creationId xmlns:a16="http://schemas.microsoft.com/office/drawing/2014/main" id="{C0BADD82-5F6B-46FE-94F3-FB13E7BF09A4}"/>
              </a:ext>
            </a:extLst>
          </p:cNvPr>
          <p:cNvSpPr>
            <a:spLocks xmlns:a="http://schemas.openxmlformats.org/drawingml/2006/main" noGrp="1"/>
          </p:cNvSpPr>
          <p:nvPr/>
        </p:nvSpPr>
        <p:spPr>
          <a:xfrm xmlns:a="http://schemas.openxmlformats.org/drawingml/2006/main">
            <a:off x="7048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193,589</a:t>
            </a:r>
          </a:p>
        </p:txBody>
      </p:sp>
      <p:sp>
        <p:nvSpPr>
          <p:cNvPr id="7" name="직사각형 6">
            <a:extLst xmlns:a="http://schemas.openxmlformats.org/drawingml/2006/main">
              <a:ext uri="{FF2B5EF4-FFF2-40B4-BE49-F238E27FC236}">
                <a16:creationId xmlns:a16="http://schemas.microsoft.com/office/drawing/2014/main" id="{7285B3FB-3382-424B-BF35-20CFC9D991B0}"/>
              </a:ext>
            </a:extLst>
          </p:cNvPr>
          <p:cNvSpPr>
            <a:spLocks xmlns:a="http://schemas.openxmlformats.org/drawingml/2006/main" noGrp="1"/>
          </p:cNvSpPr>
          <p:nvPr/>
        </p:nvSpPr>
        <p:spPr>
          <a:xfrm xmlns:a="http://schemas.openxmlformats.org/drawingml/2006/main">
            <a:off x="7048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 원천 미보유</a:t>
            </a:r>
          </a:p>
        </p:txBody>
      </p:sp>
      <p:sp>
        <p:nvSpPr>
          <p:cNvPr id="8" name="직사각형 7">
            <a:extLst xmlns:a="http://schemas.openxmlformats.org/drawingml/2006/main">
              <a:ext uri="{FF2B5EF4-FFF2-40B4-BE49-F238E27FC236}">
                <a16:creationId xmlns:a16="http://schemas.microsoft.com/office/drawing/2014/main" id="{D060DD8F-B910-48A5-9744-D9E618983DD3}"/>
              </a:ext>
            </a:extLst>
          </p:cNvPr>
          <p:cNvSpPr>
            <a:spLocks xmlns:a="http://schemas.openxmlformats.org/drawingml/2006/main" noGrp="1"/>
          </p:cNvSpPr>
          <p:nvPr/>
        </p:nvSpPr>
        <p:spPr>
          <a:xfrm xmlns:a="http://schemas.openxmlformats.org/drawingml/2006/main">
            <a:off x="35623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16</a:t>
            </a:r>
          </a:p>
        </p:txBody>
      </p:sp>
      <p:sp>
        <p:nvSpPr>
          <p:cNvPr id="9" name="직사각형 8">
            <a:extLst xmlns:a="http://schemas.openxmlformats.org/drawingml/2006/main">
              <a:ext uri="{FF2B5EF4-FFF2-40B4-BE49-F238E27FC236}">
                <a16:creationId xmlns:a16="http://schemas.microsoft.com/office/drawing/2014/main" id="{64E41917-893C-4376-8FBF-70DBDE7DF483}"/>
              </a:ext>
            </a:extLst>
          </p:cNvPr>
          <p:cNvSpPr>
            <a:spLocks xmlns:a="http://schemas.openxmlformats.org/drawingml/2006/main" noGrp="1"/>
          </p:cNvSpPr>
          <p:nvPr/>
        </p:nvSpPr>
        <p:spPr>
          <a:xfrm xmlns:a="http://schemas.openxmlformats.org/drawingml/2006/main">
            <a:off x="35623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xmlns:a="http://schemas.openxmlformats.org/drawingml/2006/main">
              <a:ext uri="{FF2B5EF4-FFF2-40B4-BE49-F238E27FC236}">
                <a16:creationId xmlns:a16="http://schemas.microsoft.com/office/drawing/2014/main" id="{2B1713AA-EFAC-44F6-853F-C3CA4082193F}"/>
              </a:ext>
            </a:extLst>
          </p:cNvPr>
          <p:cNvSpPr>
            <a:spLocks xmlns:a="http://schemas.openxmlformats.org/drawingml/2006/main" noGrp="1"/>
          </p:cNvSpPr>
          <p:nvPr/>
        </p:nvSpPr>
        <p:spPr>
          <a:xfrm xmlns:a="http://schemas.openxmlformats.org/drawingml/2006/main">
            <a:off x="64198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4B740"/>
                </a:solidFill>
                <a:latin typeface="Malgun Gothic"/>
                <a:ea typeface="Malgun Gothic"/>
                <a:cs typeface="Malgun Gothic"/>
              </a:defRPr>
            </a:pPr>
            <a:r>
              <a:rPr sz="3600" b="1" i="0">
                <a:solidFill>
                  <a:srgbClr val="F4B740"/>
                </a:solidFill>
                <a:latin typeface="Malgun Gothic"/>
                <a:ea typeface="Malgun Gothic"/>
                <a:cs typeface="Malgun Gothic"/>
              </a:rPr>
              <a:t>528</a:t>
            </a:r>
          </a:p>
        </p:txBody>
      </p:sp>
      <p:sp>
        <p:nvSpPr>
          <p:cNvPr id="11" name="직사각형 10">
            <a:extLst xmlns:a="http://schemas.openxmlformats.org/drawingml/2006/main">
              <a:ext uri="{FF2B5EF4-FFF2-40B4-BE49-F238E27FC236}">
                <a16:creationId xmlns:a16="http://schemas.microsoft.com/office/drawing/2014/main" id="{FF9DD058-CB44-4143-A199-A9EF975A86E9}"/>
              </a:ext>
            </a:extLst>
          </p:cNvPr>
          <p:cNvSpPr>
            <a:spLocks xmlns:a="http://schemas.openxmlformats.org/drawingml/2006/main" noGrp="1"/>
          </p:cNvSpPr>
          <p:nvPr/>
        </p:nvSpPr>
        <p:spPr>
          <a:xfrm xmlns:a="http://schemas.openxmlformats.org/drawingml/2006/main">
            <a:off x="64198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분할 간 공통 식별자</a:t>
            </a:r>
          </a:p>
        </p:txBody>
      </p:sp>
      <p:sp>
        <p:nvSpPr>
          <p:cNvPr id="12" name="직사각형 11">
            <a:extLst xmlns:a="http://schemas.openxmlformats.org/drawingml/2006/main">
              <a:ext uri="{FF2B5EF4-FFF2-40B4-BE49-F238E27FC236}">
                <a16:creationId xmlns:a16="http://schemas.microsoft.com/office/drawing/2014/main" id="{D305C31B-3FC1-4D88-B725-E523902411D3}"/>
              </a:ext>
            </a:extLst>
          </p:cNvPr>
          <p:cNvSpPr>
            <a:spLocks xmlns:a="http://schemas.openxmlformats.org/drawingml/2006/main" noGrp="1"/>
          </p:cNvSpPr>
          <p:nvPr/>
        </p:nvSpPr>
        <p:spPr>
          <a:xfrm xmlns:a="http://schemas.openxmlformats.org/drawingml/2006/main">
            <a:off x="9277350" y="17335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83,308</a:t>
            </a:r>
          </a:p>
        </p:txBody>
      </p:sp>
      <p:sp>
        <p:nvSpPr>
          <p:cNvPr id="13" name="직사각형 12">
            <a:extLst xmlns:a="http://schemas.openxmlformats.org/drawingml/2006/main">
              <a:ext uri="{FF2B5EF4-FFF2-40B4-BE49-F238E27FC236}">
                <a16:creationId xmlns:a16="http://schemas.microsoft.com/office/drawing/2014/main" id="{285B8614-D243-4758-9D12-B3E5C319B9F6}"/>
              </a:ext>
            </a:extLst>
          </p:cNvPr>
          <p:cNvSpPr>
            <a:spLocks xmlns:a="http://schemas.openxmlformats.org/drawingml/2006/main" noGrp="1"/>
          </p:cNvSpPr>
          <p:nvPr/>
        </p:nvSpPr>
        <p:spPr>
          <a:xfrm xmlns:a="http://schemas.openxmlformats.org/drawingml/2006/main">
            <a:off x="9277350" y="23622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EXIF 방향 보정</a:t>
            </a:r>
          </a:p>
        </p:txBody>
      </p:sp>
      <p:sp>
        <p:nvSpPr>
          <p:cNvPr id="14" name="직사각형 13">
            <a:extLst xmlns:a="http://schemas.openxmlformats.org/drawingml/2006/main">
              <a:ext uri="{FF2B5EF4-FFF2-40B4-BE49-F238E27FC236}">
                <a16:creationId xmlns:a16="http://schemas.microsoft.com/office/drawing/2014/main" id="{A54A0C70-9DF9-405C-8B13-A453DF04336A}"/>
              </a:ext>
            </a:extLst>
          </p:cNvPr>
          <p:cNvSpPr>
            <a:spLocks xmlns:a="http://schemas.openxmlformats.org/drawingml/2006/main" noGrp="1"/>
          </p:cNvSpPr>
          <p:nvPr/>
        </p:nvSpPr>
        <p:spPr>
          <a:xfrm xmlns:a="http://schemas.openxmlformats.org/drawingml/2006/main">
            <a:off x="723900" y="3695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해석</a:t>
            </a:r>
          </a:p>
        </p:txBody>
      </p:sp>
      <p:sp>
        <p:nvSpPr>
          <p:cNvPr id="15" name="직사각형 14">
            <a:extLst xmlns:a="http://schemas.openxmlformats.org/drawingml/2006/main">
              <a:ext uri="{FF2B5EF4-FFF2-40B4-BE49-F238E27FC236}">
                <a16:creationId xmlns:a16="http://schemas.microsoft.com/office/drawing/2014/main" id="{39EFBCAF-13B9-4996-AF39-414FB5E83CA8}"/>
              </a:ext>
            </a:extLst>
          </p:cNvPr>
          <p:cNvSpPr>
            <a:spLocks xmlns:a="http://schemas.openxmlformats.org/drawingml/2006/main" noGrp="1"/>
          </p:cNvSpPr>
          <p:nvPr/>
        </p:nvSpPr>
        <p:spPr>
          <a:xfrm xmlns:a="http://schemas.openxmlformats.org/drawingml/2006/main">
            <a:off x="704850" y="4191000"/>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Training 라벨 중 193,589건은 전처리 전에 원천 JPG가 누락되어 있었다.</a:t>
            </a:r>
          </a:p>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공통 식별자가 개인이나 촬영 세션을 뜻한다면 현재 성능이 높게 측정됐을 수 있다.</a:t>
            </a:r>
          </a:p>
          <a:p xmlns:a="http://schemas.openxmlformats.org/drawingml/2006/main">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제공 Validation 결과와 별도로 식별자 기반 group split 검증이 필요하다.</a:t>
            </a:r>
          </a:p>
        </p:txBody>
      </p:sp>
    </p:spTree>
    <p:extLst>
      <p:ext uri="{BB962C8B-B14F-4D97-AF65-F5344CB8AC3E}">
        <p14:creationId xmlns:p14="http://schemas.microsoft.com/office/powerpoint/2010/main" val="83158688"/>
      </p:ext>
    </p:extLst>
  </p:cSld>
</p:sld>
</file>

<file path=ppt/slides/slide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E76DB245-714C-4ADF-9E3F-805CF7428B07}"/>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설계</a:t>
            </a:r>
          </a:p>
        </p:txBody>
      </p:sp>
      <p:sp>
        <p:nvSpPr>
          <p:cNvPr id="2" name="직사각형 1">
            <a:extLst xmlns:a="http://schemas.openxmlformats.org/drawingml/2006/main">
              <a:ext uri="{FF2B5EF4-FFF2-40B4-BE49-F238E27FC236}">
                <a16:creationId xmlns:a16="http://schemas.microsoft.com/office/drawing/2014/main" id="{13D5274B-2384-4D72-AFA6-4A663C0B5418}"/>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표정 형태를 보존하면서 세 모델의 입력 규격을 통일</a:t>
            </a:r>
          </a:p>
        </p:txBody>
      </p:sp>
      <p:sp>
        <p:nvSpPr>
          <p:cNvPr id="3" name="직선 연결선 2">
            <a:extLst xmlns:a="http://schemas.openxmlformats.org/drawingml/2006/main">
              <a:ext uri="{FF2B5EF4-FFF2-40B4-BE49-F238E27FC236}">
                <a16:creationId xmlns:a16="http://schemas.microsoft.com/office/drawing/2014/main" id="{B462598A-8319-4D78-918A-66042D40401F}"/>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7AD307A-CE44-4310-ACDD-124477361A67}"/>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1F0B08BC-5EEB-48A8-A20D-CCD90A28BE36}"/>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06</a:t>
            </a:r>
          </a:p>
        </p:txBody>
      </p:sp>
      <p:graphicFrame>
        <p:nvGraphicFramePr>
          <p:cNvPr id="15" name="표 12"/>
          <p:cNvGraphicFramePr/>
          <p:nvPr/>
        </p:nvGraphicFramePr>
        <p:xfrm>
          <a:off xmlns:a="http://schemas.openxmlformats.org/drawingml/2006/main" x="609600" y="1676400"/>
          <a:ext xmlns:a="http://schemas.openxmlformats.org/drawingml/2006/main" cx="10972800" cy="3905250"/>
        </p:xfrm>
        <a:graphic xmlns:a="http://schemas.openxmlformats.org/drawingml/2006/main">
          <a:graphicData uri="http://schemas.openxmlformats.org/drawingml/2006/table">
            <a:tbl>
              <a:tblPr/>
              <a:tblGrid>
                <a:gridCol w="1524000"/>
                <a:gridCol w="2190750"/>
                <a:gridCol w="4095750"/>
                <a:gridCol w="3162300"/>
              </a:tblGrid>
              <a:tr h="650875">
                <a:tc>
                  <a:txBody>
                    <a:bodyPr/>
                    <a:lstStyle/>
                    <a:p>
                      <a:pPr algn="l">
                        <a:buNone/>
                      </a:pPr>
                      <a:r>
                        <a:rPr sz="1500" b="1">
                          <a:solidFill>
                            <a:srgbClr val="FFFFFF"/>
                          </a:solidFill>
                          <a:latin typeface="Malgun Gothic"/>
                          <a:ea typeface="Malgun Gothic"/>
                          <a:cs typeface="Malgun Gothic"/>
                        </a:rPr>
                        <a:t>처리</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선택</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이유</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한계</a:t>
                      </a:r>
                    </a:p>
                  </a:txBody>
                  <a:tcPr marL="91440" marR="91440" marT="45720" marB="45720">
                    <a:solidFill>
                      <a:srgbClr val="0B1526"/>
                    </a:solidFill>
                  </a:tcPr>
                </a:tc>
              </a:tr>
              <a:tr h="650875">
                <a:tc>
                  <a:txBody>
                    <a:bodyPr/>
                    <a:lstStyle/>
                    <a:p>
                      <a:pPr algn="l">
                        <a:buNone/>
                      </a:pPr>
                      <a:r>
                        <a:rPr sz="1425" b="0">
                          <a:solidFill>
                            <a:srgbClr val="122033"/>
                          </a:solidFill>
                          <a:latin typeface="Malgun Gothic"/>
                          <a:ea typeface="Malgun Gothic"/>
                          <a:cs typeface="Malgun Gothic"/>
                        </a:rPr>
                        <a:t>입력 크기</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224×224</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사전학습 모델 호환성과 계산량</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미세 표정 축소 가능</a:t>
                      </a:r>
                    </a:p>
                  </a:txBody>
                  <a:tcPr marL="91440" marR="91440" marT="45720" marB="45720">
                    <a:solidFill>
                      <a:srgbClr val="FFFFFF"/>
                    </a:solidFill>
                  </a:tcPr>
                </a:tc>
              </a:tr>
              <a:tr h="650875">
                <a:tc>
                  <a:txBody>
                    <a:bodyPr/>
                    <a:lstStyle/>
                    <a:p>
                      <a:pPr algn="l">
                        <a:buNone/>
                      </a:pPr>
                      <a:r>
                        <a:rPr sz="1425" b="0">
                          <a:solidFill>
                            <a:srgbClr val="122033"/>
                          </a:solidFill>
                          <a:latin typeface="Malgun Gothic"/>
                          <a:ea typeface="Malgun Gothic"/>
                          <a:cs typeface="Malgun Gothic"/>
                        </a:rPr>
                        <a:t>방향</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EXIF 픽셀 보정</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옆·거꾸로 된 얼굴 방지</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잘못된 태그는 별도 확인</a:t>
                      </a:r>
                    </a:p>
                  </a:txBody>
                  <a:tcPr marL="91440" marR="91440" marT="45720" marB="45720">
                    <a:solidFill>
                      <a:srgbClr val="F7F8FA"/>
                    </a:solidFill>
                  </a:tcPr>
                </a:tc>
              </a:tr>
              <a:tr h="650875">
                <a:tc>
                  <a:txBody>
                    <a:bodyPr/>
                    <a:lstStyle/>
                    <a:p>
                      <a:pPr algn="l">
                        <a:buNone/>
                      </a:pPr>
                      <a:r>
                        <a:rPr sz="1425" b="0">
                          <a:solidFill>
                            <a:srgbClr val="122033"/>
                          </a:solidFill>
                          <a:latin typeface="Malgun Gothic"/>
                          <a:ea typeface="Malgun Gothic"/>
                          <a:cs typeface="Malgun Gothic"/>
                        </a:rPr>
                        <a:t>채널</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1채널 흑백</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형태·명암 집중, 저장량 감소</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색상 정보 손실</a:t>
                      </a:r>
                    </a:p>
                  </a:txBody>
                  <a:tcPr marL="91440" marR="91440" marT="45720" marB="45720">
                    <a:solidFill>
                      <a:srgbClr val="FFFFFF"/>
                    </a:solidFill>
                  </a:tcPr>
                </a:tc>
              </a:tr>
              <a:tr h="650875">
                <a:tc>
                  <a:txBody>
                    <a:bodyPr/>
                    <a:lstStyle/>
                    <a:p>
                      <a:pPr algn="l">
                        <a:buNone/>
                      </a:pPr>
                      <a:r>
                        <a:rPr sz="1425" b="0">
                          <a:solidFill>
                            <a:srgbClr val="122033"/>
                          </a:solidFill>
                          <a:latin typeface="Malgun Gothic"/>
                          <a:ea typeface="Malgun Gothic"/>
                          <a:cs typeface="Malgun Gothic"/>
                        </a:rPr>
                        <a:t>비율</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종횡비 유지+패딩</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얼굴 눌림과 늘어남 방지</a:t>
                      </a:r>
                    </a:p>
                  </a:txBody>
                  <a:tcPr marL="91440" marR="91440" marT="45720" marB="45720">
                    <a:solidFill>
                      <a:srgbClr val="F7F8FA"/>
                    </a:solidFill>
                  </a:tcPr>
                </a:tc>
                <a:tc>
                  <a:txBody>
                    <a:bodyPr/>
                    <a:lstStyle/>
                    <a:p>
                      <a:pPr algn="l">
                        <a:buNone/>
                      </a:pPr>
                      <a:r>
                        <a:rPr sz="1425" b="0">
                          <a:solidFill>
                            <a:srgbClr val="122033"/>
                          </a:solidFill>
                          <a:latin typeface="Malgun Gothic"/>
                          <a:ea typeface="Malgun Gothic"/>
                          <a:cs typeface="Malgun Gothic"/>
                        </a:rPr>
                        <a:t>검정 여백 발생</a:t>
                      </a:r>
                    </a:p>
                  </a:txBody>
                  <a:tcPr marL="91440" marR="91440" marT="45720" marB="45720">
                    <a:solidFill>
                      <a:srgbClr val="F7F8FA"/>
                    </a:solidFill>
                  </a:tcPr>
                </a:tc>
              </a:tr>
              <a:tr h="650875">
                <a:tc>
                  <a:txBody>
                    <a:bodyPr/>
                    <a:lstStyle/>
                    <a:p>
                      <a:pPr algn="l">
                        <a:buNone/>
                      </a:pPr>
                      <a:r>
                        <a:rPr sz="1425" b="0">
                          <a:solidFill>
                            <a:srgbClr val="122033"/>
                          </a:solidFill>
                          <a:latin typeface="Malgun Gothic"/>
                          <a:ea typeface="Malgun Gothic"/>
                          <a:cs typeface="Malgun Gothic"/>
                        </a:rPr>
                        <a:t>형식</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PNG</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재저장 손실 없이 입력 고정</a:t>
                      </a:r>
                    </a:p>
                  </a:txBody>
                  <a:tcPr marL="91440" marR="91440" marT="45720" marB="45720">
                    <a:solidFill>
                      <a:srgbClr val="FFFFFF"/>
                    </a:solidFill>
                  </a:tcPr>
                </a:tc>
                <a:tc>
                  <a:txBody>
                    <a:bodyPr/>
                    <a:lstStyle/>
                    <a:p>
                      <a:pPr algn="l">
                        <a:buNone/>
                      </a:pPr>
                      <a:r>
                        <a:rPr sz="1425" b="0">
                          <a:solidFill>
                            <a:srgbClr val="122033"/>
                          </a:solidFill>
                          <a:latin typeface="Malgun Gothic"/>
                          <a:ea typeface="Malgun Gothic"/>
                          <a:cs typeface="Malgun Gothic"/>
                        </a:rPr>
                        <a:t>파일 크기 증가 가능</a:t>
                      </a:r>
                    </a:p>
                  </a:txBody>
                  <a:tcPr marL="91440" marR="91440" marT="45720" marB="45720">
                    <a:solidFill>
                      <a:srgbClr val="FFFFFF"/>
                    </a:solidFill>
                  </a:tcPr>
                </a:tc>
              </a:tr>
            </a:tbl>
          </a:graphicData>
        </a:graphic>
      </p:graphicFrame>
      <p:sp>
        <p:nvSpPr>
          <p:cNvPr id="7" name="직사각형 6">
            <a:extLst xmlns:a="http://schemas.openxmlformats.org/drawingml/2006/main">
              <a:ext uri="{FF2B5EF4-FFF2-40B4-BE49-F238E27FC236}">
                <a16:creationId xmlns:a16="http://schemas.microsoft.com/office/drawing/2014/main" id="{8331E27D-653F-471C-A001-8AA620B8F207}"/>
              </a:ext>
            </a:extLst>
          </p:cNvPr>
          <p:cNvSpPr>
            <a:spLocks xmlns:a="http://schemas.openxmlformats.org/drawingml/2006/main" noGrp="1"/>
          </p:cNvSpPr>
          <p:nvPr/>
        </p:nvSpPr>
        <p:spPr>
          <a:xfrm xmlns:a="http://schemas.openxmlformats.org/drawingml/2006/main">
            <a:off x="628650" y="581025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ImageNet 사전학습 모델 입력에서는 흑백 값을 RGB 세 채널에 동일하게 복제한다.</a:t>
            </a:r>
          </a:p>
        </p:txBody>
      </p:sp>
    </p:spTree>
    <p:extLst>
      <p:ext uri="{BB962C8B-B14F-4D97-AF65-F5344CB8AC3E}">
        <p14:creationId xmlns:p14="http://schemas.microsoft.com/office/powerpoint/2010/main" val="1656105502"/>
      </p:ext>
    </p:extLst>
  </p:cSld>
</p:sld>
</file>

<file path=ppt/slides/slide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직사각형 11">
            <a:extLst xmlns:a="http://schemas.openxmlformats.org/drawingml/2006/main">
              <a:ext uri="{FF2B5EF4-FFF2-40B4-BE49-F238E27FC236}">
                <a16:creationId xmlns:a16="http://schemas.microsoft.com/office/drawing/2014/main" id="{12A7F9B9-5053-46A9-B71F-B22786C9642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이미지 변환 전후</a:t>
            </a:r>
          </a:p>
        </p:txBody>
      </p:sp>
      <p:sp>
        <p:nvSpPr>
          <p:cNvPr id="2" name="직사각형 1">
            <a:extLst xmlns:a="http://schemas.openxmlformats.org/drawingml/2006/main">
              <a:ext uri="{FF2B5EF4-FFF2-40B4-BE49-F238E27FC236}">
                <a16:creationId xmlns:a16="http://schemas.microsoft.com/office/drawing/2014/main" id="{3C3FC528-001C-4CAF-BB13-4E57046F7240}"/>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비율을 유지하고 검정 패딩으로 224×224 통일</a:t>
            </a:r>
          </a:p>
        </p:txBody>
      </p:sp>
      <p:sp>
        <p:nvSpPr>
          <p:cNvPr id="3" name="직선 연결선 2">
            <a:extLst xmlns:a="http://schemas.openxmlformats.org/drawingml/2006/main">
              <a:ext uri="{FF2B5EF4-FFF2-40B4-BE49-F238E27FC236}">
                <a16:creationId xmlns:a16="http://schemas.microsoft.com/office/drawing/2014/main" id="{0D1A2A7B-C69A-4E7A-893B-8914BF98178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1C828ACE-5687-413A-B63D-01CDD537233C}"/>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F327772C-48B5-4E76-9198-3C628F981840}"/>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07</a:t>
            </a:r>
          </a:p>
        </p:txBody>
      </p:sp>
      <p:sp>
        <p:nvSpPr>
          <p:cNvPr id="6" name="직사각형 5">
            <a:extLst xmlns:a="http://schemas.openxmlformats.org/drawingml/2006/main">
              <a:ext uri="{FF2B5EF4-FFF2-40B4-BE49-F238E27FC236}">
                <a16:creationId xmlns:a16="http://schemas.microsoft.com/office/drawing/2014/main" id="{C7024ADA-E37D-4C2F-B692-22043551F362}"/>
              </a:ext>
            </a:extLst>
          </p:cNvPr>
          <p:cNvSpPr>
            <a:spLocks xmlns:a="http://schemas.openxmlformats.org/drawingml/2006/main" noGrp="1"/>
          </p:cNvSpPr>
          <p:nvPr/>
        </p:nvSpPr>
        <p:spPr>
          <a:xfrm xmlns:a="http://schemas.openxmlformats.org/drawingml/2006/main">
            <a:off x="762000" y="156210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원본 JPG</a:t>
            </a:r>
          </a:p>
        </p:txBody>
      </p:sp>
      <p:pic>
        <p:nvPicPr>
          <p:cNvPr id="21" name="그림 17"/>
          <p:cNvPicPr>
            <a:picLocks xmlns:a="http://schemas.openxmlformats.org/drawingml/2006/main" noChangeAspect="1"/>
          </p:cNvPicPr>
          <p:nvPr/>
        </p:nvPicPr>
        <p:blipFill>
          <a:blip xmlns:r="http://schemas.openxmlformats.org/officeDocument/2006/relationships" xmlns:a="http://schemas.openxmlformats.org/drawingml/2006/main" r:embed="R1d17b62441fa45f4"/>
          <a:stretch xmlns:a="http://schemas.openxmlformats.org/drawingml/2006/main"/>
        </p:blipFill>
        <p:spPr>
          <a:xfrm xmlns:a="http://schemas.openxmlformats.org/drawingml/2006/main">
            <a:off x="904875" y="1981200"/>
            <a:ext cx="4572000" cy="3429000"/>
          </a:xfrm>
          <a:prstGeom xmlns:a="http://schemas.openxmlformats.org/drawingml/2006/main" prst="rect">
            <a:avLst/>
          </a:prstGeom>
        </p:spPr>
      </p:pic>
      <p:sp>
        <p:nvSpPr>
          <p:cNvPr id="8" name="직사각형 7">
            <a:extLst xmlns:a="http://schemas.openxmlformats.org/drawingml/2006/main">
              <a:ext uri="{FF2B5EF4-FFF2-40B4-BE49-F238E27FC236}">
                <a16:creationId xmlns:a16="http://schemas.microsoft.com/office/drawing/2014/main" id="{1417DE9E-0A25-4095-B266-ADAABD66A4F1}"/>
              </a:ext>
            </a:extLst>
          </p:cNvPr>
          <p:cNvSpPr>
            <a:spLocks xmlns:a="http://schemas.openxmlformats.org/drawingml/2006/main" noGrp="1"/>
          </p:cNvSpPr>
          <p:nvPr/>
        </p:nvSpPr>
        <p:spPr>
          <a:xfrm xmlns:a="http://schemas.openxmlformats.org/drawingml/2006/main">
            <a:off x="6629400" y="15621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전처리 PNG</a:t>
            </a:r>
          </a:p>
        </p:txBody>
      </p:sp>
      <p:pic>
        <p:nvPicPr>
          <p:cNvPr id="23" name="그림 19"/>
          <p:cNvPicPr>
            <a:picLocks xmlns:a="http://schemas.openxmlformats.org/drawingml/2006/main" noChangeAspect="1"/>
          </p:cNvPicPr>
          <p:nvPr/>
        </p:nvPicPr>
        <p:blipFill>
          <a:blip xmlns:r="http://schemas.openxmlformats.org/officeDocument/2006/relationships" xmlns:a="http://schemas.openxmlformats.org/drawingml/2006/main" r:embed="R0442415ef91344ce"/>
          <a:stretch xmlns:a="http://schemas.openxmlformats.org/drawingml/2006/main"/>
        </p:blipFill>
        <p:spPr>
          <a:xfrm xmlns:a="http://schemas.openxmlformats.org/drawingml/2006/main">
            <a:off x="6915150" y="1981200"/>
            <a:ext cx="3429000" cy="3429000"/>
          </a:xfrm>
          <a:prstGeom xmlns:a="http://schemas.openxmlformats.org/drawingml/2006/main" prst="rect">
            <a:avLst/>
          </a:prstGeom>
        </p:spPr>
      </p:pic>
      <p:sp>
        <p:nvSpPr>
          <p:cNvPr id="10" name="직사각형 9">
            <a:extLst xmlns:a="http://schemas.openxmlformats.org/drawingml/2006/main">
              <a:ext uri="{FF2B5EF4-FFF2-40B4-BE49-F238E27FC236}">
                <a16:creationId xmlns:a16="http://schemas.microsoft.com/office/drawing/2014/main" id="{01A6ACDA-3E66-48EA-AE8E-BD3C376752C3}"/>
              </a:ext>
            </a:extLst>
          </p:cNvPr>
          <p:cNvSpPr>
            <a:spLocks xmlns:a="http://schemas.openxmlformats.org/drawingml/2006/main" noGrp="1"/>
          </p:cNvSpPr>
          <p:nvPr/>
        </p:nvSpPr>
        <p:spPr>
          <a:xfrm xmlns:a="http://schemas.openxmlformats.org/drawingml/2006/main">
            <a:off x="762000" y="56197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고해상도 RGB</a:t>
            </a:r>
          </a:p>
        </p:txBody>
      </p:sp>
      <p:sp>
        <p:nvSpPr>
          <p:cNvPr id="11" name="직사각형 10">
            <a:extLst xmlns:a="http://schemas.openxmlformats.org/drawingml/2006/main">
              <a:ext uri="{FF2B5EF4-FFF2-40B4-BE49-F238E27FC236}">
                <a16:creationId xmlns:a16="http://schemas.microsoft.com/office/drawing/2014/main" id="{3C55ABD2-52FA-4E75-960F-03BF41795FF7}"/>
              </a:ext>
            </a:extLst>
          </p:cNvPr>
          <p:cNvSpPr>
            <a:spLocks xmlns:a="http://schemas.openxmlformats.org/drawingml/2006/main" noGrp="1"/>
          </p:cNvSpPr>
          <p:nvPr/>
        </p:nvSpPr>
        <p:spPr>
          <a:xfrm xmlns:a="http://schemas.openxmlformats.org/drawingml/2006/main">
            <a:off x="6629400" y="5619750"/>
            <a:ext cx="4000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224×224 · 흑백 · 방향 보정</a:t>
            </a:r>
          </a:p>
        </p:txBody>
      </p:sp>
    </p:spTree>
    <p:extLst>
      <p:ext uri="{BB962C8B-B14F-4D97-AF65-F5344CB8AC3E}">
        <p14:creationId xmlns:p14="http://schemas.microsoft.com/office/powerpoint/2010/main" val="1736462338"/>
      </p:ext>
    </p:extLst>
  </p:cSld>
</p:sld>
</file>

<file path=ppt/slides/slide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20" name="직사각형 19">
            <a:extLst xmlns:a="http://schemas.openxmlformats.org/drawingml/2006/main">
              <a:ext uri="{FF2B5EF4-FFF2-40B4-BE49-F238E27FC236}">
                <a16:creationId xmlns:a16="http://schemas.microsoft.com/office/drawing/2014/main" id="{3A9A6EB9-C8FC-4260-9FED-B01035C9398A}"/>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결과</a:t>
            </a:r>
          </a:p>
        </p:txBody>
      </p:sp>
      <p:sp>
        <p:nvSpPr>
          <p:cNvPr id="2" name="직사각형 1">
            <a:extLst xmlns:a="http://schemas.openxmlformats.org/drawingml/2006/main">
              <a:ext uri="{FF2B5EF4-FFF2-40B4-BE49-F238E27FC236}">
                <a16:creationId xmlns:a16="http://schemas.microsoft.com/office/drawing/2014/main" id="{BA56C209-9156-4D38-B76C-E0AEF10E87C1}"/>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중단 재실행과 오류 추적이 가능한 처리 구조</a:t>
            </a:r>
          </a:p>
        </p:txBody>
      </p:sp>
      <p:sp>
        <p:nvSpPr>
          <p:cNvPr id="3" name="직선 연결선 2">
            <a:extLst xmlns:a="http://schemas.openxmlformats.org/drawingml/2006/main">
              <a:ext uri="{FF2B5EF4-FFF2-40B4-BE49-F238E27FC236}">
                <a16:creationId xmlns:a16="http://schemas.microsoft.com/office/drawing/2014/main" id="{4E06A48A-0800-462A-A251-DEA0D1856E44}"/>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920552C9-3A2D-4746-A62E-6857A2AD4AD2}"/>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E7D7903-F3FE-4CBF-8D03-481B080BA1A5}"/>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08</a:t>
            </a:r>
          </a:p>
        </p:txBody>
      </p:sp>
      <p:sp>
        <p:nvSpPr>
          <p:cNvPr id="6" name="직사각형 5">
            <a:extLst xmlns:a="http://schemas.openxmlformats.org/drawingml/2006/main">
              <a:ext uri="{FF2B5EF4-FFF2-40B4-BE49-F238E27FC236}">
                <a16:creationId xmlns:a16="http://schemas.microsoft.com/office/drawing/2014/main" id="{9FF34967-0751-4E86-94AF-108A45521A32}"/>
              </a:ext>
            </a:extLst>
          </p:cNvPr>
          <p:cNvSpPr>
            <a:spLocks xmlns:a="http://schemas.openxmlformats.org/drawingml/2006/main" noGrp="1"/>
          </p:cNvSpPr>
          <p:nvPr/>
        </p:nvSpPr>
        <p:spPr>
          <a:xfrm xmlns:a="http://schemas.openxmlformats.org/drawingml/2006/main">
            <a:off x="723900" y="16954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xmlns:a="http://schemas.openxmlformats.org/drawingml/2006/main">
              <a:ext uri="{FF2B5EF4-FFF2-40B4-BE49-F238E27FC236}">
                <a16:creationId xmlns:a16="http://schemas.microsoft.com/office/drawing/2014/main" id="{B894593B-B61D-43A2-B120-326AA9C592D6}"/>
              </a:ext>
            </a:extLst>
          </p:cNvPr>
          <p:cNvSpPr>
            <a:spLocks xmlns:a="http://schemas.openxmlformats.org/drawingml/2006/main" noGrp="1"/>
          </p:cNvSpPr>
          <p:nvPr/>
        </p:nvSpPr>
        <p:spPr>
          <a:xfrm xmlns:a="http://schemas.openxmlformats.org/drawingml/2006/main">
            <a:off x="723900" y="23241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성공 이미지</a:t>
            </a:r>
          </a:p>
        </p:txBody>
      </p:sp>
      <p:sp>
        <p:nvSpPr>
          <p:cNvPr id="8" name="직사각형 7">
            <a:extLst xmlns:a="http://schemas.openxmlformats.org/drawingml/2006/main">
              <a:ext uri="{FF2B5EF4-FFF2-40B4-BE49-F238E27FC236}">
                <a16:creationId xmlns:a16="http://schemas.microsoft.com/office/drawing/2014/main" id="{9E899BCC-1E74-4D42-ACB4-C410AB11ACF6}"/>
              </a:ext>
            </a:extLst>
          </p:cNvPr>
          <p:cNvSpPr>
            <a:spLocks xmlns:a="http://schemas.openxmlformats.org/drawingml/2006/main" noGrp="1"/>
          </p:cNvSpPr>
          <p:nvPr/>
        </p:nvSpPr>
        <p:spPr>
          <a:xfrm xmlns:a="http://schemas.openxmlformats.org/drawingml/2006/main">
            <a:off x="3371850" y="1695450"/>
            <a:ext cx="2000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16</a:t>
            </a:r>
          </a:p>
        </p:txBody>
      </p:sp>
      <p:sp>
        <p:nvSpPr>
          <p:cNvPr id="9" name="직사각형 8">
            <a:extLst xmlns:a="http://schemas.openxmlformats.org/drawingml/2006/main">
              <a:ext uri="{FF2B5EF4-FFF2-40B4-BE49-F238E27FC236}">
                <a16:creationId xmlns:a16="http://schemas.microsoft.com/office/drawing/2014/main" id="{C9EB62C6-09AB-496B-92EB-657769EBD9C7}"/>
              </a:ext>
            </a:extLst>
          </p:cNvPr>
          <p:cNvSpPr>
            <a:spLocks xmlns:a="http://schemas.openxmlformats.org/drawingml/2006/main" noGrp="1"/>
          </p:cNvSpPr>
          <p:nvPr/>
        </p:nvSpPr>
        <p:spPr>
          <a:xfrm xmlns:a="http://schemas.openxmlformats.org/drawingml/2006/main">
            <a:off x="3371850" y="2324100"/>
            <a:ext cx="2000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xmlns:a="http://schemas.openxmlformats.org/drawingml/2006/main">
              <a:ext uri="{FF2B5EF4-FFF2-40B4-BE49-F238E27FC236}">
                <a16:creationId xmlns:a16="http://schemas.microsoft.com/office/drawing/2014/main" id="{527CE578-DFC2-45BA-B19F-6ABD9831764C}"/>
              </a:ext>
            </a:extLst>
          </p:cNvPr>
          <p:cNvSpPr>
            <a:spLocks xmlns:a="http://schemas.openxmlformats.org/drawingml/2006/main" noGrp="1"/>
          </p:cNvSpPr>
          <p:nvPr/>
        </p:nvSpPr>
        <p:spPr>
          <a:xfrm xmlns:a="http://schemas.openxmlformats.org/drawingml/2006/main">
            <a:off x="5962650" y="1695450"/>
            <a:ext cx="2286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827,064</a:t>
            </a:r>
          </a:p>
        </p:txBody>
      </p:sp>
      <p:sp>
        <p:nvSpPr>
          <p:cNvPr id="11" name="직사각형 10">
            <a:extLst xmlns:a="http://schemas.openxmlformats.org/drawingml/2006/main">
              <a:ext uri="{FF2B5EF4-FFF2-40B4-BE49-F238E27FC236}">
                <a16:creationId xmlns:a16="http://schemas.microsoft.com/office/drawing/2014/main" id="{98C6DBEB-59FF-44B4-BDA5-9080D431F639}"/>
              </a:ext>
            </a:extLst>
          </p:cNvPr>
          <p:cNvSpPr>
            <a:spLocks xmlns:a="http://schemas.openxmlformats.org/drawingml/2006/main" noGrp="1"/>
          </p:cNvSpPr>
          <p:nvPr/>
        </p:nvSpPr>
        <p:spPr>
          <a:xfrm xmlns:a="http://schemas.openxmlformats.org/drawingml/2006/main">
            <a:off x="5962650" y="2324100"/>
            <a:ext cx="2286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변환 얼굴 박스</a:t>
            </a:r>
          </a:p>
        </p:txBody>
      </p:sp>
      <p:sp>
        <p:nvSpPr>
          <p:cNvPr id="12" name="직사각형 11">
            <a:extLst xmlns:a="http://schemas.openxmlformats.org/drawingml/2006/main">
              <a:ext uri="{FF2B5EF4-FFF2-40B4-BE49-F238E27FC236}">
                <a16:creationId xmlns:a16="http://schemas.microsoft.com/office/drawing/2014/main" id="{489E0539-3B2A-4255-8E8D-F02470E392D5}"/>
              </a:ext>
            </a:extLst>
          </p:cNvPr>
          <p:cNvSpPr>
            <a:spLocks xmlns:a="http://schemas.openxmlformats.org/drawingml/2006/main" noGrp="1"/>
          </p:cNvSpPr>
          <p:nvPr/>
        </p:nvSpPr>
        <p:spPr>
          <a:xfrm xmlns:a="http://schemas.openxmlformats.org/drawingml/2006/main">
            <a:off x="8896350" y="1695450"/>
            <a:ext cx="238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1:35:35</a:t>
            </a:r>
          </a:p>
        </p:txBody>
      </p:sp>
      <p:sp>
        <p:nvSpPr>
          <p:cNvPr id="13" name="직사각형 12">
            <a:extLst xmlns:a="http://schemas.openxmlformats.org/drawingml/2006/main">
              <a:ext uri="{FF2B5EF4-FFF2-40B4-BE49-F238E27FC236}">
                <a16:creationId xmlns:a16="http://schemas.microsoft.com/office/drawing/2014/main" id="{B7594180-AB34-412B-8D80-82DC495EBADC}"/>
              </a:ext>
            </a:extLst>
          </p:cNvPr>
          <p:cNvSpPr>
            <a:spLocks xmlns:a="http://schemas.openxmlformats.org/drawingml/2006/main" noGrp="1"/>
          </p:cNvSpPr>
          <p:nvPr/>
        </p:nvSpPr>
        <p:spPr>
          <a:xfrm xmlns:a="http://schemas.openxmlformats.org/drawingml/2006/main">
            <a:off x="8896350" y="2324100"/>
            <a:ext cx="2381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전체 처리 시간</a:t>
            </a:r>
          </a:p>
        </p:txBody>
      </p:sp>
      <p:sp>
        <p:nvSpPr>
          <p:cNvPr id="14" name="직선 연결선 13">
            <a:extLst xmlns:a="http://schemas.openxmlformats.org/drawingml/2006/main">
              <a:ext uri="{FF2B5EF4-FFF2-40B4-BE49-F238E27FC236}">
                <a16:creationId xmlns:a16="http://schemas.microsoft.com/office/drawing/2014/main" id="{F6E24918-A80D-4084-A4D4-9FD89F4D46C4}"/>
              </a:ext>
            </a:extLst>
          </p:cNvPr>
          <p:cNvSpPr>
            <a:spLocks xmlns:a="http://schemas.openxmlformats.org/drawingml/2006/main" noGrp="1"/>
          </p:cNvSpPr>
          <p:nvPr/>
        </p:nvSpPr>
        <p:spPr>
          <a:xfrm xmlns:a="http://schemas.openxmlformats.org/drawingml/2006/main">
            <a:off x="723900" y="3390900"/>
            <a:ext cx="10553700" cy="0"/>
          </a:xfrm>
          <a:prstGeom xmlns:a="http://schemas.openxmlformats.org/drawingml/2006/main" prst="line">
            <a:avLst/>
          </a:prstGeom>
          <a:ln xmlns:a="http://schemas.openxmlformats.org/drawingml/2006/main" w="9525">
            <a:solidFill>
              <a:srgbClr val="D9E0E8"/>
            </a:solidFill>
            <a:prstDash val="solid"/>
          </a:ln>
        </p:spPr>
      </p:sp>
      <p:sp>
        <p:nvSpPr>
          <p:cNvPr id="15" name="직사각형 14">
            <a:extLst xmlns:a="http://schemas.openxmlformats.org/drawingml/2006/main">
              <a:ext uri="{FF2B5EF4-FFF2-40B4-BE49-F238E27FC236}">
                <a16:creationId xmlns:a16="http://schemas.microsoft.com/office/drawing/2014/main" id="{7D9EF933-54B8-4348-9861-5923FA1752C5}"/>
              </a:ext>
            </a:extLst>
          </p:cNvPr>
          <p:cNvSpPr>
            <a:spLocks xmlns:a="http://schemas.openxmlformats.org/drawingml/2006/main" noGrp="1"/>
          </p:cNvSpPr>
          <p:nvPr/>
        </p:nvSpPr>
        <p:spPr>
          <a:xfrm xmlns:a="http://schemas.openxmlformats.org/drawingml/2006/main">
            <a:off x="857250" y="3905250"/>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000" b="1" i="0">
                <a:solidFill>
                  <a:srgbClr val="607086"/>
                </a:solidFill>
                <a:latin typeface="Malgun Gothic"/>
                <a:ea typeface="Malgun Gothic"/>
                <a:cs typeface="Malgun Gothic"/>
              </a:defRPr>
            </a:pPr>
            <a:r>
              <a:rPr sz="3000" b="1" i="0">
                <a:solidFill>
                  <a:srgbClr val="607086"/>
                </a:solidFill>
                <a:latin typeface="Malgun Gothic"/>
                <a:ea typeface="Malgun Gothic"/>
                <a:cs typeface="Malgun Gothic"/>
              </a:rPr>
              <a:t>513.40 GiB</a:t>
            </a:r>
          </a:p>
        </p:txBody>
      </p:sp>
      <p:sp>
        <p:nvSpPr>
          <p:cNvPr id="16" name="직사각형 15">
            <a:extLst xmlns:a="http://schemas.openxmlformats.org/drawingml/2006/main">
              <a:ext uri="{FF2B5EF4-FFF2-40B4-BE49-F238E27FC236}">
                <a16:creationId xmlns:a16="http://schemas.microsoft.com/office/drawing/2014/main" id="{9236B35D-BF81-44BD-BA0F-E8DDD1701530}"/>
              </a:ext>
            </a:extLst>
          </p:cNvPr>
          <p:cNvSpPr>
            <a:spLocks xmlns:a="http://schemas.openxmlformats.org/drawingml/2006/main" noGrp="1"/>
          </p:cNvSpPr>
          <p:nvPr/>
        </p:nvSpPr>
        <p:spPr>
          <a:xfrm xmlns:a="http://schemas.openxmlformats.org/drawingml/2006/main">
            <a:off x="8286750" y="3905250"/>
            <a:ext cx="2476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3000" b="1" i="0">
                <a:solidFill>
                  <a:srgbClr val="258C6B"/>
                </a:solidFill>
                <a:latin typeface="Malgun Gothic"/>
                <a:ea typeface="Malgun Gothic"/>
                <a:cs typeface="Malgun Gothic"/>
              </a:defRPr>
            </a:pPr>
            <a:r>
              <a:rPr sz="3000" b="1" i="0">
                <a:solidFill>
                  <a:srgbClr val="258C6B"/>
                </a:solidFill>
                <a:latin typeface="Malgun Gothic"/>
                <a:ea typeface="Malgun Gothic"/>
                <a:cs typeface="Malgun Gothic"/>
              </a:rPr>
              <a:t>12.85 GiB</a:t>
            </a:r>
          </a:p>
        </p:txBody>
      </p:sp>
      <p:sp>
        <p:nvSpPr>
          <p:cNvPr id="17" name="직선 연결선 16">
            <a:extLst xmlns:a="http://schemas.openxmlformats.org/drawingml/2006/main">
              <a:ext uri="{FF2B5EF4-FFF2-40B4-BE49-F238E27FC236}">
                <a16:creationId xmlns:a16="http://schemas.microsoft.com/office/drawing/2014/main" id="{C1C81A80-7A66-48F3-81A5-DE9101957F9A}"/>
              </a:ext>
            </a:extLst>
          </p:cNvPr>
          <p:cNvSpPr>
            <a:spLocks xmlns:a="http://schemas.openxmlformats.org/drawingml/2006/main" noGrp="1"/>
          </p:cNvSpPr>
          <p:nvPr/>
        </p:nvSpPr>
        <p:spPr>
          <a:xfrm xmlns:a="http://schemas.openxmlformats.org/drawingml/2006/main">
            <a:off x="3333750" y="4191000"/>
            <a:ext cx="4762500" cy="0"/>
          </a:xfrm>
          <a:prstGeom xmlns:a="http://schemas.openxmlformats.org/drawingml/2006/main" prst="line">
            <a:avLst/>
          </a:prstGeom>
          <a:ln xmlns:a="http://schemas.openxmlformats.org/drawingml/2006/main" w="76200">
            <a:solidFill>
              <a:srgbClr val="258C6B"/>
            </a:solidFill>
            <a:prstDash val="solid"/>
          </a:ln>
        </p:spPr>
      </p:sp>
      <p:sp>
        <p:nvSpPr>
          <p:cNvPr id="18" name="직사각형 17">
            <a:extLst xmlns:a="http://schemas.openxmlformats.org/drawingml/2006/main">
              <a:ext uri="{FF2B5EF4-FFF2-40B4-BE49-F238E27FC236}">
                <a16:creationId xmlns:a16="http://schemas.microsoft.com/office/drawing/2014/main" id="{6F11D5F3-DAF4-48AE-8113-AC20A405FCDD}"/>
              </a:ext>
            </a:extLst>
          </p:cNvPr>
          <p:cNvSpPr>
            <a:spLocks xmlns:a="http://schemas.openxmlformats.org/drawingml/2006/main" noGrp="1"/>
          </p:cNvSpPr>
          <p:nvPr/>
        </p:nvSpPr>
        <p:spPr>
          <a:xfrm xmlns:a="http://schemas.openxmlformats.org/drawingml/2006/main">
            <a:off x="3810000" y="4533900"/>
            <a:ext cx="3810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875" b="1" i="0">
                <a:solidFill>
                  <a:srgbClr val="258C6B"/>
                </a:solidFill>
                <a:latin typeface="Malgun Gothic"/>
                <a:ea typeface="Malgun Gothic"/>
                <a:cs typeface="Malgun Gothic"/>
              </a:defRPr>
            </a:pPr>
            <a:r>
              <a:rPr sz="1875" b="1" i="0">
                <a:solidFill>
                  <a:srgbClr val="258C6B"/>
                </a:solidFill>
                <a:latin typeface="Malgun Gothic"/>
                <a:ea typeface="Malgun Gothic"/>
                <a:cs typeface="Malgun Gothic"/>
              </a:rPr>
              <a:t>이미지 저장 용량 97.50% 감소</a:t>
            </a:r>
          </a:p>
        </p:txBody>
      </p:sp>
      <p:sp>
        <p:nvSpPr>
          <p:cNvPr id="19" name="직사각형 18">
            <a:extLst xmlns:a="http://schemas.openxmlformats.org/drawingml/2006/main">
              <a:ext uri="{FF2B5EF4-FFF2-40B4-BE49-F238E27FC236}">
                <a16:creationId xmlns:a16="http://schemas.microsoft.com/office/drawing/2014/main" id="{9A640374-746C-4DCD-9F6A-210895B6AA4D}"/>
              </a:ext>
            </a:extLst>
          </p:cNvPr>
          <p:cNvSpPr>
            <a:spLocks xmlns:a="http://schemas.openxmlformats.org/drawingml/2006/main" noGrp="1"/>
          </p:cNvSpPr>
          <p:nvPr/>
        </p:nvSpPr>
        <p:spPr>
          <a:xfrm xmlns:a="http://schemas.openxmlformats.org/drawingml/2006/main">
            <a:off x="1219200" y="5219700"/>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완성된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PNG는</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건너뛰어</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재부팅</a:t>
            </a:r>
            <a:r>
              <a:rPr sz="1500">
                <a:solidFill>
                  <a:srgbClr val="122033"/>
                </a:solidFill>
                <a:latin typeface="Malgun Gothic"/>
                <a:ea typeface="Malgun Gothic"/>
                <a:cs typeface="Malgun Gothic"/>
              </a:rPr>
              <a:t> 후 </a:t>
            </a:r>
            <a:r>
              <a:rPr sz="1500">
                <a:solidFill>
                  <a:srgbClr val="122033"/>
                </a:solidFill>
                <a:latin typeface="Malgun Gothic"/>
                <a:ea typeface="Malgun Gothic"/>
                <a:cs typeface="Malgun Gothic"/>
              </a:rPr>
              <a:t>같은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명령으로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이어서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처리한다</a:t>
            </a:r>
            <a:r>
              <a:rPr sz="1500">
                <a:solidFill>
                  <a:srgbClr val="122033"/>
                </a:solidFill>
                <a:latin typeface="Malgun Gothic"/>
                <a:ea typeface="Malgun Gothic"/>
                <a:cs typeface="Malgun Gothic"/>
              </a:rPr>
              <a:t>.</a:t>
            </a:r>
          </a:p>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임시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파일을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완성한</a:t>
            </a:r>
            <a:r>
              <a:rPr sz="1500">
                <a:solidFill>
                  <a:srgbClr val="122033"/>
                </a:solidFill>
                <a:latin typeface="Malgun Gothic"/>
                <a:ea typeface="Malgun Gothic"/>
                <a:cs typeface="Malgun Gothic"/>
              </a:rPr>
              <a:t> 뒤 </a:t>
            </a:r>
            <a:r>
              <a:rPr sz="1500">
                <a:solidFill>
                  <a:srgbClr val="122033"/>
                </a:solidFill>
                <a:latin typeface="Malgun Gothic"/>
                <a:ea typeface="Malgun Gothic"/>
                <a:cs typeface="Malgun Gothic"/>
              </a:rPr>
              <a:t>최종</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이름으로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교체해</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중단된</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파일을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구별한다</a:t>
            </a:r>
            <a:r>
              <a:rPr sz="1500">
                <a:solidFill>
                  <a:srgbClr val="122033"/>
                </a:solidFill>
                <a:latin typeface="Malgun Gothic"/>
                <a:ea typeface="Malgun Gothic"/>
                <a:cs typeface="Malgun Gothic"/>
              </a:rPr>
              <a:t>.</a:t>
            </a:r>
          </a:p>
          <a:p xmlns:a="http://schemas.openxmlformats.org/drawingml/2006/main">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실패</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경로와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이유</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split별</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시간은</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preprocessing_summary.json에</a:t>
            </a:r>
            <a:r>
              <a:rPr sz="1500">
                <a:solidFill>
                  <a:srgbClr val="122033"/>
                </a:solidFill>
                <a:latin typeface="Malgun Gothic"/>
                <a:ea typeface="Malgun Gothic"/>
                <a:cs typeface="Malgun Gothic"/>
              </a:rPr>
              <a:t> </a:t>
            </a:r>
            <a:r>
              <a:rPr sz="1500">
                <a:solidFill>
                  <a:srgbClr val="122033"/>
                </a:solidFill>
                <a:latin typeface="Malgun Gothic"/>
                <a:ea typeface="Malgun Gothic"/>
                <a:cs typeface="Malgun Gothic"/>
              </a:rPr>
              <a:t>남긴다</a:t>
            </a:r>
            <a:r>
              <a:rPr sz="1500">
                <a:solidFill>
                  <a:srgbClr val="122033"/>
                </a:solidFill>
                <a:latin typeface="Malgun Gothic"/>
                <a:ea typeface="Malgun Gothic"/>
                <a:cs typeface="Malgun Gothic"/>
              </a:rPr>
              <a:t>.</a:t>
            </a:r>
          </a:p>
        </p:txBody>
      </p:sp>
    </p:spTree>
    <p:extLst>
      <p:ext uri="{BB962C8B-B14F-4D97-AF65-F5344CB8AC3E}">
        <p14:creationId xmlns:p14="http://schemas.microsoft.com/office/powerpoint/2010/main" val="2124874998"/>
      </p:ext>
    </p:extLst>
  </p:cSld>
</p:sld>
</file>

<file path=ppt/slides/slide9.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6" name="직사각형 15">
            <a:extLst xmlns:a="http://schemas.openxmlformats.org/drawingml/2006/main">
              <a:ext uri="{FF2B5EF4-FFF2-40B4-BE49-F238E27FC236}">
                <a16:creationId xmlns:a16="http://schemas.microsoft.com/office/drawing/2014/main" id="{3AEBFC5C-7067-49AC-AE7F-7AA8A49C692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PyTorch GPU 환경</a:t>
            </a:r>
          </a:p>
        </p:txBody>
      </p:sp>
      <p:sp>
        <p:nvSpPr>
          <p:cNvPr id="2" name="직사각형 1">
            <a:extLst xmlns:a="http://schemas.openxmlformats.org/drawingml/2006/main">
              <a:ext uri="{FF2B5EF4-FFF2-40B4-BE49-F238E27FC236}">
                <a16:creationId xmlns:a16="http://schemas.microsoft.com/office/drawing/2014/main" id="{8449B33D-34BC-465B-908E-684DB5E9293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설치 확인보다 실제 CUDA 연산 검증을 우선</a:t>
            </a:r>
          </a:p>
        </p:txBody>
      </p:sp>
      <p:sp>
        <p:nvSpPr>
          <p:cNvPr id="3" name="직선 연결선 2">
            <a:extLst xmlns:a="http://schemas.openxmlformats.org/drawingml/2006/main">
              <a:ext uri="{FF2B5EF4-FFF2-40B4-BE49-F238E27FC236}">
                <a16:creationId xmlns:a16="http://schemas.microsoft.com/office/drawing/2014/main" id="{92395A23-324A-47B7-94AB-971AF8A49DA5}"/>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DFAA0BA0-6BA2-495A-B846-FE9B6F8443B3}"/>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DA04EE2-9081-4743-96D7-651502FE6AA3}"/>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09</a:t>
            </a:r>
          </a:p>
        </p:txBody>
      </p:sp>
      <p:sp>
        <p:nvSpPr>
          <p:cNvPr id="6" name="사각형: 둥근 모서리 5">
            <a:extLst xmlns:a="http://schemas.openxmlformats.org/drawingml/2006/main">
              <a:ext uri="{FF2B5EF4-FFF2-40B4-BE49-F238E27FC236}">
                <a16:creationId xmlns:a16="http://schemas.microsoft.com/office/drawing/2014/main" id="{91CC2C01-1F65-4A5F-8818-1BA1E261FE83}"/>
              </a:ext>
            </a:extLst>
          </p:cNvPr>
          <p:cNvSpPr>
            <a:spLocks xmlns:a="http://schemas.openxmlformats.org/drawingml/2006/main" noGrp="1"/>
          </p:cNvSpPr>
          <p:nvPr/>
        </p:nvSpPr>
        <p:spPr>
          <a:xfrm xmlns:a="http://schemas.openxmlformats.org/drawingml/2006/main">
            <a:off x="685800" y="1952625"/>
            <a:ext cx="2000250" cy="914400"/>
          </a:xfrm>
          <a:prstGeom xmlns:a="http://schemas.openxmlformats.org/drawingml/2006/main" prst="roundRect">
            <a:avLst>
              <a:gd name="adj" fmla="val 125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nvidia-smi</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GPU·드라이버</a:t>
            </a:r>
          </a:p>
        </p:txBody>
      </p:sp>
      <p:sp>
        <p:nvSpPr>
          <p:cNvPr id="7" name="사각형: 둥근 모서리 6">
            <a:extLst xmlns:a="http://schemas.openxmlformats.org/drawingml/2006/main">
              <a:ext uri="{FF2B5EF4-FFF2-40B4-BE49-F238E27FC236}">
                <a16:creationId xmlns:a16="http://schemas.microsoft.com/office/drawing/2014/main" id="{7EC8A842-90B3-42D3-812C-36278F57F7AB}"/>
              </a:ext>
            </a:extLst>
          </p:cNvPr>
          <p:cNvSpPr>
            <a:spLocks xmlns:a="http://schemas.openxmlformats.org/drawingml/2006/main" noGrp="1"/>
          </p:cNvSpPr>
          <p:nvPr/>
        </p:nvSpPr>
        <p:spPr>
          <a:xfrm xmlns:a="http://schemas.openxmlformats.org/drawingml/2006/main">
            <a:off x="3143250" y="1952625"/>
            <a:ext cx="2000250" cy="914400"/>
          </a:xfrm>
          <a:prstGeom xmlns:a="http://schemas.openxmlformats.org/drawingml/2006/main" prst="roundRect">
            <a:avLst>
              <a:gd name="adj" fmla="val 12500"/>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Python 3.12.10</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가상환경</a:t>
            </a:r>
          </a:p>
        </p:txBody>
      </p:sp>
      <p:sp>
        <p:nvSpPr>
          <p:cNvPr id="8" name="사각형: 둥근 모서리 7">
            <a:extLst xmlns:a="http://schemas.openxmlformats.org/drawingml/2006/main">
              <a:ext uri="{FF2B5EF4-FFF2-40B4-BE49-F238E27FC236}">
                <a16:creationId xmlns:a16="http://schemas.microsoft.com/office/drawing/2014/main" id="{85FF0314-4530-4279-848A-456AC63EAA79}"/>
              </a:ext>
            </a:extLst>
          </p:cNvPr>
          <p:cNvSpPr>
            <a:spLocks xmlns:a="http://schemas.openxmlformats.org/drawingml/2006/main" noGrp="1"/>
          </p:cNvSpPr>
          <p:nvPr/>
        </p:nvSpPr>
        <p:spPr>
          <a:xfrm xmlns:a="http://schemas.openxmlformats.org/drawingml/2006/main">
            <a:off x="5600700" y="1952625"/>
            <a:ext cx="2000250" cy="914400"/>
          </a:xfrm>
          <a:prstGeom xmlns:a="http://schemas.openxmlformats.org/drawingml/2006/main" prst="roundRect">
            <a:avLst>
              <a:gd name="adj" fmla="val 12500"/>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PyTorch cu126</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전용 wheel</a:t>
            </a:r>
          </a:p>
        </p:txBody>
      </p:sp>
      <p:sp>
        <p:nvSpPr>
          <p:cNvPr id="9" name="사각형: 둥근 모서리 8">
            <a:extLst xmlns:a="http://schemas.openxmlformats.org/drawingml/2006/main">
              <a:ext uri="{FF2B5EF4-FFF2-40B4-BE49-F238E27FC236}">
                <a16:creationId xmlns:a16="http://schemas.microsoft.com/office/drawing/2014/main" id="{02ADFEF6-C3E1-4E9F-9561-5D82697DCB0F}"/>
              </a:ext>
            </a:extLst>
          </p:cNvPr>
          <p:cNvSpPr>
            <a:spLocks xmlns:a="http://schemas.openxmlformats.org/drawingml/2006/main" noGrp="1"/>
          </p:cNvSpPr>
          <p:nvPr/>
        </p:nvSpPr>
        <p:spPr>
          <a:xfrm xmlns:a="http://schemas.openxmlformats.org/drawingml/2006/main">
            <a:off x="8058150" y="1952625"/>
            <a:ext cx="2000250" cy="914400"/>
          </a:xfrm>
          <a:prstGeom xmlns:a="http://schemas.openxmlformats.org/drawingml/2006/main" prst="roundRect">
            <a:avLst>
              <a:gd name="adj" fmla="val 12500"/>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CUDA 행렬 연산</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PASS</a:t>
            </a:r>
          </a:p>
        </p:txBody>
      </p:sp>
      <p:cxnSp>
        <p:nvCxnSpPr>
          <p:cNvPr id="49" name="직선 화살표 연결선 24"/>
          <p:cNvCxnSpPr>
            <a:stCxn xmlns:a="http://schemas.openxmlformats.org/drawingml/2006/main" id="6" idx="3"/>
            <a:endCxn xmlns:a="http://schemas.openxmlformats.org/drawingml/2006/main" id="7" idx="1"/>
          </p:cNvCxnSpPr>
          <p:nvPr/>
        </p:nvCxnSpPr>
        <p:spPr>
          <a:xfrm xmlns:a="http://schemas.openxmlformats.org/drawingml/2006/main">
            <a:off x="268605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0" name="직선 화살표 연결선 25"/>
          <p:cNvCxnSpPr>
            <a:stCxn xmlns:a="http://schemas.openxmlformats.org/drawingml/2006/main" id="7" idx="3"/>
            <a:endCxn xmlns:a="http://schemas.openxmlformats.org/drawingml/2006/main" id="8" idx="1"/>
          </p:cNvCxnSpPr>
          <p:nvPr/>
        </p:nvCxnSpPr>
        <p:spPr>
          <a:xfrm xmlns:a="http://schemas.openxmlformats.org/drawingml/2006/main">
            <a:off x="514350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1" name="직선 화살표 연결선 26"/>
          <p:cNvCxnSpPr>
            <a:stCxn xmlns:a="http://schemas.openxmlformats.org/drawingml/2006/main" id="8" idx="3"/>
            <a:endCxn xmlns:a="http://schemas.openxmlformats.org/drawingml/2006/main" id="9" idx="1"/>
          </p:cNvCxnSpPr>
          <p:nvPr/>
        </p:nvCxnSpPr>
        <p:spPr>
          <a:xfrm xmlns:a="http://schemas.openxmlformats.org/drawingml/2006/main">
            <a:off x="7600950" y="2409825"/>
            <a:ext cx="45720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3" name="직사각형 12">
            <a:extLst xmlns:a="http://schemas.openxmlformats.org/drawingml/2006/main">
              <a:ext uri="{FF2B5EF4-FFF2-40B4-BE49-F238E27FC236}">
                <a16:creationId xmlns:a16="http://schemas.microsoft.com/office/drawing/2014/main" id="{496229EC-A641-4770-BA7D-366CC236C542}"/>
              </a:ext>
            </a:extLst>
          </p:cNvPr>
          <p:cNvSpPr>
            <a:spLocks xmlns:a="http://schemas.openxmlformats.org/drawingml/2006/main" noGrp="1"/>
          </p:cNvSpPr>
          <p:nvPr/>
        </p:nvSpPr>
        <p:spPr>
          <a:xfrm xmlns:a="http://schemas.openxmlformats.org/drawingml/2006/main">
            <a:off x="704850" y="37147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TensorFlow 대신 PyTorch</a:t>
            </a:r>
          </a:p>
        </p:txBody>
      </p:sp>
      <p:sp>
        <p:nvSpPr>
          <p:cNvPr id="14" name="직사각형 13">
            <a:extLst xmlns:a="http://schemas.openxmlformats.org/drawingml/2006/main">
              <a:ext uri="{FF2B5EF4-FFF2-40B4-BE49-F238E27FC236}">
                <a16:creationId xmlns:a16="http://schemas.microsoft.com/office/drawing/2014/main" id="{538C82F4-29F1-4593-B75E-3F9EBE7E0DD6}"/>
              </a:ext>
            </a:extLst>
          </p:cNvPr>
          <p:cNvSpPr>
            <a:spLocks xmlns:a="http://schemas.openxmlformats.org/drawingml/2006/main" noGrp="1"/>
          </p:cNvSpPr>
          <p:nvPr/>
        </p:nvSpPr>
        <p:spPr>
          <a:xfrm xmlns:a="http://schemas.openxmlformats.org/drawingml/2006/main">
            <a:off x="685800" y="4210050"/>
            <a:ext cx="1038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torchvision의 세 모델을 같은 API와 학습 코드로 비교할 수 있다.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 Macro-F1, AMP와 중단 재개를 직접 관리했다.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CUDA 사용 가능 시 모델과 배치를 자동으로 GPU에 이동한다.</a:t>
            </a:r>
          </a:p>
        </p:txBody>
      </p:sp>
      <p:sp>
        <p:nvSpPr>
          <p:cNvPr id="15" name="직사각형 14">
            <a:extLst xmlns:a="http://schemas.openxmlformats.org/drawingml/2006/main">
              <a:ext uri="{FF2B5EF4-FFF2-40B4-BE49-F238E27FC236}">
                <a16:creationId xmlns:a16="http://schemas.microsoft.com/office/drawing/2014/main" id="{3B888CE7-9CD2-48E4-A54E-CF5E11FEEFE9}"/>
              </a:ext>
            </a:extLst>
          </p:cNvPr>
          <p:cNvSpPr>
            <a:spLocks xmlns:a="http://schemas.openxmlformats.org/drawingml/2006/main" noGrp="1"/>
          </p:cNvSpPr>
          <p:nvPr/>
        </p:nvSpPr>
        <p:spPr>
          <a:xfrm xmlns:a="http://schemas.openxmlformats.org/drawingml/2006/main">
            <a:off x="704850" y="5905500"/>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실험 GPU: NVIDIA GeForce RTX 4060</a:t>
            </a:r>
          </a:p>
        </p:txBody>
      </p:sp>
    </p:spTree>
    <p:extLst>
      <p:ext uri="{BB962C8B-B14F-4D97-AF65-F5344CB8AC3E}">
        <p14:creationId xmlns:p14="http://schemas.microsoft.com/office/powerpoint/2010/main" val="135271714"/>
      </p:ext>
    </p:extLst>
  </p:cSld>
</p:sld>
</file>

<file path=ppt/slides/slide10.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B84B319-A1EB-4966-A4B4-C101A76D4153}"/>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비교 모델</a:t>
            </a:r>
          </a:p>
        </p:txBody>
      </p:sp>
      <p:sp>
        <p:nvSpPr>
          <p:cNvPr id="2" name="직사각형 1">
            <a:extLst xmlns:a="http://schemas.openxmlformats.org/drawingml/2006/main">
              <a:ext uri="{FF2B5EF4-FFF2-40B4-BE49-F238E27FC236}">
                <a16:creationId xmlns:a16="http://schemas.microsoft.com/office/drawing/2014/main" id="{8802263B-4CB3-4287-954B-1D69A7F81E0A}"/>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기준선, 경량성, 정확도 효율을 대표하는 구조</a:t>
            </a:r>
          </a:p>
        </p:txBody>
      </p:sp>
      <p:sp>
        <p:nvSpPr>
          <p:cNvPr id="3" name="직선 연결선 2">
            <a:extLst xmlns:a="http://schemas.openxmlformats.org/drawingml/2006/main">
              <a:ext uri="{FF2B5EF4-FFF2-40B4-BE49-F238E27FC236}">
                <a16:creationId xmlns:a16="http://schemas.microsoft.com/office/drawing/2014/main" id="{E04B2106-BECE-4181-A4BE-173B0369FED1}"/>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E209EB79-31A6-4D47-9D44-A7A75BAF1BFD}"/>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8923C646-2636-4016-B885-B8F18252BC9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10</a:t>
            </a:r>
          </a:p>
        </p:txBody>
      </p:sp>
      <p:graphicFrame>
        <p:nvGraphicFramePr>
          <p:cNvPr id="16" name="표 13"/>
          <p:cNvGraphicFramePr/>
          <p:nvPr/>
        </p:nvGraphicFramePr>
        <p:xfrm>
          <a:off xmlns:a="http://schemas.openxmlformats.org/drawingml/2006/main" x="609600" y="1733550"/>
          <a:ext xmlns:a="http://schemas.openxmlformats.org/drawingml/2006/main" cx="10972800" cy="3143252"/>
        </p:xfrm>
        <a:graphic xmlns:a="http://schemas.openxmlformats.org/drawingml/2006/main">
          <a:graphicData uri="http://schemas.openxmlformats.org/drawingml/2006/table">
            <a:tbl>
              <a:tblPr/>
              <a:tblGrid>
                <a:gridCol w="2000250"/>
                <a:gridCol w="3000375"/>
                <a:gridCol w="3238500"/>
                <a:gridCol w="2733675"/>
              </a:tblGrid>
              <a:tr h="785813">
                <a:tc>
                  <a:txBody>
                    <a:bodyPr/>
                    <a:lstStyle/>
                    <a:p>
                      <a:pPr algn="l">
                        <a:buNone/>
                      </a:pPr>
                      <a:r>
                        <a:rPr sz="1500" b="1">
                          <a:solidFill>
                            <a:srgbClr val="FFFFFF"/>
                          </a:solidFill>
                          <a:latin typeface="Malgun Gothic"/>
                          <a:ea typeface="Malgun Gothic"/>
                          <a:cs typeface="Malgun Gothic"/>
                        </a:rPr>
                        <a:t>모델</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핵심 구조</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강점</a:t>
                      </a:r>
                    </a:p>
                  </a:txBody>
                  <a:tcPr marL="91440" marR="91440" marT="45720" marB="45720">
                    <a:solidFill>
                      <a:srgbClr val="0B1526"/>
                    </a:solidFill>
                  </a:tcPr>
                </a:tc>
                <a:tc>
                  <a:txBody>
                    <a:bodyPr/>
                    <a:lstStyle/>
                    <a:p>
                      <a:pPr algn="l">
                        <a:buNone/>
                      </a:pPr>
                      <a:r>
                        <a:rPr sz="1500" b="1">
                          <a:solidFill>
                            <a:srgbClr val="FFFFFF"/>
                          </a:solidFill>
                          <a:latin typeface="Malgun Gothic"/>
                          <a:ea typeface="Malgun Gothic"/>
                          <a:cs typeface="Malgun Gothic"/>
                        </a:rPr>
                        <a:t>프로젝트 역할</a:t>
                      </a:r>
                    </a:p>
                  </a:txBody>
                  <a:tcPr marL="91440" marR="91440" marT="45720" marB="45720">
                    <a:solidFill>
                      <a:srgbClr val="0B1526"/>
                    </a:solidFill>
                  </a:tcPr>
                </a:tc>
              </a:tr>
              <a:tr h="785813">
                <a:tc>
                  <a:txBody>
                    <a:bodyPr/>
                    <a:lstStyle/>
                    <a:p>
                      <a:pPr algn="l">
                        <a:buNone/>
                      </a:pPr>
                      <a:r>
                        <a:rPr sz="1500" b="0">
                          <a:solidFill>
                            <a:srgbClr val="122033"/>
                          </a:solidFill>
                          <a:latin typeface="Malgun Gothic"/>
                          <a:ea typeface="Malgun Gothic"/>
                          <a:cs typeface="Malgun Gothic"/>
                        </a:rPr>
                        <a:t>ResNet18</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Residual connection</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안정적이고 설명이 쉬움</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CNN 기준선</a:t>
                      </a:r>
                    </a:p>
                  </a:txBody>
                  <a:tcPr marL="91440" marR="91440" marT="45720" marB="45720">
                    <a:solidFill>
                      <a:srgbClr val="FFFFFF"/>
                    </a:solidFill>
                  </a:tcPr>
                </a:tc>
              </a:tr>
              <a:tr h="785813">
                <a:tc>
                  <a:txBody>
                    <a:bodyPr/>
                    <a:lstStyle/>
                    <a:p>
                      <a:pPr algn="l">
                        <a:buNone/>
                      </a:pPr>
                      <a:r>
                        <a:rPr sz="1500" b="0">
                          <a:solidFill>
                            <a:srgbClr val="122033"/>
                          </a:solidFill>
                          <a:latin typeface="Malgun Gothic"/>
                          <a:ea typeface="Malgun Gothic"/>
                          <a:cs typeface="Malgun Gothic"/>
                        </a:rPr>
                        <a:t>MobileNetV2</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Depthwise conv</a:t>
                      </a:r>
                    </a:p>
                    <a:p>
                      <a:pPr algn="l">
                        <a:buNone/>
                      </a:pPr>
                      <a:r>
                        <a:rPr sz="1500" b="0">
                          <a:solidFill>
                            <a:srgbClr val="122033"/>
                          </a:solidFill>
                          <a:latin typeface="Malgun Gothic"/>
                          <a:ea typeface="Malgun Gothic"/>
                          <a:cs typeface="Malgun Gothic"/>
                        </a:rPr>
                        <a:t>Inverted residual</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파라미터와 연산량이 작음</a:t>
                      </a:r>
                    </a:p>
                  </a:txBody>
                  <a:tcPr marL="91440" marR="91440" marT="45720" marB="45720">
                    <a:solidFill>
                      <a:srgbClr val="F7F8FA"/>
                    </a:solidFill>
                  </a:tcPr>
                </a:tc>
                <a:tc>
                  <a:txBody>
                    <a:bodyPr/>
                    <a:lstStyle/>
                    <a:p>
                      <a:pPr algn="l">
                        <a:buNone/>
                      </a:pPr>
                      <a:r>
                        <a:rPr sz="1500" b="0">
                          <a:solidFill>
                            <a:srgbClr val="122033"/>
                          </a:solidFill>
                          <a:latin typeface="Malgun Gothic"/>
                          <a:ea typeface="Malgun Gothic"/>
                          <a:cs typeface="Malgun Gothic"/>
                        </a:rPr>
                        <a:t>경량 실행 모델</a:t>
                      </a:r>
                    </a:p>
                  </a:txBody>
                  <a:tcPr marL="91440" marR="91440" marT="45720" marB="45720">
                    <a:solidFill>
                      <a:srgbClr val="F7F8FA"/>
                    </a:solidFill>
                  </a:tcPr>
                </a:tc>
              </a:tr>
              <a:tr h="785813">
                <a:tc>
                  <a:txBody>
                    <a:bodyPr/>
                    <a:lstStyle/>
                    <a:p>
                      <a:pPr algn="l">
                        <a:buNone/>
                      </a:pPr>
                      <a:r>
                        <a:rPr sz="1500" b="0">
                          <a:solidFill>
                            <a:srgbClr val="122033"/>
                          </a:solidFill>
                          <a:latin typeface="Malgun Gothic"/>
                          <a:ea typeface="Malgun Gothic"/>
                          <a:cs typeface="Malgun Gothic"/>
                        </a:rPr>
                        <a:t>EfficientNet-B0</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MBConv·SE</a:t>
                      </a:r>
                    </a:p>
                    <a:p>
                      <a:pPr algn="l">
                        <a:buNone/>
                      </a:pPr>
                      <a:r>
                        <a:rPr sz="1500" b="0">
                          <a:solidFill>
                            <a:srgbClr val="122033"/>
                          </a:solidFill>
                          <a:latin typeface="Malgun Gothic"/>
                          <a:ea typeface="Malgun Gothic"/>
                          <a:cs typeface="Malgun Gothic"/>
                        </a:rPr>
                        <a:t>Compound scaling</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정확도와 효율의 균형</a:t>
                      </a:r>
                    </a:p>
                  </a:txBody>
                  <a:tcPr marL="91440" marR="91440" marT="45720" marB="45720">
                    <a:solidFill>
                      <a:srgbClr val="FFFFFF"/>
                    </a:solidFill>
                  </a:tcPr>
                </a:tc>
                <a:tc>
                  <a:txBody>
                    <a:bodyPr/>
                    <a:lstStyle/>
                    <a:p>
                      <a:pPr algn="l">
                        <a:buNone/>
                      </a:pPr>
                      <a:r>
                        <a:rPr sz="1500" b="0">
                          <a:solidFill>
                            <a:srgbClr val="122033"/>
                          </a:solidFill>
                          <a:latin typeface="Malgun Gothic"/>
                          <a:ea typeface="Malgun Gothic"/>
                          <a:cs typeface="Malgun Gothic"/>
                        </a:rPr>
                        <a:t>정확도 중심 모델</a:t>
                      </a:r>
                    </a:p>
                  </a:txBody>
                  <a:tcPr marL="91440" marR="91440" marT="45720" marB="45720">
                    <a:solidFill>
                      <a:srgbClr val="FFFFFF"/>
                    </a:solidFill>
                  </a:tcPr>
                </a:tc>
              </a:tr>
            </a:tbl>
          </a:graphicData>
        </a:graphic>
      </p:graphicFrame>
      <p:sp>
        <p:nvSpPr>
          <p:cNvPr id="7" name="직사각형 6">
            <a:extLst xmlns:a="http://schemas.openxmlformats.org/drawingml/2006/main">
              <a:ext uri="{FF2B5EF4-FFF2-40B4-BE49-F238E27FC236}">
                <a16:creationId xmlns:a16="http://schemas.microsoft.com/office/drawing/2014/main" id="{B436692B-F16D-42A5-9742-1C4EB8DA02B6}"/>
              </a:ext>
            </a:extLst>
          </p:cNvPr>
          <p:cNvSpPr>
            <a:spLocks xmlns:a="http://schemas.openxmlformats.org/drawingml/2006/main" noGrp="1"/>
          </p:cNvSpPr>
          <p:nvPr/>
        </p:nvSpPr>
        <p:spPr>
          <a:xfrm xmlns:a="http://schemas.openxmlformats.org/drawingml/2006/main">
            <a:off x="628650" y="5314950"/>
            <a:ext cx="933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같은 데이터와 학습 설정으로 세 구조의 성능과 크기를 비교했다.</a:t>
            </a:r>
          </a:p>
        </p:txBody>
      </p:sp>
      <p:sp>
        <p:nvSpPr>
          <p:cNvPr id="8" name="직사각형 7">
            <a:extLst xmlns:a="http://schemas.openxmlformats.org/drawingml/2006/main">
              <a:ext uri="{FF2B5EF4-FFF2-40B4-BE49-F238E27FC236}">
                <a16:creationId xmlns:a16="http://schemas.microsoft.com/office/drawing/2014/main" id="{631926C6-158D-447A-A278-D8D3DFC29340}"/>
              </a:ext>
            </a:extLst>
          </p:cNvPr>
          <p:cNvSpPr>
            <a:spLocks xmlns:a="http://schemas.openxmlformats.org/drawingml/2006/main" noGrp="1"/>
          </p:cNvSpPr>
          <p:nvPr/>
        </p:nvSpPr>
        <p:spPr>
          <a:xfrm xmlns:a="http://schemas.openxmlformats.org/drawingml/2006/main">
            <a:off x="628650" y="577215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모두 ImageNet 사전학습 가중치 사용</a:t>
            </a:r>
          </a:p>
        </p:txBody>
      </p:sp>
    </p:spTree>
    <p:extLst>
      <p:ext uri="{BB962C8B-B14F-4D97-AF65-F5344CB8AC3E}">
        <p14:creationId xmlns:p14="http://schemas.microsoft.com/office/powerpoint/2010/main" val="1622743595"/>
      </p:ext>
    </p:extLst>
  </p:cSld>
</p:sld>
</file>

<file path=ppt/slides/slide11.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직사각형 16">
            <a:extLst xmlns:a="http://schemas.openxmlformats.org/drawingml/2006/main">
              <a:ext uri="{FF2B5EF4-FFF2-40B4-BE49-F238E27FC236}">
                <a16:creationId xmlns:a16="http://schemas.microsoft.com/office/drawing/2014/main" id="{70A78F6F-95C4-4588-834F-C297F92664CD}"/>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학습과 평가 설계</a:t>
            </a:r>
          </a:p>
        </p:txBody>
      </p:sp>
      <p:sp>
        <p:nvSpPr>
          <p:cNvPr id="2" name="직사각형 1">
            <a:extLst xmlns:a="http://schemas.openxmlformats.org/drawingml/2006/main">
              <a:ext uri="{FF2B5EF4-FFF2-40B4-BE49-F238E27FC236}">
                <a16:creationId xmlns:a16="http://schemas.microsoft.com/office/drawing/2014/main" id="{1A8AF122-4CB8-46E5-91FD-9C0C0A427E2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검증 Macro-F1을 기준으로 최고 가중치 저장</a:t>
            </a:r>
          </a:p>
        </p:txBody>
      </p:sp>
      <p:sp>
        <p:nvSpPr>
          <p:cNvPr id="3" name="직선 연결선 2">
            <a:extLst xmlns:a="http://schemas.openxmlformats.org/drawingml/2006/main">
              <a:ext uri="{FF2B5EF4-FFF2-40B4-BE49-F238E27FC236}">
                <a16:creationId xmlns:a16="http://schemas.microsoft.com/office/drawing/2014/main" id="{221BA7E0-9CDA-45B2-85CB-10C8836BA26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9D5763FC-15B2-448D-9E00-34A79D0A60F6}"/>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6E8287B8-7FCC-4069-9494-DAB5BE8ADD5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11</a:t>
            </a:r>
          </a:p>
        </p:txBody>
      </p:sp>
      <p:sp>
        <p:nvSpPr>
          <p:cNvPr id="6" name="사각형: 둥근 모서리 5">
            <a:extLst xmlns:a="http://schemas.openxmlformats.org/drawingml/2006/main">
              <a:ext uri="{FF2B5EF4-FFF2-40B4-BE49-F238E27FC236}">
                <a16:creationId xmlns:a16="http://schemas.microsoft.com/office/drawing/2014/main" id="{7A334CAA-8891-4EBD-984D-807A8363D0B4}"/>
              </a:ext>
            </a:extLst>
          </p:cNvPr>
          <p:cNvSpPr>
            <a:spLocks xmlns:a="http://schemas.openxmlformats.org/drawingml/2006/main" noGrp="1"/>
          </p:cNvSpPr>
          <p:nvPr/>
        </p:nvSpPr>
        <p:spPr>
          <a:xfrm xmlns:a="http://schemas.openxmlformats.org/drawingml/2006/main">
            <a:off x="628650" y="2038350"/>
            <a:ext cx="1809750" cy="952500"/>
          </a:xfrm>
          <a:prstGeom xmlns:a="http://schemas.openxmlformats.org/drawingml/2006/main" prst="roundRect">
            <a:avLst>
              <a:gd name="adj" fmla="val 120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Training</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223,570장</a:t>
            </a:r>
          </a:p>
        </p:txBody>
      </p:sp>
      <p:sp>
        <p:nvSpPr>
          <p:cNvPr id="7" name="사각형: 둥근 모서리 6">
            <a:extLst xmlns:a="http://schemas.openxmlformats.org/drawingml/2006/main">
              <a:ext uri="{FF2B5EF4-FFF2-40B4-BE49-F238E27FC236}">
                <a16:creationId xmlns:a16="http://schemas.microsoft.com/office/drawing/2014/main" id="{1E229C35-5C15-4949-A473-E9DA1BC8FB51}"/>
              </a:ext>
            </a:extLst>
          </p:cNvPr>
          <p:cNvSpPr>
            <a:spLocks xmlns:a="http://schemas.openxmlformats.org/drawingml/2006/main" noGrp="1"/>
          </p:cNvSpPr>
          <p:nvPr/>
        </p:nvSpPr>
        <p:spPr>
          <a:xfrm xmlns:a="http://schemas.openxmlformats.org/drawingml/2006/main">
            <a:off x="2914650" y="2038350"/>
            <a:ext cx="1809750" cy="952500"/>
          </a:xfrm>
          <a:prstGeom xmlns:a="http://schemas.openxmlformats.org/drawingml/2006/main" prst="roundRect">
            <a:avLst>
              <a:gd name="adj" fmla="val 12000"/>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약한</a:t>
            </a:r>
            <a:r>
              <a:rPr sz="1575" b="1">
                <a:solidFill>
                  <a:srgbClr val="122033"/>
                </a:solidFill>
                <a:latin typeface="Malgun Gothic"/>
                <a:ea typeface="Malgun Gothic"/>
                <a:cs typeface="Malgun Gothic"/>
              </a:rPr>
              <a:t> </a:t>
            </a:r>
            <a:r>
              <a:rPr sz="1575" b="1">
                <a:solidFill>
                  <a:srgbClr val="122033"/>
                </a:solidFill>
                <a:latin typeface="Malgun Gothic"/>
                <a:ea typeface="Malgun Gothic"/>
                <a:cs typeface="Malgun Gothic"/>
              </a:rPr>
              <a:t>증강</a:t>
            </a:r>
            <a:endParaRPr sz="1575" b="1">
              <a:solidFill>
                <a:srgbClr val="122033"/>
              </a:solidFill>
              <a:latin typeface="Malgun Gothic"/>
              <a:ea typeface="Malgun Gothic"/>
              <a:cs typeface="Malgun Gothic"/>
            </a:endParaRP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ImageNet </a:t>
            </a:r>
            <a:r>
              <a:rPr sz="1575" b="1">
                <a:solidFill>
                  <a:srgbClr val="122033"/>
                </a:solidFill>
                <a:latin typeface="Malgun Gothic"/>
                <a:ea typeface="Malgun Gothic"/>
                <a:cs typeface="Malgun Gothic"/>
              </a:rPr>
              <a:t>정규화</a:t>
            </a:r>
            <a:endParaRPr sz="1575" b="1">
              <a:solidFill>
                <a:srgbClr val="122033"/>
              </a:solidFill>
              <a:latin typeface="Malgun Gothic"/>
              <a:ea typeface="Malgun Gothic"/>
              <a:cs typeface="Malgun Gothic"/>
            </a:endParaRPr>
          </a:p>
        </p:txBody>
      </p:sp>
      <p:sp>
        <p:nvSpPr>
          <p:cNvPr id="8" name="사각형: 둥근 모서리 7">
            <a:extLst xmlns:a="http://schemas.openxmlformats.org/drawingml/2006/main">
              <a:ext uri="{FF2B5EF4-FFF2-40B4-BE49-F238E27FC236}">
                <a16:creationId xmlns:a16="http://schemas.microsoft.com/office/drawing/2014/main" id="{DE6BDE3B-F664-4399-AAA5-21ACB9FBDB44}"/>
              </a:ext>
            </a:extLst>
          </p:cNvPr>
          <p:cNvSpPr>
            <a:spLocks xmlns:a="http://schemas.openxmlformats.org/drawingml/2006/main" noGrp="1"/>
          </p:cNvSpPr>
          <p:nvPr/>
        </p:nvSpPr>
        <p:spPr>
          <a:xfrm xmlns:a="http://schemas.openxmlformats.org/drawingml/2006/main">
            <a:off x="5200650" y="2038350"/>
            <a:ext cx="1809750" cy="952500"/>
          </a:xfrm>
          <a:prstGeom xmlns:a="http://schemas.openxmlformats.org/drawingml/2006/main" prst="roundRect">
            <a:avLst>
              <a:gd name="adj" fmla="val 12000"/>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AdamW·AMP</a:t>
            </a:r>
            <a:endParaRPr sz="1575" b="1">
              <a:solidFill>
                <a:srgbClr val="122033"/>
              </a:solidFill>
              <a:latin typeface="Malgun Gothic"/>
              <a:ea typeface="Malgun Gothic"/>
              <a:cs typeface="Malgun Gothic"/>
            </a:endParaRP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Cosine scheduler</a:t>
            </a:r>
          </a:p>
        </p:txBody>
      </p:sp>
      <p:sp>
        <p:nvSpPr>
          <p:cNvPr id="9" name="사각형: 둥근 모서리 8">
            <a:extLst xmlns:a="http://schemas.openxmlformats.org/drawingml/2006/main">
              <a:ext uri="{FF2B5EF4-FFF2-40B4-BE49-F238E27FC236}">
                <a16:creationId xmlns:a16="http://schemas.microsoft.com/office/drawing/2014/main" id="{D4C2C95F-F146-43FF-8734-4C4B7BFA8F8B}"/>
              </a:ext>
            </a:extLst>
          </p:cNvPr>
          <p:cNvSpPr>
            <a:spLocks xmlns:a="http://schemas.openxmlformats.org/drawingml/2006/main" noGrp="1"/>
          </p:cNvSpPr>
          <p:nvPr/>
        </p:nvSpPr>
        <p:spPr>
          <a:xfrm xmlns:a="http://schemas.openxmlformats.org/drawingml/2006/main">
            <a:off x="7486650" y="2038350"/>
            <a:ext cx="1809750" cy="952500"/>
          </a:xfrm>
          <a:prstGeom xmlns:a="http://schemas.openxmlformats.org/drawingml/2006/main" prst="roundRect">
            <a:avLst>
              <a:gd name="adj" fmla="val 12000"/>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Validation</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52,118장</a:t>
            </a:r>
          </a:p>
        </p:txBody>
      </p:sp>
      <p:sp>
        <p:nvSpPr>
          <p:cNvPr id="10" name="사각형: 둥근 모서리 9">
            <a:extLst xmlns:a="http://schemas.openxmlformats.org/drawingml/2006/main">
              <a:ext uri="{FF2B5EF4-FFF2-40B4-BE49-F238E27FC236}">
                <a16:creationId xmlns:a16="http://schemas.microsoft.com/office/drawing/2014/main" id="{1C6B50C9-0B49-4226-B56A-9EBFCAC8E9C8}"/>
              </a:ext>
            </a:extLst>
          </p:cNvPr>
          <p:cNvSpPr>
            <a:spLocks xmlns:a="http://schemas.openxmlformats.org/drawingml/2006/main" noGrp="1"/>
          </p:cNvSpPr>
          <p:nvPr/>
        </p:nvSpPr>
        <p:spPr>
          <a:xfrm xmlns:a="http://schemas.openxmlformats.org/drawingml/2006/main">
            <a:off x="9772650" y="2038350"/>
            <a:ext cx="1809750" cy="952500"/>
          </a:xfrm>
          <a:prstGeom xmlns:a="http://schemas.openxmlformats.org/drawingml/2006/main" prst="roundRect">
            <a:avLst>
              <a:gd name="adj" fmla="val 12000"/>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Macro-F1</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best.pt 저장</a:t>
            </a:r>
          </a:p>
        </p:txBody>
      </p:sp>
      <p:cxnSp>
        <p:nvCxnSpPr>
          <p:cNvPr id="55" name="직선 화살표 연결선 26"/>
          <p:cNvCxnSpPr>
            <a:stCxn xmlns:a="http://schemas.openxmlformats.org/drawingml/2006/main" id="6" idx="3"/>
            <a:endCxn xmlns:a="http://schemas.openxmlformats.org/drawingml/2006/main" id="7" idx="1"/>
          </p:cNvCxnSpPr>
          <p:nvPr/>
        </p:nvCxnSpPr>
        <p:spPr>
          <a:xfrm xmlns:a="http://schemas.openxmlformats.org/drawingml/2006/main">
            <a:off x="2438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6" name="직선 화살표 연결선 27"/>
          <p:cNvCxnSpPr>
            <a:stCxn xmlns:a="http://schemas.openxmlformats.org/drawingml/2006/main" id="7" idx="3"/>
            <a:endCxn xmlns:a="http://schemas.openxmlformats.org/drawingml/2006/main" id="8" idx="1"/>
          </p:cNvCxnSpPr>
          <p:nvPr/>
        </p:nvCxnSpPr>
        <p:spPr>
          <a:xfrm xmlns:a="http://schemas.openxmlformats.org/drawingml/2006/main">
            <a:off x="4724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7" name="직선 화살표 연결선 28"/>
          <p:cNvCxnSpPr>
            <a:stCxn xmlns:a="http://schemas.openxmlformats.org/drawingml/2006/main" id="8" idx="3"/>
            <a:endCxn xmlns:a="http://schemas.openxmlformats.org/drawingml/2006/main" id="9" idx="1"/>
          </p:cNvCxnSpPr>
          <p:nvPr/>
        </p:nvCxnSpPr>
        <p:spPr>
          <a:xfrm xmlns:a="http://schemas.openxmlformats.org/drawingml/2006/main">
            <a:off x="7010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8" name="직선 화살표 연결선 29"/>
          <p:cNvCxnSpPr>
            <a:stCxn xmlns:a="http://schemas.openxmlformats.org/drawingml/2006/main" id="9" idx="3"/>
            <a:endCxn xmlns:a="http://schemas.openxmlformats.org/drawingml/2006/main" id="10" idx="1"/>
          </p:cNvCxnSpPr>
          <p:nvPr/>
        </p:nvCxnSpPr>
        <p:spPr>
          <a:xfrm xmlns:a="http://schemas.openxmlformats.org/drawingml/2006/main">
            <a:off x="9296400" y="2514600"/>
            <a:ext cx="4762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3742E92D-40B4-4102-B14B-E8E12D8866E9}"/>
              </a:ext>
            </a:extLst>
          </p:cNvPr>
          <p:cNvSpPr>
            <a:spLocks xmlns:a="http://schemas.openxmlformats.org/drawingml/2006/main" noGrp="1"/>
          </p:cNvSpPr>
          <p:nvPr/>
        </p:nvSpPr>
        <p:spPr>
          <a:xfrm xmlns:a="http://schemas.openxmlformats.org/drawingml/2006/main">
            <a:off x="647700" y="37528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공통 설정</a:t>
            </a:r>
          </a:p>
        </p:txBody>
      </p:sp>
      <p:sp>
        <p:nvSpPr>
          <p:cNvPr id="16" name="직사각형 15">
            <a:extLst xmlns:a="http://schemas.openxmlformats.org/drawingml/2006/main">
              <a:ext uri="{FF2B5EF4-FFF2-40B4-BE49-F238E27FC236}">
                <a16:creationId xmlns:a16="http://schemas.microsoft.com/office/drawing/2014/main" id="{74746310-60B2-4AE3-96FE-A615D19E92A8}"/>
              </a:ext>
            </a:extLst>
          </p:cNvPr>
          <p:cNvSpPr>
            <a:spLocks xmlns:a="http://schemas.openxmlformats.org/drawingml/2006/main" noGrp="1"/>
          </p:cNvSpPr>
          <p:nvPr/>
        </p:nvSpPr>
        <p:spPr>
          <a:xfrm xmlns:a="http://schemas.openxmlformats.org/drawingml/2006/main">
            <a:off x="628650" y="41910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최대 50 epoch, batch 32, learning rate 0.0003, seed 42</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label smoothing 0.1과 weight decay 0.0001로 과적합 완화</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검증 Macro-F1이 3회 연속 개선되지 않으면 조기 종료</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최고 epoch는 best.pt, 재개 상태는 last.pt에 분리 저장</a:t>
            </a:r>
          </a:p>
        </p:txBody>
      </p:sp>
    </p:spTree>
    <p:extLst>
      <p:ext uri="{BB962C8B-B14F-4D97-AF65-F5344CB8AC3E}">
        <p14:creationId xmlns:p14="http://schemas.microsoft.com/office/powerpoint/2010/main" val="1311585612"/>
      </p:ext>
    </p:extLst>
  </p:cSld>
</p:sld>
</file>

<file path=ppt/slides/slide12.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1BEB6577-5408-40A9-9BC3-445F137AB2A4}"/>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모델의 검증 성능</a:t>
            </a:r>
          </a:p>
        </p:txBody>
      </p:sp>
      <p:sp>
        <p:nvSpPr>
          <p:cNvPr id="2" name="직사각형 1">
            <a:extLst xmlns:a="http://schemas.openxmlformats.org/drawingml/2006/main">
              <a:ext uri="{FF2B5EF4-FFF2-40B4-BE49-F238E27FC236}">
                <a16:creationId xmlns:a16="http://schemas.microsoft.com/office/drawing/2014/main" id="{6C94A07A-BB10-478B-BF6D-90EBF3EEEFC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최고 수치는 EfficientNet-B0, 세 모델은 모두 프로그램에 탑재</a:t>
            </a:r>
          </a:p>
        </p:txBody>
      </p:sp>
      <p:sp>
        <p:nvSpPr>
          <p:cNvPr id="3" name="직선 연결선 2">
            <a:extLst xmlns:a="http://schemas.openxmlformats.org/drawingml/2006/main">
              <a:ext uri="{FF2B5EF4-FFF2-40B4-BE49-F238E27FC236}">
                <a16:creationId xmlns:a16="http://schemas.microsoft.com/office/drawing/2014/main" id="{FBAD78F2-5C4D-4BC0-AF8D-DD50C55F4FD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5613573-F5C2-4BE1-9AD4-E421EBAD9348}"/>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A236C769-3F4C-4BFA-92FF-5B1748112FCF}"/>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12</a:t>
            </a:r>
          </a:p>
        </p:txBody>
      </p:sp>
      <p:graphicFrame>
        <p:nvGraphicFramePr>
          <p:cNvPr id="20" name="Chart"/>
          <p:cNvGraphicFramePr/>
          <p:nvPr/>
        </p:nvGraphicFramePr>
        <p:xfrm>
          <a:off xmlns:a="http://schemas.openxmlformats.org/drawingml/2006/main" x="704850" y="1619250"/>
          <a:ext xmlns:a="http://schemas.openxmlformats.org/drawingml/2006/main" cx="7905750" cy="4000500"/>
        </p:xfrm>
        <a:graphic xmlns:a="http://schemas.openxmlformats.org/drawingml/2006/main">
          <a:graphicData uri="http://schemas.openxmlformats.org/drawingml/2006/chart">
            <c:chart xmlns:r="http://schemas.openxmlformats.org/officeDocument/2006/relationships" xmlns:c="http://schemas.openxmlformats.org/drawingml/2006/chart" r:id="R0264fb47bb8841ac"/>
          </a:graphicData>
        </a:graphic>
      </p:graphicFrame>
      <p:sp>
        <p:nvSpPr>
          <p:cNvPr id="7" name="직사각형 6">
            <a:extLst xmlns:a="http://schemas.openxmlformats.org/drawingml/2006/main">
              <a:ext uri="{FF2B5EF4-FFF2-40B4-BE49-F238E27FC236}">
                <a16:creationId xmlns:a16="http://schemas.microsoft.com/office/drawing/2014/main" id="{DF186A23-D41A-4357-AF27-4C8ED4BE629D}"/>
              </a:ext>
            </a:extLst>
          </p:cNvPr>
          <p:cNvSpPr>
            <a:spLocks xmlns:a="http://schemas.openxmlformats.org/drawingml/2006/main" noGrp="1"/>
          </p:cNvSpPr>
          <p:nvPr/>
        </p:nvSpPr>
        <p:spPr>
          <a:xfrm xmlns:a="http://schemas.openxmlformats.org/drawingml/2006/main">
            <a:off x="9067800" y="20764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0.7400</a:t>
            </a:r>
          </a:p>
        </p:txBody>
      </p:sp>
      <p:sp>
        <p:nvSpPr>
          <p:cNvPr id="8" name="직사각형 7">
            <a:extLst xmlns:a="http://schemas.openxmlformats.org/drawingml/2006/main">
              <a:ext uri="{FF2B5EF4-FFF2-40B4-BE49-F238E27FC236}">
                <a16:creationId xmlns:a16="http://schemas.microsoft.com/office/drawing/2014/main" id="{65FE4156-3721-4695-AFB9-52170BE0B199}"/>
              </a:ext>
            </a:extLst>
          </p:cNvPr>
          <p:cNvSpPr>
            <a:spLocks xmlns:a="http://schemas.openxmlformats.org/drawingml/2006/main" noGrp="1"/>
          </p:cNvSpPr>
          <p:nvPr/>
        </p:nvSpPr>
        <p:spPr>
          <a:xfrm xmlns:a="http://schemas.openxmlformats.org/drawingml/2006/main">
            <a:off x="9067800" y="27051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Accuracy</a:t>
            </a:r>
          </a:p>
        </p:txBody>
      </p:sp>
      <p:sp>
        <p:nvSpPr>
          <p:cNvPr id="9" name="직사각형 8">
            <a:extLst xmlns:a="http://schemas.openxmlformats.org/drawingml/2006/main">
              <a:ext uri="{FF2B5EF4-FFF2-40B4-BE49-F238E27FC236}">
                <a16:creationId xmlns:a16="http://schemas.microsoft.com/office/drawing/2014/main" id="{DEE6C811-3C00-4ADD-9E1D-7785ED4F442B}"/>
              </a:ext>
            </a:extLst>
          </p:cNvPr>
          <p:cNvSpPr>
            <a:spLocks xmlns:a="http://schemas.openxmlformats.org/drawingml/2006/main" noGrp="1"/>
          </p:cNvSpPr>
          <p:nvPr/>
        </p:nvSpPr>
        <p:spPr>
          <a:xfrm xmlns:a="http://schemas.openxmlformats.org/drawingml/2006/main">
            <a:off x="9067800" y="3562350"/>
            <a:ext cx="2095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0.7357</a:t>
            </a:r>
          </a:p>
        </p:txBody>
      </p:sp>
      <p:sp>
        <p:nvSpPr>
          <p:cNvPr id="10" name="직사각형 9">
            <a:extLst xmlns:a="http://schemas.openxmlformats.org/drawingml/2006/main">
              <a:ext uri="{FF2B5EF4-FFF2-40B4-BE49-F238E27FC236}">
                <a16:creationId xmlns:a16="http://schemas.microsoft.com/office/drawing/2014/main" id="{DA0C30C9-8BFD-4FB6-ADA2-5A227AFF2729}"/>
              </a:ext>
            </a:extLst>
          </p:cNvPr>
          <p:cNvSpPr>
            <a:spLocks xmlns:a="http://schemas.openxmlformats.org/drawingml/2006/main" noGrp="1"/>
          </p:cNvSpPr>
          <p:nvPr/>
        </p:nvSpPr>
        <p:spPr>
          <a:xfrm xmlns:a="http://schemas.openxmlformats.org/drawingml/2006/main">
            <a:off x="9067800" y="419100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Macro-F1</a:t>
            </a:r>
          </a:p>
        </p:txBody>
      </p:sp>
      <p:sp>
        <p:nvSpPr>
          <p:cNvPr id="11" name="직사각형 10">
            <a:extLst xmlns:a="http://schemas.openxmlformats.org/drawingml/2006/main">
              <a:ext uri="{FF2B5EF4-FFF2-40B4-BE49-F238E27FC236}">
                <a16:creationId xmlns:a16="http://schemas.microsoft.com/office/drawing/2014/main" id="{E5D89FFD-772F-4DB2-A29C-6DE951C9A879}"/>
              </a:ext>
            </a:extLst>
          </p:cNvPr>
          <p:cNvSpPr>
            <a:spLocks xmlns:a="http://schemas.openxmlformats.org/drawingml/2006/main" noGrp="1"/>
          </p:cNvSpPr>
          <p:nvPr/>
        </p:nvSpPr>
        <p:spPr>
          <a:xfrm xmlns:a="http://schemas.openxmlformats.org/drawingml/2006/main">
            <a:off x="9067800" y="5000625"/>
            <a:ext cx="228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EfficientNet-B0</a:t>
            </a:r>
          </a:p>
        </p:txBody>
      </p:sp>
      <p:sp>
        <p:nvSpPr>
          <p:cNvPr id="12" name="직사각형 11">
            <a:extLst xmlns:a="http://schemas.openxmlformats.org/drawingml/2006/main">
              <a:ext uri="{FF2B5EF4-FFF2-40B4-BE49-F238E27FC236}">
                <a16:creationId xmlns:a16="http://schemas.microsoft.com/office/drawing/2014/main" id="{64DA393D-6976-4E6D-807E-05DA7CC703F1}"/>
              </a:ext>
            </a:extLst>
          </p:cNvPr>
          <p:cNvSpPr>
            <a:spLocks xmlns:a="http://schemas.openxmlformats.org/drawingml/2006/main" noGrp="1"/>
          </p:cNvSpPr>
          <p:nvPr/>
        </p:nvSpPr>
        <p:spPr>
          <a:xfrm xmlns:a="http://schemas.openxmlformats.org/drawingml/2006/main">
            <a:off x="9067800" y="5429250"/>
            <a:ext cx="209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a:t>
            </a:r>
          </a:p>
        </p:txBody>
      </p:sp>
    </p:spTree>
    <p:extLst>
      <p:ext uri="{BB962C8B-B14F-4D97-AF65-F5344CB8AC3E}">
        <p14:creationId xmlns:p14="http://schemas.microsoft.com/office/powerpoint/2010/main" val="568626718"/>
      </p:ext>
    </p:extLst>
  </p:cSld>
</p:sld>
</file>

<file path=ppt/slides/slide13.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B3ABF865-F395-4550-847C-386B42F261CB}"/>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감정별 F1</a:t>
            </a:r>
          </a:p>
        </p:txBody>
      </p:sp>
      <p:sp>
        <p:nvSpPr>
          <p:cNvPr id="2" name="직사각형 1">
            <a:extLst xmlns:a="http://schemas.openxmlformats.org/drawingml/2006/main">
              <a:ext uri="{FF2B5EF4-FFF2-40B4-BE49-F238E27FC236}">
                <a16:creationId xmlns:a16="http://schemas.microsoft.com/office/drawing/2014/main" id="{CC3E51EE-7BCE-4871-A2CF-7B327D7A6873}"/>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기쁨·중립은 강하고 불안·상처는 공통 약점</a:t>
            </a:r>
          </a:p>
        </p:txBody>
      </p:sp>
      <p:sp>
        <p:nvSpPr>
          <p:cNvPr id="3" name="직선 연결선 2">
            <a:extLst xmlns:a="http://schemas.openxmlformats.org/drawingml/2006/main">
              <a:ext uri="{FF2B5EF4-FFF2-40B4-BE49-F238E27FC236}">
                <a16:creationId xmlns:a16="http://schemas.microsoft.com/office/drawing/2014/main" id="{4CE2B66C-9199-49AB-940B-419520682177}"/>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5D09E57-60D8-465E-ABE1-E7D0722840C8}"/>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A0D98CBA-3A37-4E5A-B785-A5840FFDBED0}"/>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13</a:t>
            </a:r>
          </a:p>
        </p:txBody>
      </p:sp>
      <p:graphicFrame>
        <p:nvGraphicFramePr>
          <p:cNvPr id="20" name="Chart"/>
          <p:cNvGraphicFramePr/>
          <p:nvPr/>
        </p:nvGraphicFramePr>
        <p:xfrm>
          <a:off xmlns:a="http://schemas.openxmlformats.org/drawingml/2006/main" x="647700" y="1600200"/>
          <a:ext xmlns:a="http://schemas.openxmlformats.org/drawingml/2006/main" cx="8477250" cy="4095750"/>
        </p:xfrm>
        <a:graphic xmlns:a="http://schemas.openxmlformats.org/drawingml/2006/main">
          <a:graphicData uri="http://schemas.openxmlformats.org/drawingml/2006/chart">
            <c:chart xmlns:r="http://schemas.openxmlformats.org/officeDocument/2006/relationships" xmlns:c="http://schemas.openxmlformats.org/drawingml/2006/chart" r:id="Rbe3d6f92eeba41cb"/>
          </a:graphicData>
        </a:graphic>
      </p:graphicFrame>
      <p:sp>
        <p:nvSpPr>
          <p:cNvPr id="7" name="직사각형 6">
            <a:extLst xmlns:a="http://schemas.openxmlformats.org/drawingml/2006/main">
              <a:ext uri="{FF2B5EF4-FFF2-40B4-BE49-F238E27FC236}">
                <a16:creationId xmlns:a16="http://schemas.microsoft.com/office/drawing/2014/main" id="{CB339676-9A8C-4B83-B913-54149E0D029E}"/>
              </a:ext>
            </a:extLst>
          </p:cNvPr>
          <p:cNvSpPr>
            <a:spLocks xmlns:a="http://schemas.openxmlformats.org/drawingml/2006/main" noGrp="1"/>
          </p:cNvSpPr>
          <p:nvPr/>
        </p:nvSpPr>
        <p:spPr>
          <a:xfrm xmlns:a="http://schemas.openxmlformats.org/drawingml/2006/main">
            <a:off x="9525000" y="19431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950" b="1" i="0">
                <a:solidFill>
                  <a:srgbClr val="F97356"/>
                </a:solidFill>
                <a:latin typeface="Malgun Gothic"/>
                <a:ea typeface="Malgun Gothic"/>
                <a:cs typeface="Malgun Gothic"/>
              </a:defRPr>
            </a:pPr>
            <a:r>
              <a:rPr sz="1950" b="1" i="0">
                <a:solidFill>
                  <a:srgbClr val="F97356"/>
                </a:solidFill>
                <a:latin typeface="Malgun Gothic"/>
                <a:ea typeface="Malgun Gothic"/>
                <a:cs typeface="Malgun Gothic"/>
              </a:rPr>
              <a:t>공통 약점</a:t>
            </a:r>
          </a:p>
        </p:txBody>
      </p:sp>
      <p:sp>
        <p:nvSpPr>
          <p:cNvPr id="8" name="직사각형 7">
            <a:extLst xmlns:a="http://schemas.openxmlformats.org/drawingml/2006/main">
              <a:ext uri="{FF2B5EF4-FFF2-40B4-BE49-F238E27FC236}">
                <a16:creationId xmlns:a16="http://schemas.microsoft.com/office/drawing/2014/main" id="{D1676474-8EF6-45F5-B6F6-02AD3B98B3B6}"/>
              </a:ext>
            </a:extLst>
          </p:cNvPr>
          <p:cNvSpPr>
            <a:spLocks xmlns:a="http://schemas.openxmlformats.org/drawingml/2006/main" noGrp="1"/>
          </p:cNvSpPr>
          <p:nvPr/>
        </p:nvSpPr>
        <p:spPr>
          <a:xfrm xmlns:a="http://schemas.openxmlformats.org/drawingml/2006/main">
            <a:off x="9525000" y="253365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불안</a:t>
            </a:r>
          </a:p>
        </p:txBody>
      </p:sp>
      <p:sp>
        <p:nvSpPr>
          <p:cNvPr id="9" name="직사각형 8">
            <a:extLst xmlns:a="http://schemas.openxmlformats.org/drawingml/2006/main">
              <a:ext uri="{FF2B5EF4-FFF2-40B4-BE49-F238E27FC236}">
                <a16:creationId xmlns:a16="http://schemas.microsoft.com/office/drawing/2014/main" id="{EDB5B867-6E86-4330-976E-339BF66F900A}"/>
              </a:ext>
            </a:extLst>
          </p:cNvPr>
          <p:cNvSpPr>
            <a:spLocks xmlns:a="http://schemas.openxmlformats.org/drawingml/2006/main" noGrp="1"/>
          </p:cNvSpPr>
          <p:nvPr/>
        </p:nvSpPr>
        <p:spPr>
          <a:xfrm xmlns:a="http://schemas.openxmlformats.org/drawingml/2006/main">
            <a:off x="9525000" y="297180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0.56~0.57</a:t>
            </a:r>
          </a:p>
        </p:txBody>
      </p:sp>
      <p:sp>
        <p:nvSpPr>
          <p:cNvPr id="10" name="직사각형 9">
            <a:extLst xmlns:a="http://schemas.openxmlformats.org/drawingml/2006/main">
              <a:ext uri="{FF2B5EF4-FFF2-40B4-BE49-F238E27FC236}">
                <a16:creationId xmlns:a16="http://schemas.microsoft.com/office/drawing/2014/main" id="{EA3880C7-1BD5-45D6-8DF0-B90C2C080C91}"/>
              </a:ext>
            </a:extLst>
          </p:cNvPr>
          <p:cNvSpPr>
            <a:spLocks xmlns:a="http://schemas.openxmlformats.org/drawingml/2006/main" noGrp="1"/>
          </p:cNvSpPr>
          <p:nvPr/>
        </p:nvSpPr>
        <p:spPr>
          <a:xfrm xmlns:a="http://schemas.openxmlformats.org/drawingml/2006/main">
            <a:off x="9525000" y="3695700"/>
            <a:ext cx="161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상처</a:t>
            </a:r>
          </a:p>
        </p:txBody>
      </p:sp>
      <p:sp>
        <p:nvSpPr>
          <p:cNvPr id="11" name="직사각형 10">
            <a:extLst xmlns:a="http://schemas.openxmlformats.org/drawingml/2006/main">
              <a:ext uri="{FF2B5EF4-FFF2-40B4-BE49-F238E27FC236}">
                <a16:creationId xmlns:a16="http://schemas.microsoft.com/office/drawing/2014/main" id="{67027350-64D2-42B7-8F19-1B59B4ECCF36}"/>
              </a:ext>
            </a:extLst>
          </p:cNvPr>
          <p:cNvSpPr>
            <a:spLocks xmlns:a="http://schemas.openxmlformats.org/drawingml/2006/main" noGrp="1"/>
          </p:cNvSpPr>
          <p:nvPr/>
        </p:nvSpPr>
        <p:spPr>
          <a:xfrm xmlns:a="http://schemas.openxmlformats.org/drawingml/2006/main">
            <a:off x="9525000" y="4133850"/>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0.50~0.54</a:t>
            </a:r>
          </a:p>
        </p:txBody>
      </p:sp>
      <p:sp>
        <p:nvSpPr>
          <p:cNvPr id="12" name="직사각형 11">
            <a:extLst xmlns:a="http://schemas.openxmlformats.org/drawingml/2006/main">
              <a:ext uri="{FF2B5EF4-FFF2-40B4-BE49-F238E27FC236}">
                <a16:creationId xmlns:a16="http://schemas.microsoft.com/office/drawing/2014/main" id="{2BAA5B61-9B55-4AED-82E7-B3C2F3E23E37}"/>
              </a:ext>
            </a:extLst>
          </p:cNvPr>
          <p:cNvSpPr>
            <a:spLocks xmlns:a="http://schemas.openxmlformats.org/drawingml/2006/main" noGrp="1"/>
          </p:cNvSpPr>
          <p:nvPr/>
        </p:nvSpPr>
        <p:spPr>
          <a:xfrm xmlns:a="http://schemas.openxmlformats.org/drawingml/2006/main">
            <a:off x="9525000" y="4953000"/>
            <a:ext cx="19526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향후 오분류 사례와 라벨 경계를 집중 분석</a:t>
            </a:r>
          </a:p>
        </p:txBody>
      </p:sp>
    </p:spTree>
    <p:extLst>
      <p:ext uri="{BB962C8B-B14F-4D97-AF65-F5344CB8AC3E}">
        <p14:creationId xmlns:p14="http://schemas.microsoft.com/office/powerpoint/2010/main" val="798534272"/>
      </p:ext>
    </p:extLst>
  </p:cSld>
</p:sld>
</file>

<file path=ppt/slides/slide14.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45FBB835-6EE2-480E-B845-7998055E8A4D}"/>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 결과 분석 예시</a:t>
            </a:r>
          </a:p>
        </p:txBody>
      </p:sp>
      <p:sp>
        <p:nvSpPr>
          <p:cNvPr id="2" name="직사각형 1">
            <a:extLst xmlns:a="http://schemas.openxmlformats.org/drawingml/2006/main">
              <a:ext uri="{FF2B5EF4-FFF2-40B4-BE49-F238E27FC236}">
                <a16:creationId xmlns:a16="http://schemas.microsoft.com/office/drawing/2014/main" id="{68B80552-00E5-440A-B5C5-0B8D014EF832}"/>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EfficientNet-B0의 학습곡선과 혼동행렬을 예시로 확인</a:t>
            </a:r>
          </a:p>
        </p:txBody>
      </p:sp>
      <p:sp>
        <p:nvSpPr>
          <p:cNvPr id="3" name="직선 연결선 2">
            <a:extLst xmlns:a="http://schemas.openxmlformats.org/drawingml/2006/main">
              <a:ext uri="{FF2B5EF4-FFF2-40B4-BE49-F238E27FC236}">
                <a16:creationId xmlns:a16="http://schemas.microsoft.com/office/drawing/2014/main" id="{10FA11AB-247B-4CAD-95B8-BE969F49190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D05AADEA-524A-4FCF-A4DD-38ED99DDE633}"/>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6E3BEF87-EF9D-435E-A1B3-0A04151856C1}"/>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14</a:t>
            </a:r>
          </a:p>
        </p:txBody>
      </p:sp>
      <p:pic>
        <p:nvPicPr>
          <p:cNvPr id="17" name="그림 13"/>
          <p:cNvPicPr>
            <a:picLocks xmlns:a="http://schemas.openxmlformats.org/drawingml/2006/main" noChangeAspect="1"/>
          </p:cNvPicPr>
          <p:nvPr/>
        </p:nvPicPr>
        <p:blipFill>
          <a:blip xmlns:r="http://schemas.openxmlformats.org/officeDocument/2006/relationships" xmlns:a="http://schemas.openxmlformats.org/drawingml/2006/main" r:embed="R0376fa12b35640c5"/>
          <a:stretch xmlns:a="http://schemas.openxmlformats.org/drawingml/2006/main"/>
        </p:blipFill>
        <p:spPr>
          <a:xfrm xmlns:a="http://schemas.openxmlformats.org/drawingml/2006/main">
            <a:off x="552450" y="1569245"/>
            <a:ext cx="6858000" cy="4195760"/>
          </a:xfrm>
          <a:prstGeom xmlns:a="http://schemas.openxmlformats.org/drawingml/2006/main" prst="rect">
            <a:avLst/>
          </a:prstGeom>
        </p:spPr>
      </p:pic>
      <p:pic>
        <p:nvPicPr>
          <p:cNvPr id="18" name="그림 14"/>
          <p:cNvPicPr>
            <a:picLocks xmlns:a="http://schemas.openxmlformats.org/drawingml/2006/main" noChangeAspect="1"/>
          </p:cNvPicPr>
          <p:nvPr/>
        </p:nvPicPr>
        <p:blipFill>
          <a:blip xmlns:r="http://schemas.openxmlformats.org/officeDocument/2006/relationships" xmlns:a="http://schemas.openxmlformats.org/drawingml/2006/main" r:embed="R7c92a0d9253d4c34"/>
          <a:stretch xmlns:a="http://schemas.openxmlformats.org/drawingml/2006/main"/>
        </p:blipFill>
        <p:spPr>
          <a:xfrm xmlns:a="http://schemas.openxmlformats.org/drawingml/2006/main">
            <a:off x="7620000" y="1891433"/>
            <a:ext cx="3905250" cy="3551384"/>
          </a:xfrm>
          <a:prstGeom xmlns:a="http://schemas.openxmlformats.org/drawingml/2006/main" prst="rect">
            <a:avLst/>
          </a:prstGeom>
        </p:spPr>
      </p:pic>
      <p:sp>
        <p:nvSpPr>
          <p:cNvPr id="8" name="직사각형 7">
            <a:extLst xmlns:a="http://schemas.openxmlformats.org/drawingml/2006/main">
              <a:ext uri="{FF2B5EF4-FFF2-40B4-BE49-F238E27FC236}">
                <a16:creationId xmlns:a16="http://schemas.microsoft.com/office/drawing/2014/main" id="{A064CAEA-A4A2-480B-BBCF-8F6FFE737F0F}"/>
              </a:ext>
            </a:extLst>
          </p:cNvPr>
          <p:cNvSpPr>
            <a:spLocks xmlns:a="http://schemas.openxmlformats.org/drawingml/2006/main" noGrp="1"/>
          </p:cNvSpPr>
          <p:nvPr/>
        </p:nvSpPr>
        <p:spPr>
          <a:xfrm xmlns:a="http://schemas.openxmlformats.org/drawingml/2006/main">
            <a:off x="781050" y="5848350"/>
            <a:ext cx="1038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학습 정확도는 계속 상승했지만 검증 성능은 약 0.74 부근에서 정체</a:t>
            </a:r>
          </a:p>
        </p:txBody>
      </p:sp>
    </p:spTree>
    <p:extLst>
      <p:ext uri="{BB962C8B-B14F-4D97-AF65-F5344CB8AC3E}">
        <p14:creationId xmlns:p14="http://schemas.microsoft.com/office/powerpoint/2010/main" val="167545870"/>
      </p:ext>
    </p:extLst>
  </p:cSld>
</p:sld>
</file>

<file path=ppt/slides/slide15.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3" name="직사각형 12">
            <a:extLst xmlns:a="http://schemas.openxmlformats.org/drawingml/2006/main">
              <a:ext uri="{FF2B5EF4-FFF2-40B4-BE49-F238E27FC236}">
                <a16:creationId xmlns:a16="http://schemas.microsoft.com/office/drawing/2014/main" id="{8A0B734E-3F52-44EA-858E-22A5AF4995EB}"/>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 체크포인트와 팀 전달 파일</a:t>
            </a:r>
          </a:p>
        </p:txBody>
      </p:sp>
      <p:sp>
        <p:nvSpPr>
          <p:cNvPr id="2" name="직사각형 1">
            <a:extLst xmlns:a="http://schemas.openxmlformats.org/drawingml/2006/main">
              <a:ext uri="{FF2B5EF4-FFF2-40B4-BE49-F238E27FC236}">
                <a16:creationId xmlns:a16="http://schemas.microsoft.com/office/drawing/2014/main" id="{E6F4A826-33B6-4AA1-8CE1-E2E805995D7B}"/>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웹캠 프로그램은 세 모델의 best.pt를 모두 사용</a:t>
            </a:r>
          </a:p>
        </p:txBody>
      </p:sp>
      <p:sp>
        <p:nvSpPr>
          <p:cNvPr id="3" name="직선 연결선 2">
            <a:extLst xmlns:a="http://schemas.openxmlformats.org/drawingml/2006/main">
              <a:ext uri="{FF2B5EF4-FFF2-40B4-BE49-F238E27FC236}">
                <a16:creationId xmlns:a16="http://schemas.microsoft.com/office/drawing/2014/main" id="{E76DB4BB-46D6-4BD1-9A13-6C403F0685FC}"/>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4185E663-EA90-42B6-BDF5-E56B81BF07EA}"/>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C23B4686-D0F0-460D-8C01-1D674DA0EB23}"/>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15</a:t>
            </a:r>
          </a:p>
        </p:txBody>
      </p:sp>
      <p:sp>
        <p:nvSpPr>
          <p:cNvPr id="6" name="직사각형 5">
            <a:extLst xmlns:a="http://schemas.openxmlformats.org/drawingml/2006/main">
              <a:ext uri="{FF2B5EF4-FFF2-40B4-BE49-F238E27FC236}">
                <a16:creationId xmlns:a16="http://schemas.microsoft.com/office/drawing/2014/main" id="{DA73798E-7D87-4464-80DF-2A2FE7A22722}"/>
              </a:ext>
            </a:extLst>
          </p:cNvPr>
          <p:cNvSpPr>
            <a:spLocks xmlns:a="http://schemas.openxmlformats.org/drawingml/2006/main" noGrp="1"/>
          </p:cNvSpPr>
          <p:nvPr/>
        </p:nvSpPr>
        <p:spPr>
          <a:xfrm xmlns:a="http://schemas.openxmlformats.org/drawingml/2006/main">
            <a:off x="704850" y="17907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750" b="1" i="0">
                <a:solidFill>
                  <a:srgbClr val="4263EB"/>
                </a:solidFill>
                <a:latin typeface="Malgun Gothic"/>
                <a:ea typeface="Malgun Gothic"/>
                <a:cs typeface="Malgun Gothic"/>
              </a:defRPr>
            </a:pPr>
            <a:r>
              <a:rPr sz="3750" b="1" i="0">
                <a:solidFill>
                  <a:srgbClr val="4263EB"/>
                </a:solidFill>
                <a:latin typeface="Malgun Gothic"/>
                <a:ea typeface="Malgun Gothic"/>
                <a:cs typeface="Malgun Gothic"/>
              </a:rPr>
              <a:t>3개 모델</a:t>
            </a:r>
          </a:p>
        </p:txBody>
      </p:sp>
      <p:sp>
        <p:nvSpPr>
          <p:cNvPr id="7" name="직사각형 6">
            <a:extLst xmlns:a="http://schemas.openxmlformats.org/drawingml/2006/main">
              <a:ext uri="{FF2B5EF4-FFF2-40B4-BE49-F238E27FC236}">
                <a16:creationId xmlns:a16="http://schemas.microsoft.com/office/drawing/2014/main" id="{B1EF58CC-A7E1-405C-BA00-F5E3456F04AB}"/>
              </a:ext>
            </a:extLst>
          </p:cNvPr>
          <p:cNvSpPr>
            <a:spLocks xmlns:a="http://schemas.openxmlformats.org/drawingml/2006/main" noGrp="1"/>
          </p:cNvSpPr>
          <p:nvPr/>
        </p:nvSpPr>
        <p:spPr>
          <a:xfrm xmlns:a="http://schemas.openxmlformats.org/drawingml/2006/main">
            <a:off x="723900" y="2571750"/>
            <a:ext cx="847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00" b="0" i="0">
                <a:solidFill>
                  <a:srgbClr val="607086"/>
                </a:solidFill>
                <a:latin typeface="Malgun Gothic"/>
                <a:ea typeface="Malgun Gothic"/>
                <a:cs typeface="Malgun Gothic"/>
              </a:defRPr>
            </a:pPr>
            <a:r>
              <a:rPr sz="1800" b="0" i="0">
                <a:solidFill>
                  <a:srgbClr val="607086"/>
                </a:solidFill>
                <a:latin typeface="Malgun Gothic"/>
                <a:ea typeface="Malgun Gothic"/>
                <a:cs typeface="Malgun Gothic"/>
              </a:rPr>
              <a:t>ResNet18    MobileNetV2    EfficientNet-B0</a:t>
            </a:r>
          </a:p>
        </p:txBody>
      </p:sp>
      <p:sp>
        <p:nvSpPr>
          <p:cNvPr id="8" name="직사각형 7">
            <a:extLst xmlns:a="http://schemas.openxmlformats.org/drawingml/2006/main">
              <a:ext uri="{FF2B5EF4-FFF2-40B4-BE49-F238E27FC236}">
                <a16:creationId xmlns:a16="http://schemas.microsoft.com/office/drawing/2014/main" id="{EB0BA8CC-EFB3-448B-A140-0277E4AA4446}"/>
              </a:ext>
            </a:extLst>
          </p:cNvPr>
          <p:cNvSpPr>
            <a:spLocks xmlns:a="http://schemas.openxmlformats.org/drawingml/2006/main" noGrp="1"/>
          </p:cNvSpPr>
          <p:nvPr/>
        </p:nvSpPr>
        <p:spPr>
          <a:xfrm xmlns:a="http://schemas.openxmlformats.org/drawingml/2006/main">
            <a:off x="723900" y="3505200"/>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025" b="1" i="0">
                <a:solidFill>
                  <a:srgbClr val="122033"/>
                </a:solidFill>
                <a:latin typeface="Malgun Gothic"/>
                <a:ea typeface="Malgun Gothic"/>
                <a:cs typeface="Malgun Gothic"/>
              </a:defRPr>
            </a:pPr>
            <a:r>
              <a:rPr sz="2025" b="1" i="0">
                <a:solidFill>
                  <a:srgbClr val="122033"/>
                </a:solidFill>
                <a:latin typeface="Malgun Gothic"/>
                <a:ea typeface="Malgun Gothic"/>
                <a:cs typeface="Malgun Gothic"/>
              </a:rPr>
              <a:t>모델 경로</a:t>
            </a:r>
          </a:p>
        </p:txBody>
      </p:sp>
      <p:sp>
        <p:nvSpPr>
          <p:cNvPr id="9" name="사각형: 둥근 모서리 8">
            <a:extLst xmlns:a="http://schemas.openxmlformats.org/drawingml/2006/main">
              <a:ext uri="{FF2B5EF4-FFF2-40B4-BE49-F238E27FC236}">
                <a16:creationId xmlns:a16="http://schemas.microsoft.com/office/drawing/2014/main" id="{2058FE6D-034E-41FC-8C45-BA465C0CB7B5}"/>
              </a:ext>
            </a:extLst>
          </p:cNvPr>
          <p:cNvSpPr>
            <a:spLocks xmlns:a="http://schemas.openxmlformats.org/drawingml/2006/main" noGrp="1"/>
          </p:cNvSpPr>
          <p:nvPr/>
        </p:nvSpPr>
        <p:spPr>
          <a:xfrm xmlns:a="http://schemas.openxmlformats.org/drawingml/2006/main">
            <a:off x="723900" y="3962400"/>
            <a:ext cx="8667750" cy="1104900"/>
          </a:xfrm>
          <a:prstGeom xmlns:a="http://schemas.openxmlformats.org/drawingml/2006/main" prst="roundRect">
            <a:avLst>
              <a:gd name="adj" fmla="val 13043"/>
            </a:avLst>
          </a:prstGeom>
          <a:solidFill xmlns:a="http://schemas.openxmlformats.org/drawingml/2006/main">
            <a:srgbClr val="0B1526"/>
          </a:solidFill>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ResNet18  models/.../best.pt
MobileNetV2  models/.../best.pt</a:t>
            </a:r>
          </a:p>
          <a:p xmlns:a="http://schemas.openxmlformats.org/drawingml/2006/main">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EfficientNet-B0  models/.../best.pt</a:t>
            </a:r>
          </a:p>
        </p:txBody>
      </p:sp>
      <p:sp>
        <p:nvSpPr>
          <p:cNvPr id="10" name="직사각형 9">
            <a:extLst xmlns:a="http://schemas.openxmlformats.org/drawingml/2006/main">
              <a:ext uri="{FF2B5EF4-FFF2-40B4-BE49-F238E27FC236}">
                <a16:creationId xmlns:a16="http://schemas.microsoft.com/office/drawing/2014/main" id="{F1522130-17C7-456F-AFA3-DA33F66BAB3F}"/>
              </a:ext>
            </a:extLst>
          </p:cNvPr>
          <p:cNvSpPr>
            <a:spLocks xmlns:a="http://schemas.openxmlformats.org/drawingml/2006/main" noGrp="1"/>
          </p:cNvSpPr>
          <p:nvPr/>
        </p:nvSpPr>
        <p:spPr>
          <a:xfrm xmlns:a="http://schemas.openxmlformats.org/drawingml/2006/main">
            <a:off x="7524750" y="1790700"/>
            <a:ext cx="3810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모델 이름과 가중치</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7개 클래스 순서</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입력 크기와 정규화 값</a:t>
            </a:r>
          </a:p>
          <a:p xmlns:a="http://schemas.openxmlformats.org/drawingml/2006/main">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최고 검증 지표와 실행 환경</a:t>
            </a:r>
          </a:p>
        </p:txBody>
      </p:sp>
      <p:sp>
        <p:nvSpPr>
          <p:cNvPr id="11" name="직사각형 10">
            <a:extLst xmlns:a="http://schemas.openxmlformats.org/drawingml/2006/main">
              <a:ext uri="{FF2B5EF4-FFF2-40B4-BE49-F238E27FC236}">
                <a16:creationId xmlns:a16="http://schemas.microsoft.com/office/drawing/2014/main" id="{A2866CDC-2443-424B-B031-74AB60AC01ED}"/>
              </a:ext>
            </a:extLst>
          </p:cNvPr>
          <p:cNvSpPr>
            <a:spLocks xmlns:a="http://schemas.openxmlformats.org/drawingml/2006/main" noGrp="1"/>
          </p:cNvSpPr>
          <p:nvPr/>
        </p:nvSpPr>
        <p:spPr>
          <a:xfrm xmlns:a="http://schemas.openxmlformats.org/drawingml/2006/main">
            <a:off x="723900" y="53911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650" b="1" i="0">
                <a:solidFill>
                  <a:srgbClr val="F97356"/>
                </a:solidFill>
                <a:latin typeface="Malgun Gothic"/>
                <a:ea typeface="Malgun Gothic"/>
                <a:cs typeface="Malgun Gothic"/>
              </a:defRPr>
            </a:pPr>
            <a:r>
              <a:rPr sz="1650" b="1" i="0">
                <a:solidFill>
                  <a:srgbClr val="F97356"/>
                </a:solidFill>
                <a:latin typeface="Malgun Gothic"/>
                <a:ea typeface="Malgun Gothic"/>
                <a:cs typeface="Malgun Gothic"/>
              </a:rPr>
              <a:t>last.pt는 학습 재개용이며 프로그램은 세 모델의 best.pt를 사용한다.</a:t>
            </a:r>
          </a:p>
        </p:txBody>
      </p:sp>
      <p:sp>
        <p:nvSpPr>
          <p:cNvPr id="12" name="직사각형 11">
            <a:extLst xmlns:a="http://schemas.openxmlformats.org/drawingml/2006/main">
              <a:ext uri="{FF2B5EF4-FFF2-40B4-BE49-F238E27FC236}">
                <a16:creationId xmlns:a16="http://schemas.microsoft.com/office/drawing/2014/main" id="{477A4D66-4D12-4623-890E-8F5A0F809155}"/>
              </a:ext>
            </a:extLst>
          </p:cNvPr>
          <p:cNvSpPr>
            <a:spLocks xmlns:a="http://schemas.openxmlformats.org/drawingml/2006/main" noGrp="1"/>
          </p:cNvSpPr>
          <p:nvPr/>
        </p:nvSpPr>
        <p:spPr>
          <a:xfrm xmlns:a="http://schemas.openxmlformats.org/drawingml/2006/main">
            <a:off x="723900" y="58483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세 모델의 best.pt를 Git LFS 또는 팀 공유 폴더로 전달</a:t>
            </a:r>
          </a:p>
        </p:txBody>
      </p:sp>
    </p:spTree>
    <p:extLst>
      <p:ext uri="{BB962C8B-B14F-4D97-AF65-F5344CB8AC3E}">
        <p14:creationId xmlns:p14="http://schemas.microsoft.com/office/powerpoint/2010/main" val="201998932"/>
      </p:ext>
    </p:extLst>
  </p:cSld>
</p:sld>
</file>

<file path=ppt/slides/slide16.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2" name="직사각형 11">
            <a:extLst xmlns:a="http://schemas.openxmlformats.org/drawingml/2006/main">
              <a:ext uri="{FF2B5EF4-FFF2-40B4-BE49-F238E27FC236}">
                <a16:creationId xmlns:a16="http://schemas.microsoft.com/office/drawing/2014/main" id="{337A7044-875B-405B-9468-5A5C1FC09985}"/>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현재 결과의 한계</a:t>
            </a:r>
          </a:p>
        </p:txBody>
      </p:sp>
      <p:sp>
        <p:nvSpPr>
          <p:cNvPr id="2" name="직사각형 1">
            <a:extLst xmlns:a="http://schemas.openxmlformats.org/drawingml/2006/main">
              <a:ext uri="{FF2B5EF4-FFF2-40B4-BE49-F238E27FC236}">
                <a16:creationId xmlns:a16="http://schemas.microsoft.com/office/drawing/2014/main" id="{96238EDC-C734-41BC-B0C8-E43EAC411549}"/>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배포 전 일반화와 실시간 성능을 추가 검증</a:t>
            </a:r>
          </a:p>
        </p:txBody>
      </p:sp>
      <p:sp>
        <p:nvSpPr>
          <p:cNvPr id="3" name="직선 연결선 2">
            <a:extLst xmlns:a="http://schemas.openxmlformats.org/drawingml/2006/main">
              <a:ext uri="{FF2B5EF4-FFF2-40B4-BE49-F238E27FC236}">
                <a16:creationId xmlns:a16="http://schemas.microsoft.com/office/drawing/2014/main" id="{DF2C06E0-C9D8-4393-8842-A1F2DFB2E9A6}"/>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206BF82A-2981-4155-B397-BC5FBFAA22B5}"/>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5BB6C15C-98EF-4673-814B-C9329810BD3A}"/>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16</a:t>
            </a:r>
          </a:p>
        </p:txBody>
      </p:sp>
      <p:sp>
        <p:nvSpPr>
          <p:cNvPr id="6" name="직사각형 5">
            <a:extLst xmlns:a="http://schemas.openxmlformats.org/drawingml/2006/main">
              <a:ext uri="{FF2B5EF4-FFF2-40B4-BE49-F238E27FC236}">
                <a16:creationId xmlns:a16="http://schemas.microsoft.com/office/drawing/2014/main" id="{B5B32EC8-0134-4BBF-ACA6-7F3FA2C636CA}"/>
              </a:ext>
            </a:extLst>
          </p:cNvPr>
          <p:cNvSpPr>
            <a:spLocks xmlns:a="http://schemas.openxmlformats.org/drawingml/2006/main" noGrp="1"/>
          </p:cNvSpPr>
          <p:nvPr/>
        </p:nvSpPr>
        <p:spPr>
          <a:xfrm xmlns:a="http://schemas.openxmlformats.org/drawingml/2006/main">
            <a:off x="704850" y="1733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확인된 한계</a:t>
            </a:r>
          </a:p>
        </p:txBody>
      </p:sp>
      <p:sp>
        <p:nvSpPr>
          <p:cNvPr id="7" name="직사각형 6">
            <a:extLst xmlns:a="http://schemas.openxmlformats.org/drawingml/2006/main">
              <a:ext uri="{FF2B5EF4-FFF2-40B4-BE49-F238E27FC236}">
                <a16:creationId xmlns:a16="http://schemas.microsoft.com/office/drawing/2014/main" id="{F4E2336F-A41E-473D-9590-B45CE8CEC3B3}"/>
              </a:ext>
            </a:extLst>
          </p:cNvPr>
          <p:cNvSpPr>
            <a:spLocks xmlns:a="http://schemas.openxmlformats.org/drawingml/2006/main" noGrp="1"/>
          </p:cNvSpPr>
          <p:nvPr/>
        </p:nvSpPr>
        <p:spPr>
          <a:xfrm xmlns:a="http://schemas.openxmlformats.org/drawingml/2006/main">
            <a:off x="6534150" y="17335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추가 검증</a:t>
            </a:r>
          </a:p>
        </p:txBody>
      </p:sp>
      <p:sp>
        <p:nvSpPr>
          <p:cNvPr id="8" name="직사각형 7">
            <a:extLst xmlns:a="http://schemas.openxmlformats.org/drawingml/2006/main">
              <a:ext uri="{FF2B5EF4-FFF2-40B4-BE49-F238E27FC236}">
                <a16:creationId xmlns:a16="http://schemas.microsoft.com/office/drawing/2014/main" id="{D98D82D4-3456-4C20-8FC0-3CF5C101159E}"/>
              </a:ext>
            </a:extLst>
          </p:cNvPr>
          <p:cNvSpPr>
            <a:spLocks xmlns:a="http://schemas.openxmlformats.org/drawingml/2006/main" noGrp="1"/>
          </p:cNvSpPr>
          <p:nvPr/>
        </p:nvSpPr>
        <p:spPr>
          <a:xfrm xmlns:a="http://schemas.openxmlformats.org/drawingml/2006/main">
            <a:off x="685800" y="2381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Training과 Validation의 동일 식별자 중복 가능성</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Training 라벨 193,589건의 원천 이미지 미보유</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흑백 입력과 RGB 입력의 직접 비교 부재</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MobileNetV2만 PyTorch 2.14, 나머지는 2.13</a:t>
            </a:r>
          </a:p>
        </p:txBody>
      </p:sp>
      <p:sp>
        <p:nvSpPr>
          <p:cNvPr id="9" name="직사각형 8">
            <a:extLst xmlns:a="http://schemas.openxmlformats.org/drawingml/2006/main">
              <a:ext uri="{FF2B5EF4-FFF2-40B4-BE49-F238E27FC236}">
                <a16:creationId xmlns:a16="http://schemas.microsoft.com/office/drawing/2014/main" id="{18F0D364-E6AE-44DC-9A21-AFB3CCC0D511}"/>
              </a:ext>
            </a:extLst>
          </p:cNvPr>
          <p:cNvSpPr>
            <a:spLocks xmlns:a="http://schemas.openxmlformats.org/drawingml/2006/main" noGrp="1"/>
          </p:cNvSpPr>
          <p:nvPr/>
        </p:nvSpPr>
        <p:spPr>
          <a:xfrm xmlns:a="http://schemas.openxmlformats.org/drawingml/2006/main">
            <a:off x="6515100" y="2381250"/>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식별자 기반 group split 실험</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원천 이미지 확보 범위를 명확히 보고</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RGB ablation test</a:t>
            </a:r>
          </a:p>
          <a:p xmlns:a="http://schemas.openxmlformats.org/drawingml/2006/main">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동일 PyTorch lock에서 세 모델 재현</a:t>
            </a:r>
          </a:p>
        </p:txBody>
      </p:sp>
      <p:sp>
        <p:nvSpPr>
          <p:cNvPr id="10" name="직선 연결선 9">
            <a:extLst xmlns:a="http://schemas.openxmlformats.org/drawingml/2006/main">
              <a:ext uri="{FF2B5EF4-FFF2-40B4-BE49-F238E27FC236}">
                <a16:creationId xmlns:a16="http://schemas.microsoft.com/office/drawing/2014/main" id="{D34D44D8-AC29-4A97-9EC6-47DEC85D0E80}"/>
              </a:ext>
            </a:extLst>
          </p:cNvPr>
          <p:cNvSpPr>
            <a:spLocks xmlns:a="http://schemas.openxmlformats.org/drawingml/2006/main" noGrp="1"/>
          </p:cNvSpPr>
          <p:nvPr/>
        </p:nvSpPr>
        <p:spPr>
          <a:xfrm xmlns:a="http://schemas.openxmlformats.org/drawingml/2006/main">
            <a:off x="5962650" y="1752600"/>
            <a:ext cx="0" cy="3409950"/>
          </a:xfrm>
          <a:prstGeom xmlns:a="http://schemas.openxmlformats.org/drawingml/2006/main" prst="line">
            <a:avLst/>
          </a:prstGeom>
          <a:ln xmlns:a="http://schemas.openxmlformats.org/drawingml/2006/main" w="19050">
            <a:solidFill>
              <a:srgbClr val="D9E0E8"/>
            </a:solidFill>
            <a:prstDash val="solid"/>
          </a:ln>
        </p:spPr>
      </p:sp>
      <p:sp>
        <p:nvSpPr>
          <p:cNvPr id="11" name="직사각형 10">
            <a:extLst xmlns:a="http://schemas.openxmlformats.org/drawingml/2006/main">
              <a:ext uri="{FF2B5EF4-FFF2-40B4-BE49-F238E27FC236}">
                <a16:creationId xmlns:a16="http://schemas.microsoft.com/office/drawing/2014/main" id="{F66877F3-B2D7-4883-9BE7-AB618F8BE113}"/>
              </a:ext>
            </a:extLst>
          </p:cNvPr>
          <p:cNvSpPr>
            <a:spLocks xmlns:a="http://schemas.openxmlformats.org/drawingml/2006/main" noGrp="1"/>
          </p:cNvSpPr>
          <p:nvPr/>
        </p:nvSpPr>
        <p:spPr>
          <a:xfrm xmlns:a="http://schemas.openxmlformats.org/drawingml/2006/main">
            <a:off x="876300" y="5381625"/>
            <a:ext cx="1038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ctr">
              <a:buNone/>
              <a:defRPr sz="1800" b="1" i="0">
                <a:solidFill>
                  <a:srgbClr val="F97356"/>
                </a:solidFill>
                <a:latin typeface="Malgun Gothic"/>
                <a:ea typeface="Malgun Gothic"/>
                <a:cs typeface="Malgun Gothic"/>
              </a:defRPr>
            </a:pPr>
            <a:r>
              <a:rPr sz="1800" b="1" i="0">
                <a:solidFill>
                  <a:srgbClr val="F97356"/>
                </a:solidFill>
                <a:latin typeface="Malgun Gothic"/>
                <a:ea typeface="Malgun Gothic"/>
                <a:cs typeface="Malgun Gothic"/>
              </a:rPr>
              <a:t>현재 수치는 제공 Validation 기준이다. 완전히 새로운 사용자의 성능을 보장하지 않는다.</a:t>
            </a:r>
          </a:p>
        </p:txBody>
      </p:sp>
    </p:spTree>
    <p:extLst>
      <p:ext uri="{BB962C8B-B14F-4D97-AF65-F5344CB8AC3E}">
        <p14:creationId xmlns:p14="http://schemas.microsoft.com/office/powerpoint/2010/main" val="223390755"/>
      </p:ext>
    </p:extLst>
  </p:cSld>
</p:sld>
</file>

<file path=ppt/slides/slide17.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7" name="직사각형 16">
            <a:extLst xmlns:a="http://schemas.openxmlformats.org/drawingml/2006/main">
              <a:ext uri="{FF2B5EF4-FFF2-40B4-BE49-F238E27FC236}">
                <a16:creationId xmlns:a16="http://schemas.microsoft.com/office/drawing/2014/main" id="{000D5885-57A7-4213-A1F5-C2D9657D7ED6}"/>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웹캠 프로그램 구조</a:t>
            </a:r>
          </a:p>
        </p:txBody>
      </p:sp>
      <p:sp>
        <p:nvSpPr>
          <p:cNvPr id="2" name="직사각형 1">
            <a:extLst xmlns:a="http://schemas.openxmlformats.org/drawingml/2006/main">
              <a:ext uri="{FF2B5EF4-FFF2-40B4-BE49-F238E27FC236}">
                <a16:creationId xmlns:a16="http://schemas.microsoft.com/office/drawing/2014/main" id="{2AA47B5E-1201-4926-9BBA-E7E076340DA4}"/>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세 모델 선택 실행과 비교 실행에 같은 전처리를 적용</a:t>
            </a:r>
          </a:p>
        </p:txBody>
      </p:sp>
      <p:sp>
        <p:nvSpPr>
          <p:cNvPr id="3" name="직선 연결선 2">
            <a:extLst xmlns:a="http://schemas.openxmlformats.org/drawingml/2006/main">
              <a:ext uri="{FF2B5EF4-FFF2-40B4-BE49-F238E27FC236}">
                <a16:creationId xmlns:a16="http://schemas.microsoft.com/office/drawing/2014/main" id="{B46FC623-6957-4C12-9971-8E2060639AC0}"/>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81DA1895-54BE-45A3-BD5C-E5A5EE94A229}"/>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7FD30565-27A9-407A-81A9-51C98F1155A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17</a:t>
            </a:r>
          </a:p>
        </p:txBody>
      </p:sp>
      <p:sp>
        <p:nvSpPr>
          <p:cNvPr id="6" name="사각형: 둥근 모서리 5">
            <a:extLst xmlns:a="http://schemas.openxmlformats.org/drawingml/2006/main">
              <a:ext uri="{FF2B5EF4-FFF2-40B4-BE49-F238E27FC236}">
                <a16:creationId xmlns:a16="http://schemas.microsoft.com/office/drawing/2014/main" id="{E3987A02-3568-42A6-9C98-AC2899698653}"/>
              </a:ext>
            </a:extLst>
          </p:cNvPr>
          <p:cNvSpPr>
            <a:spLocks xmlns:a="http://schemas.openxmlformats.org/drawingml/2006/main" noGrp="1"/>
          </p:cNvSpPr>
          <p:nvPr/>
        </p:nvSpPr>
        <p:spPr>
          <a:xfrm xmlns:a="http://schemas.openxmlformats.org/drawingml/2006/main">
            <a:off x="552450" y="2076450"/>
            <a:ext cx="1619250" cy="819150"/>
          </a:xfrm>
          <a:prstGeom xmlns:a="http://schemas.openxmlformats.org/drawingml/2006/main" prst="roundRect">
            <a:avLst>
              <a:gd name="adj" fmla="val 13953"/>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웹캠 프레임</a:t>
            </a:r>
          </a:p>
        </p:txBody>
      </p:sp>
      <p:sp>
        <p:nvSpPr>
          <p:cNvPr id="7" name="사각형: 둥근 모서리 6">
            <a:extLst xmlns:a="http://schemas.openxmlformats.org/drawingml/2006/main">
              <a:ext uri="{FF2B5EF4-FFF2-40B4-BE49-F238E27FC236}">
                <a16:creationId xmlns:a16="http://schemas.microsoft.com/office/drawing/2014/main" id="{B72A6B94-E2D2-43C6-A4BA-226311B63FB6}"/>
              </a:ext>
            </a:extLst>
          </p:cNvPr>
          <p:cNvSpPr>
            <a:spLocks xmlns:a="http://schemas.openxmlformats.org/drawingml/2006/main" noGrp="1"/>
          </p:cNvSpPr>
          <p:nvPr/>
        </p:nvSpPr>
        <p:spPr>
          <a:xfrm xmlns:a="http://schemas.openxmlformats.org/drawingml/2006/main">
            <a:off x="2571750" y="2076450"/>
            <a:ext cx="1809750" cy="819150"/>
          </a:xfrm>
          <a:prstGeom xmlns:a="http://schemas.openxmlformats.org/drawingml/2006/main" prst="roundRect">
            <a:avLst>
              <a:gd name="adj" fmla="val 13953"/>
            </a:avLst>
          </a:prstGeom>
          <a:solidFill xmlns:a="http://schemas.openxmlformats.org/drawingml/2006/main">
            <a:srgbClr val="FFF7D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검출</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ROI 자르기</a:t>
            </a:r>
          </a:p>
        </p:txBody>
      </p:sp>
      <p:sp>
        <p:nvSpPr>
          <p:cNvPr id="8" name="사각형: 둥근 모서리 7">
            <a:extLst xmlns:a="http://schemas.openxmlformats.org/drawingml/2006/main">
              <a:ext uri="{FF2B5EF4-FFF2-40B4-BE49-F238E27FC236}">
                <a16:creationId xmlns:a16="http://schemas.microsoft.com/office/drawing/2014/main" id="{5C31AC8B-BF6B-43F3-86F8-E73638CCC2AC}"/>
              </a:ext>
            </a:extLst>
          </p:cNvPr>
          <p:cNvSpPr>
            <a:spLocks xmlns:a="http://schemas.openxmlformats.org/drawingml/2006/main" noGrp="1"/>
          </p:cNvSpPr>
          <p:nvPr/>
        </p:nvSpPr>
        <p:spPr>
          <a:xfrm xmlns:a="http://schemas.openxmlformats.org/drawingml/2006/main">
            <a:off x="4781550" y="2076450"/>
            <a:ext cx="2000250" cy="819150"/>
          </a:xfrm>
          <a:prstGeom xmlns:a="http://schemas.openxmlformats.org/drawingml/2006/main" prst="roundRect">
            <a:avLst>
              <a:gd name="adj" fmla="val 13953"/>
            </a:avLst>
          </a:prstGeom>
          <a:solidFill xmlns:a="http://schemas.openxmlformats.org/drawingml/2006/main">
            <a:srgbClr val="FFF0EC"/>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흑백·비율 유지</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224×224 패딩</a:t>
            </a:r>
          </a:p>
        </p:txBody>
      </p:sp>
      <p:sp>
        <p:nvSpPr>
          <p:cNvPr id="9" name="사각형: 둥근 모서리 8">
            <a:extLst xmlns:a="http://schemas.openxmlformats.org/drawingml/2006/main">
              <a:ext uri="{FF2B5EF4-FFF2-40B4-BE49-F238E27FC236}">
                <a16:creationId xmlns:a16="http://schemas.microsoft.com/office/drawing/2014/main" id="{C2D3E1CE-8EC1-4BE4-8B50-476310FB62F7}"/>
              </a:ext>
            </a:extLst>
          </p:cNvPr>
          <p:cNvSpPr>
            <a:spLocks xmlns:a="http://schemas.openxmlformats.org/drawingml/2006/main" noGrp="1"/>
          </p:cNvSpPr>
          <p:nvPr/>
        </p:nvSpPr>
        <p:spPr>
          <a:xfrm xmlns:a="http://schemas.openxmlformats.org/drawingml/2006/main">
            <a:off x="7181850" y="2076450"/>
            <a:ext cx="1809750" cy="819150"/>
          </a:xfrm>
          <a:prstGeom xmlns:a="http://schemas.openxmlformats.org/drawingml/2006/main" prst="roundRect">
            <a:avLst>
              <a:gd name="adj" fmla="val 13953"/>
            </a:avLst>
          </a:prstGeom>
          <a:solidFill xmlns:a="http://schemas.openxmlformats.org/drawingml/2006/main">
            <a:srgbClr val="E8F8F5"/>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모델 선택·비교</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3개 best.pt</a:t>
            </a:r>
          </a:p>
        </p:txBody>
      </p:sp>
      <p:sp>
        <p:nvSpPr>
          <p:cNvPr id="10" name="사각형: 둥근 모서리 9">
            <a:extLst xmlns:a="http://schemas.openxmlformats.org/drawingml/2006/main">
              <a:ext uri="{FF2B5EF4-FFF2-40B4-BE49-F238E27FC236}">
                <a16:creationId xmlns:a16="http://schemas.microsoft.com/office/drawing/2014/main" id="{1654BA85-C2F3-4A2F-8111-55B500E425A8}"/>
              </a:ext>
            </a:extLst>
          </p:cNvPr>
          <p:cNvSpPr>
            <a:spLocks xmlns:a="http://schemas.openxmlformats.org/drawingml/2006/main" noGrp="1"/>
          </p:cNvSpPr>
          <p:nvPr/>
        </p:nvSpPr>
        <p:spPr>
          <a:xfrm xmlns:a="http://schemas.openxmlformats.org/drawingml/2006/main">
            <a:off x="9391650" y="2076450"/>
            <a:ext cx="1809750" cy="819150"/>
          </a:xfrm>
          <a:prstGeom xmlns:a="http://schemas.openxmlformats.org/drawingml/2006/main" prst="roundRect">
            <a:avLst>
              <a:gd name="adj" fmla="val 13953"/>
            </a:avLst>
          </a:prstGeom>
          <a:solidFill xmlns:a="http://schemas.openxmlformats.org/drawingml/2006/main">
            <a:srgbClr val="EAF0FF"/>
          </a:solidFill>
          <a:ln xmlns:a="http://schemas.openxmlformats.org/drawingml/2006/main" w="9525">
            <a:solidFill>
              <a:srgbClr val="D9E0E8"/>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감정·확률</a:t>
            </a:r>
          </a:p>
          <a:p xmlns:a="http://schemas.openxmlformats.org/drawingml/2006/main">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화면 표시</a:t>
            </a:r>
          </a:p>
        </p:txBody>
      </p:sp>
      <p:cxnSp>
        <p:nvCxnSpPr>
          <p:cNvPr id="55" name="직선 화살표 연결선 26"/>
          <p:cNvCxnSpPr>
            <a:stCxn xmlns:a="http://schemas.openxmlformats.org/drawingml/2006/main" id="6" idx="3"/>
            <a:endCxn xmlns:a="http://schemas.openxmlformats.org/drawingml/2006/main" id="7" idx="1"/>
          </p:cNvCxnSpPr>
          <p:nvPr/>
        </p:nvCxnSpPr>
        <p:spPr>
          <a:xfrm xmlns:a="http://schemas.openxmlformats.org/drawingml/2006/main">
            <a:off x="21717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6" name="직선 화살표 연결선 27"/>
          <p:cNvCxnSpPr>
            <a:stCxn xmlns:a="http://schemas.openxmlformats.org/drawingml/2006/main" id="7" idx="3"/>
            <a:endCxn xmlns:a="http://schemas.openxmlformats.org/drawingml/2006/main" id="8" idx="1"/>
          </p:cNvCxnSpPr>
          <p:nvPr/>
        </p:nvCxnSpPr>
        <p:spPr>
          <a:xfrm xmlns:a="http://schemas.openxmlformats.org/drawingml/2006/main">
            <a:off x="43815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7" name="직선 화살표 연결선 28"/>
          <p:cNvCxnSpPr>
            <a:stCxn xmlns:a="http://schemas.openxmlformats.org/drawingml/2006/main" id="8" idx="3"/>
            <a:endCxn xmlns:a="http://schemas.openxmlformats.org/drawingml/2006/main" id="9" idx="1"/>
          </p:cNvCxnSpPr>
          <p:nvPr/>
        </p:nvCxnSpPr>
        <p:spPr>
          <a:xfrm xmlns:a="http://schemas.openxmlformats.org/drawingml/2006/main">
            <a:off x="67818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cxnSp>
        <p:nvCxnSpPr>
          <p:cNvPr id="58" name="직선 화살표 연결선 29"/>
          <p:cNvCxnSpPr>
            <a:stCxn xmlns:a="http://schemas.openxmlformats.org/drawingml/2006/main" id="9" idx="3"/>
            <a:endCxn xmlns:a="http://schemas.openxmlformats.org/drawingml/2006/main" id="10" idx="1"/>
          </p:cNvCxnSpPr>
          <p:nvPr/>
        </p:nvCxnSpPr>
        <p:spPr>
          <a:xfrm xmlns:a="http://schemas.openxmlformats.org/drawingml/2006/main">
            <a:off x="8991600" y="2486025"/>
            <a:ext cx="400050" cy="0"/>
          </a:xfrm>
          <a:prstGeom xmlns:a="http://schemas.openxmlformats.org/drawingml/2006/main" prst="straightConnector1">
            <a:avLst/>
          </a:prstGeom>
          <a:ln xmlns:a="http://schemas.openxmlformats.org/drawingml/2006/main" w="19050">
            <a:solidFill>
              <a:srgbClr val="607086"/>
            </a:solidFill>
            <a:prstDash val="solid"/>
            <a:tailEnd type="triangle" w="sm" len="sm"/>
          </a:ln>
        </p:spPr>
      </p:cxnSp>
      <p:sp>
        <p:nvSpPr>
          <p:cNvPr id="15" name="직사각형 14">
            <a:extLst xmlns:a="http://schemas.openxmlformats.org/drawingml/2006/main">
              <a:ext uri="{FF2B5EF4-FFF2-40B4-BE49-F238E27FC236}">
                <a16:creationId xmlns:a16="http://schemas.microsoft.com/office/drawing/2014/main" id="{B3743750-09F0-4470-8D0C-F9ACBAFEF7AC}"/>
              </a:ext>
            </a:extLst>
          </p:cNvPr>
          <p:cNvSpPr>
            <a:spLocks xmlns:a="http://schemas.openxmlformats.org/drawingml/2006/main" noGrp="1"/>
          </p:cNvSpPr>
          <p:nvPr/>
        </p:nvSpPr>
        <p:spPr>
          <a:xfrm xmlns:a="http://schemas.openxmlformats.org/drawingml/2006/main">
            <a:off x="590550" y="371475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75" b="1" i="0">
                <a:solidFill>
                  <a:srgbClr val="122033"/>
                </a:solidFill>
                <a:latin typeface="Malgun Gothic"/>
                <a:ea typeface="Malgun Gothic"/>
                <a:cs typeface="Malgun Gothic"/>
              </a:defRPr>
            </a:pPr>
            <a:r>
              <a:rPr sz="2175" b="1" i="0">
                <a:solidFill>
                  <a:srgbClr val="122033"/>
                </a:solidFill>
                <a:latin typeface="Malgun Gothic"/>
                <a:ea typeface="Malgun Gothic"/>
                <a:cs typeface="Malgun Gothic"/>
              </a:rPr>
              <a:t>프로그램 구현 기준</a:t>
            </a:r>
          </a:p>
        </p:txBody>
      </p:sp>
      <p:sp>
        <p:nvSpPr>
          <p:cNvPr id="16" name="직사각형 15">
            <a:extLst xmlns:a="http://schemas.openxmlformats.org/drawingml/2006/main">
              <a:ext uri="{FF2B5EF4-FFF2-40B4-BE49-F238E27FC236}">
                <a16:creationId xmlns:a16="http://schemas.microsoft.com/office/drawing/2014/main" id="{768934CB-8368-456A-85D6-20267580F8F2}"/>
              </a:ext>
            </a:extLst>
          </p:cNvPr>
          <p:cNvSpPr>
            <a:spLocks xmlns:a="http://schemas.openxmlformats.org/drawingml/2006/main" noGrp="1"/>
          </p:cNvSpPr>
          <p:nvPr/>
        </p:nvSpPr>
        <p:spPr>
          <a:xfrm xmlns:a="http://schemas.openxmlformats.org/drawingml/2006/main">
            <a:off x="571500" y="4210050"/>
            <a:ext cx="10668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체크포인트의 class_names 순서를 그대로 사용한다.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ImageNet 평균·표준편차와 RGB 채널 복제를 학습 코드와 동일하게 적용한다.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일반 모드는 선택한 모델만 실행하고 비교 모드는 세 모델 결과를 함께 표시한다.</a:t>
            </a:r>
          </a:p>
          <a:p xmlns:a="http://schemas.openxmlformats.org/drawingml/2006/main">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모델별 감정·신뢰도와 FPS, 평균 지연 시간, GPU·CPU 사용량을 기록한다.</a:t>
            </a:r>
          </a:p>
        </p:txBody>
      </p:sp>
    </p:spTree>
    <p:extLst>
      <p:ext uri="{BB962C8B-B14F-4D97-AF65-F5344CB8AC3E}">
        <p14:creationId xmlns:p14="http://schemas.microsoft.com/office/powerpoint/2010/main" val="768932563"/>
      </p:ext>
    </p:extLst>
  </p:cSld>
</p:sld>
</file>

<file path=ppt/slides/slide18.xml><?xml version="1.0" encoding="utf-8"?>
<p:sld xmlns:p="http://schemas.openxmlformats.org/presentationml/2006/main">
  <p:cSld>
    <p:bg>
      <p:bgPr>
        <a:solidFill xmlns:a="http://schemas.openxmlformats.org/drawingml/2006/main">
          <a:srgbClr val="F7F8FA"/>
        </a:solidFill>
      </p:bgPr>
    </p:bg>
    <p:spTree>
      <p:nvGrpSpPr>
        <p:cNvPr id="1" name=""/>
        <p:cNvGrpSpPr/>
        <p:nvPr/>
      </p:nvGrpSpPr>
      <p:grpSpPr>
        <a:xfrm xmlns:a="http://schemas.openxmlformats.org/drawingml/2006/main"/>
      </p:grpSpPr>
      <p:sp>
        <p:nvSpPr>
          <p:cNvPr id="15" name="직사각형 14">
            <a:extLst xmlns:a="http://schemas.openxmlformats.org/drawingml/2006/main">
              <a:ext uri="{FF2B5EF4-FFF2-40B4-BE49-F238E27FC236}">
                <a16:creationId xmlns:a16="http://schemas.microsoft.com/office/drawing/2014/main" id="{3FF90BB8-A150-4EE4-9E33-C4752B2EF3D8}"/>
              </a:ext>
            </a:extLst>
          </p:cNvPr>
          <p:cNvSpPr>
            <a:spLocks xmlns:a="http://schemas.openxmlformats.org/drawingml/2006/main" noGrp="1"/>
          </p:cNvSpPr>
          <p:nvPr/>
        </p:nvSpPr>
        <p:spPr>
          <a:xfrm xmlns:a="http://schemas.openxmlformats.org/drawingml/2006/main">
            <a:off x="609600" y="400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세 모델 웹캠 비교 결과 추가 페이지</a:t>
            </a:r>
          </a:p>
        </p:txBody>
      </p:sp>
      <p:sp>
        <p:nvSpPr>
          <p:cNvPr id="2" name="직사각형 1">
            <a:extLst xmlns:a="http://schemas.openxmlformats.org/drawingml/2006/main">
              <a:ext uri="{FF2B5EF4-FFF2-40B4-BE49-F238E27FC236}">
                <a16:creationId xmlns:a16="http://schemas.microsoft.com/office/drawing/2014/main" id="{BB598B41-3811-4C64-8BCB-763C6162064E}"/>
              </a:ext>
            </a:extLst>
          </p:cNvPr>
          <p:cNvSpPr>
            <a:spLocks xmlns:a="http://schemas.openxmlformats.org/drawingml/2006/main" noGrp="1"/>
          </p:cNvSpPr>
          <p:nvPr/>
        </p:nvSpPr>
        <p:spPr>
          <a:xfrm xmlns:a="http://schemas.openxmlformats.org/drawingml/2006/main">
            <a:off x="628650" y="9620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프로그램 구현 후 모델별 화면과 실시간 수치로 교체</a:t>
            </a:r>
          </a:p>
        </p:txBody>
      </p:sp>
      <p:sp>
        <p:nvSpPr>
          <p:cNvPr id="3" name="직선 연결선 2">
            <a:extLst xmlns:a="http://schemas.openxmlformats.org/drawingml/2006/main">
              <a:ext uri="{FF2B5EF4-FFF2-40B4-BE49-F238E27FC236}">
                <a16:creationId xmlns:a16="http://schemas.microsoft.com/office/drawing/2014/main" id="{95E5F972-2129-4523-931D-CCBF1BBFB682}"/>
              </a:ext>
            </a:extLst>
          </p:cNvPr>
          <p:cNvSpPr>
            <a:spLocks xmlns:a="http://schemas.openxmlformats.org/drawingml/2006/main" noGrp="1"/>
          </p:cNvSpPr>
          <p:nvPr/>
        </p:nvSpPr>
        <p:spPr>
          <a:xfrm xmlns:a="http://schemas.openxmlformats.org/drawingml/2006/main">
            <a:off x="609600" y="1257300"/>
            <a:ext cx="10972800" cy="0"/>
          </a:xfrm>
          <a:prstGeom xmlns:a="http://schemas.openxmlformats.org/drawingml/2006/main" prst="line">
            <a:avLst/>
          </a:prstGeom>
          <a:ln xmlns:a="http://schemas.openxmlformats.org/drawingml/2006/main" w="9525">
            <a:solidFill>
              <a:srgbClr val="D9E0E8"/>
            </a:solidFill>
            <a:prstDash val="solid"/>
          </a:ln>
        </p:spPr>
      </p:sp>
      <p:sp>
        <p:nvSpPr>
          <p:cNvPr id="4" name="직사각형 3">
            <a:extLst xmlns:a="http://schemas.openxmlformats.org/drawingml/2006/main">
              <a:ext uri="{FF2B5EF4-FFF2-40B4-BE49-F238E27FC236}">
                <a16:creationId xmlns:a16="http://schemas.microsoft.com/office/drawing/2014/main" id="{F3B0EC52-72FF-48E4-9D15-1C9239283FF4}"/>
              </a:ext>
            </a:extLst>
          </p:cNvPr>
          <p:cNvSpPr>
            <a:spLocks xmlns:a="http://schemas.openxmlformats.org/drawingml/2006/main" noGrp="1"/>
          </p:cNvSpPr>
          <p:nvPr/>
        </p:nvSpPr>
        <p:spPr>
          <a:xfrm xmlns:a="http://schemas.openxmlformats.org/drawingml/2006/main">
            <a:off x="609600" y="6496050"/>
            <a:ext cx="209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xmlns:a="http://schemas.openxmlformats.org/drawingml/2006/main">
              <a:ext uri="{FF2B5EF4-FFF2-40B4-BE49-F238E27FC236}">
                <a16:creationId xmlns:a16="http://schemas.microsoft.com/office/drawing/2014/main" id="{84CB404B-7159-425A-B0AE-B2793280E487}"/>
              </a:ext>
            </a:extLst>
          </p:cNvPr>
          <p:cNvSpPr>
            <a:spLocks xmlns:a="http://schemas.openxmlformats.org/drawingml/2006/main" noGrp="1"/>
          </p:cNvSpPr>
          <p:nvPr/>
        </p:nvSpPr>
        <p:spPr>
          <a:xfrm xmlns:a="http://schemas.openxmlformats.org/drawingml/2006/main">
            <a:off x="11049000" y="6496050"/>
            <a:ext cx="53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18</a:t>
            </a:r>
          </a:p>
        </p:txBody>
      </p:sp>
      <p:sp>
        <p:nvSpPr>
          <p:cNvPr id="6" name="사각형: 둥근 모서리 5">
            <a:extLst xmlns:a="http://schemas.openxmlformats.org/drawingml/2006/main">
              <a:ext uri="{FF2B5EF4-FFF2-40B4-BE49-F238E27FC236}">
                <a16:creationId xmlns:a16="http://schemas.microsoft.com/office/drawing/2014/main" id="{ED7727D8-FCC9-48BF-AE1D-C879F9A72049}"/>
              </a:ext>
            </a:extLst>
          </p:cNvPr>
          <p:cNvSpPr>
            <a:spLocks xmlns:a="http://schemas.openxmlformats.org/drawingml/2006/main" noGrp="1"/>
          </p:cNvSpPr>
          <p:nvPr/>
        </p:nvSpPr>
        <p:spPr>
          <a:xfrm xmlns:a="http://schemas.openxmlformats.org/drawingml/2006/main">
            <a:off x="628650" y="1695450"/>
            <a:ext cx="6762750" cy="3714750"/>
          </a:xfrm>
          <a:prstGeom xmlns:a="http://schemas.openxmlformats.org/drawingml/2006/main" prst="roundRect">
            <a:avLst>
              <a:gd name="adj" fmla="val 3590"/>
            </a:avLst>
          </a:prstGeom>
          <a:solidFill xmlns:a="http://schemas.openxmlformats.org/drawingml/2006/main">
            <a:srgbClr val="E9EDF2"/>
          </a:solidFill>
          <a:ln xmlns:a="http://schemas.openxmlformats.org/drawingml/2006/main" w="19050">
            <a:solidFill>
              <a:srgbClr val="607086"/>
            </a:solidFill>
            <a:prstDash val="dash"/>
          </a:ln>
        </p:spPr>
        <p:txBody>
          <a:bodyPr xmlns:a="http://schemas.openxmlformats.org/drawingml/2006/main"/>
          <a:lstStyle xmlns:a="http://schemas.openxmlformats.org/drawingml/2006/main"/>
          <a:p xmlns:a="http://schemas.openxmlformats.org/drawingml/2006/main">
            <a:pPr algn="ctr">
              <a:buNone/>
              <a:defRPr sz="1950" b="1">
                <a:solidFill>
                  <a:srgbClr val="607086"/>
                </a:solidFill>
                <a:latin typeface="Malgun Gothic"/>
                <a:ea typeface="Malgun Gothic"/>
                <a:cs typeface="Malgun Gothic"/>
              </a:defRPr>
            </a:pPr>
            <a:r>
              <a:rPr sz="1950" b="1">
                <a:solidFill>
                  <a:srgbClr val="607086"/>
                </a:solidFill>
                <a:latin typeface="Malgun Gothic"/>
                <a:ea typeface="Malgun Gothic"/>
                <a:cs typeface="Malgun Gothic"/>
              </a:rPr>
              <a:t>세 모델 선택 UI와 예측 결과 화면</a:t>
            </a:r>
          </a:p>
          <a:p xmlns:a="http://schemas.openxmlformats.org/drawingml/2006/main">
            <a:endParaRPr sz="1950" b="1">
              <a:solidFill>
                <a:srgbClr val="607086"/>
              </a:solidFill>
              <a:latin typeface="Malgun Gothic"/>
              <a:ea typeface="Malgun Gothic"/>
              <a:cs typeface="Malgun Gothic"/>
            </a:endParaRPr>
          </a:p>
          <a:p xmlns:a="http://schemas.openxmlformats.org/drawingml/2006/main">
            <a:pPr algn="ctr">
              <a:buNone/>
              <a:defRPr sz="1950" b="1">
                <a:solidFill>
                  <a:srgbClr val="607086"/>
                </a:solidFill>
                <a:latin typeface="Malgun Gothic"/>
                <a:ea typeface="Malgun Gothic"/>
                <a:cs typeface="Malgun Gothic"/>
              </a:defRPr>
            </a:pPr>
            <a:r>
              <a:rPr sz="1950" b="1">
                <a:solidFill>
                  <a:srgbClr val="607086"/>
                </a:solidFill>
                <a:latin typeface="Malgun Gothic"/>
                <a:ea typeface="Malgun Gothic"/>
                <a:cs typeface="Malgun Gothic"/>
              </a:rPr>
              <a:t>감정명·신뢰도와 모델 이름이 보이는 장면으로 교체</a:t>
            </a:r>
          </a:p>
        </p:txBody>
      </p:sp>
      <p:sp>
        <p:nvSpPr>
          <p:cNvPr id="7" name="직사각형 6">
            <a:extLst xmlns:a="http://schemas.openxmlformats.org/drawingml/2006/main">
              <a:ext uri="{FF2B5EF4-FFF2-40B4-BE49-F238E27FC236}">
                <a16:creationId xmlns:a16="http://schemas.microsoft.com/office/drawing/2014/main" id="{D24FF937-CBC7-4268-947D-7AADF4CB7E4F}"/>
              </a:ext>
            </a:extLst>
          </p:cNvPr>
          <p:cNvSpPr>
            <a:spLocks xmlns:a="http://schemas.openxmlformats.org/drawingml/2006/main" noGrp="1"/>
          </p:cNvSpPr>
          <p:nvPr/>
        </p:nvSpPr>
        <p:spPr>
          <a:xfrm xmlns:a="http://schemas.openxmlformats.org/drawingml/2006/main">
            <a:off x="7905750" y="171450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모델별 기록 영역</a:t>
            </a:r>
          </a:p>
        </p:txBody>
      </p:sp>
      <p:sp>
        <p:nvSpPr>
          <p:cNvPr id="8" name="직사각형 7">
            <a:extLst xmlns:a="http://schemas.openxmlformats.org/drawingml/2006/main">
              <a:ext uri="{FF2B5EF4-FFF2-40B4-BE49-F238E27FC236}">
                <a16:creationId xmlns:a16="http://schemas.microsoft.com/office/drawing/2014/main" id="{BBE27A28-A2F8-481D-9BD7-3CFC244AE1F1}"/>
              </a:ext>
            </a:extLst>
          </p:cNvPr>
          <p:cNvSpPr>
            <a:spLocks xmlns:a="http://schemas.openxmlformats.org/drawingml/2006/main" noGrp="1"/>
          </p:cNvSpPr>
          <p:nvPr/>
        </p:nvSpPr>
        <p:spPr>
          <a:xfrm xmlns:a="http://schemas.openxmlformats.org/drawingml/2006/main">
            <a:off x="7905750" y="22669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미측정</a:t>
            </a:r>
          </a:p>
        </p:txBody>
      </p:sp>
      <p:sp>
        <p:nvSpPr>
          <p:cNvPr id="9" name="직사각형 8">
            <a:extLst xmlns:a="http://schemas.openxmlformats.org/drawingml/2006/main">
              <a:ext uri="{FF2B5EF4-FFF2-40B4-BE49-F238E27FC236}">
                <a16:creationId xmlns:a16="http://schemas.microsoft.com/office/drawing/2014/main" id="{AF7C6538-A7BD-4A55-8DEA-3892B8B90FE1}"/>
              </a:ext>
            </a:extLst>
          </p:cNvPr>
          <p:cNvSpPr>
            <a:spLocks xmlns:a="http://schemas.openxmlformats.org/drawingml/2006/main" noGrp="1"/>
          </p:cNvSpPr>
          <p:nvPr/>
        </p:nvSpPr>
        <p:spPr>
          <a:xfrm xmlns:a="http://schemas.openxmlformats.org/drawingml/2006/main">
            <a:off x="7905750" y="28956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ResNet18 FPS·지연 시간</a:t>
            </a:r>
          </a:p>
        </p:txBody>
      </p:sp>
      <p:sp>
        <p:nvSpPr>
          <p:cNvPr id="10" name="직사각형 9">
            <a:extLst xmlns:a="http://schemas.openxmlformats.org/drawingml/2006/main">
              <a:ext uri="{FF2B5EF4-FFF2-40B4-BE49-F238E27FC236}">
                <a16:creationId xmlns:a16="http://schemas.microsoft.com/office/drawing/2014/main" id="{4914413C-087A-4363-B60A-BFDEB28EFD61}"/>
              </a:ext>
            </a:extLst>
          </p:cNvPr>
          <p:cNvSpPr>
            <a:spLocks xmlns:a="http://schemas.openxmlformats.org/drawingml/2006/main" noGrp="1"/>
          </p:cNvSpPr>
          <p:nvPr/>
        </p:nvSpPr>
        <p:spPr>
          <a:xfrm xmlns:a="http://schemas.openxmlformats.org/drawingml/2006/main">
            <a:off x="7905750" y="3486150"/>
            <a:ext cx="285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미측정</a:t>
            </a:r>
          </a:p>
        </p:txBody>
      </p:sp>
      <p:sp>
        <p:nvSpPr>
          <p:cNvPr id="11" name="직사각형 10">
            <a:extLst xmlns:a="http://schemas.openxmlformats.org/drawingml/2006/main">
              <a:ext uri="{FF2B5EF4-FFF2-40B4-BE49-F238E27FC236}">
                <a16:creationId xmlns:a16="http://schemas.microsoft.com/office/drawing/2014/main" id="{9B540788-F77C-4123-A380-B7CEBFFAE91F}"/>
              </a:ext>
            </a:extLst>
          </p:cNvPr>
          <p:cNvSpPr>
            <a:spLocks xmlns:a="http://schemas.openxmlformats.org/drawingml/2006/main" noGrp="1"/>
          </p:cNvSpPr>
          <p:nvPr/>
        </p:nvSpPr>
        <p:spPr>
          <a:xfrm xmlns:a="http://schemas.openxmlformats.org/drawingml/2006/main">
            <a:off x="7905750" y="41148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MobileNetV2 FPS·지연 시간</a:t>
            </a:r>
          </a:p>
        </p:txBody>
      </p:sp>
      <p:sp>
        <p:nvSpPr>
          <p:cNvPr id="12" name="직사각형 11">
            <a:extLst xmlns:a="http://schemas.openxmlformats.org/drawingml/2006/main">
              <a:ext uri="{FF2B5EF4-FFF2-40B4-BE49-F238E27FC236}">
                <a16:creationId xmlns:a16="http://schemas.microsoft.com/office/drawing/2014/main" id="{AD58B884-60D7-4EA7-AD59-5F2ADD327EB5}"/>
              </a:ext>
            </a:extLst>
          </p:cNvPr>
          <p:cNvSpPr>
            <a:spLocks xmlns:a="http://schemas.openxmlformats.org/drawingml/2006/main" noGrp="1"/>
          </p:cNvSpPr>
          <p:nvPr/>
        </p:nvSpPr>
        <p:spPr>
          <a:xfrm xmlns:a="http://schemas.openxmlformats.org/drawingml/2006/main">
            <a:off x="7905750" y="47053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미측정</a:t>
            </a:r>
          </a:p>
        </p:txBody>
      </p:sp>
      <p:sp>
        <p:nvSpPr>
          <p:cNvPr id="13" name="직사각형 12">
            <a:extLst xmlns:a="http://schemas.openxmlformats.org/drawingml/2006/main">
              <a:ext uri="{FF2B5EF4-FFF2-40B4-BE49-F238E27FC236}">
                <a16:creationId xmlns:a16="http://schemas.microsoft.com/office/drawing/2014/main" id="{EAB10C42-1E93-448F-A214-83E394505338}"/>
              </a:ext>
            </a:extLst>
          </p:cNvPr>
          <p:cNvSpPr>
            <a:spLocks xmlns:a="http://schemas.openxmlformats.org/drawingml/2006/main" noGrp="1"/>
          </p:cNvSpPr>
          <p:nvPr/>
        </p:nvSpPr>
        <p:spPr>
          <a:xfrm xmlns:a="http://schemas.openxmlformats.org/drawingml/2006/main">
            <a:off x="7905750" y="53340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EfficientNet-B0 FPS·지연 시간</a:t>
            </a:r>
          </a:p>
        </p:txBody>
      </p:sp>
      <p:sp>
        <p:nvSpPr>
          <p:cNvPr id="14" name="직사각형 13">
            <a:extLst xmlns:a="http://schemas.openxmlformats.org/drawingml/2006/main">
              <a:ext uri="{FF2B5EF4-FFF2-40B4-BE49-F238E27FC236}">
                <a16:creationId xmlns:a16="http://schemas.microsoft.com/office/drawing/2014/main" id="{CC2BB2DF-400B-4080-9E9C-1EB8F841AD5A}"/>
              </a:ext>
            </a:extLst>
          </p:cNvPr>
          <p:cNvSpPr>
            <a:spLocks xmlns:a="http://schemas.openxmlformats.org/drawingml/2006/main" noGrp="1"/>
          </p:cNvSpPr>
          <p:nvPr/>
        </p:nvSpPr>
        <p:spPr>
          <a:xfrm xmlns:a="http://schemas.openxmlformats.org/drawingml/2006/main">
            <a:off x="647700" y="56959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lgn="l">
              <a:buNone/>
              <a:defRPr sz="1725" b="1" i="0">
                <a:solidFill>
                  <a:srgbClr val="122033"/>
                </a:solidFill>
                <a:latin typeface="Malgun Gothic"/>
                <a:ea typeface="Malgun Gothic"/>
                <a:cs typeface="Malgun Gothic"/>
              </a:defRPr>
            </a:pPr>
            <a:r>
              <a:rPr sz="1725" b="1" i="0">
                <a:solidFill>
                  <a:srgbClr val="122033"/>
                </a:solidFill>
                <a:latin typeface="Malgun Gothic"/>
                <a:ea typeface="Malgun Gothic"/>
                <a:cs typeface="Malgun Gothic"/>
              </a:rPr>
              <a:t>비교 항목: 세 모델의 감정 예측, 신뢰도, FPS와 지연 시간</a:t>
            </a:r>
          </a:p>
        </p:txBody>
      </p:sp>
    </p:spTree>
    <p:extLst>
      <p:ext uri="{BB962C8B-B14F-4D97-AF65-F5344CB8AC3E}">
        <p14:creationId xmlns:p14="http://schemas.microsoft.com/office/powerpoint/2010/main" val="17348714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2026-09-14T10:13:54.5900000Z</dcterms:created>
  <dcterms:modified xsi:type="dcterms:W3CDTF">2026-09-14T10:13:54.5900000Z</dcterms:modified>
</coreProperties>
</file>